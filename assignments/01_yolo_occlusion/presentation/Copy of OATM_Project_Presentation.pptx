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71" r:id="rId2"/>
    <p:sldId id="272" r:id="rId3"/>
    <p:sldId id="273" r:id="rId4"/>
    <p:sldId id="274" r:id="rId5"/>
    <p:sldId id="275" r:id="rId6"/>
    <p:sldId id="276" r:id="rId7"/>
    <p:sldId id="277" r:id="rId8"/>
    <p:sldId id="278" r:id="rId9"/>
    <p:sldId id="279" r:id="rId10"/>
    <p:sldId id="280" r:id="rId11"/>
    <p:sldId id="256" r:id="rId12"/>
    <p:sldId id="257" r:id="rId13"/>
    <p:sldId id="258" r:id="rId14"/>
    <p:sldId id="259" r:id="rId15"/>
    <p:sldId id="260" r:id="rId16"/>
    <p:sldId id="261" r:id="rId17"/>
    <p:sldId id="262" r:id="rId18"/>
    <p:sldId id="263" r:id="rId19"/>
    <p:sldId id="264" r:id="rId20"/>
    <p:sldId id="265" r:id="rId21"/>
    <p:sldId id="266" r:id="rId22"/>
    <p:sldId id="270" r:id="rId23"/>
    <p:sldId id="267" r:id="rId24"/>
    <p:sldId id="268" r:id="rId25"/>
    <p:sldId id="26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76" autoAdjust="0"/>
    <p:restoredTop sz="94660"/>
  </p:normalViewPr>
  <p:slideViewPr>
    <p:cSldViewPr snapToGrid="0" snapToObjects="1">
      <p:cViewPr>
        <p:scale>
          <a:sx n="50" d="100"/>
          <a:sy n="50" d="100"/>
        </p:scale>
        <p:origin x="716" y="2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50" b="1">
                <a:solidFill>
                  <a:srgbClr val="12173A"/>
                </a:solidFill>
              </a:rPr>
              <a:t>Detection rate by stage</a:t>
            </a:r>
          </a:p>
        </c:rich>
      </c:tx>
      <c:overlay val="0"/>
    </c:title>
    <c:autoTitleDeleted val="0"/>
    <c:plotArea>
      <c:layout/>
      <c:barChart>
        <c:barDir val="col"/>
        <c:grouping val="clustered"/>
        <c:varyColors val="1"/>
        <c:ser>
          <c:idx val="0"/>
          <c:order val="0"/>
          <c:tx>
            <c:strRef>
              <c:f>Sheet1!$B$1</c:f>
              <c:strCache>
                <c:ptCount val="1"/>
                <c:pt idx="0">
                  <c:v>Detection rate</c:v>
                </c:pt>
              </c:strCache>
            </c:strRef>
          </c:tx>
          <c:spPr>
            <a:solidFill>
              <a:srgbClr val="1E2761"/>
            </a:solidFill>
          </c:spPr>
          <c:invertIfNegative val="1"/>
          <c:dLbls>
            <c:numFmt formatCode="0%" sourceLinked="0"/>
            <c:spPr>
              <a:noFill/>
              <a:ln>
                <a:noFill/>
              </a:ln>
              <a:effectLst/>
            </c:spPr>
            <c:txPr>
              <a:bodyPr/>
              <a:lstStyle/>
              <a:p>
                <a:pPr>
                  <a:defRPr sz="1250" b="1">
                    <a:solidFill>
                      <a:srgbClr val="12173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
Occlusion</c:v>
                </c:pt>
                <c:pt idx="1">
                  <c:v>First Partial
Occlusion</c:v>
                </c:pt>
                <c:pt idx="2">
                  <c:v>Full
Occlusion</c:v>
                </c:pt>
                <c:pt idx="3">
                  <c:v>First Partial
Appearance</c:v>
                </c:pt>
                <c:pt idx="4">
                  <c:v>Full
Appearance</c:v>
                </c:pt>
              </c:strCache>
            </c:strRef>
          </c:cat>
          <c:val>
            <c:numRef>
              <c:f>Sheet1!$B$2:$B$6</c:f>
              <c:numCache>
                <c:formatCode>General</c:formatCode>
                <c:ptCount val="5"/>
                <c:pt idx="0">
                  <c:v>1</c:v>
                </c:pt>
                <c:pt idx="1">
                  <c:v>1</c:v>
                </c:pt>
                <c:pt idx="2">
                  <c:v>0.125</c:v>
                </c:pt>
                <c:pt idx="3">
                  <c:v>0.5</c:v>
                </c:pt>
                <c:pt idx="4">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552-4E68-A8CF-E42B63AD37F8}"/>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2F0"/>
            </a:solidFill>
          </a:ln>
        </c:spPr>
        <c:txPr>
          <a:bodyPr/>
          <a:lstStyle/>
          <a:p>
            <a:pPr>
              <a:defRPr sz="1150">
                <a:solidFill>
                  <a:srgbClr val="2E3348"/>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50" b="1">
                <a:solidFill>
                  <a:srgbClr val="12173A"/>
                </a:solidFill>
              </a:rPr>
              <a:t>Mean confidence by stage (0 = undetected)</a:t>
            </a:r>
          </a:p>
        </c:rich>
      </c:tx>
      <c:overlay val="0"/>
    </c:title>
    <c:autoTitleDeleted val="0"/>
    <c:plotArea>
      <c:layout/>
      <c:barChart>
        <c:barDir val="col"/>
        <c:grouping val="clustered"/>
        <c:varyColors val="1"/>
        <c:ser>
          <c:idx val="0"/>
          <c:order val="0"/>
          <c:tx>
            <c:strRef>
              <c:f>Sheet1!$B$1</c:f>
              <c:strCache>
                <c:ptCount val="1"/>
                <c:pt idx="0">
                  <c:v>Mean confidence</c:v>
                </c:pt>
              </c:strCache>
            </c:strRef>
          </c:tx>
          <c:spPr>
            <a:solidFill>
              <a:srgbClr val="FFA630"/>
            </a:solidFill>
          </c:spPr>
          <c:invertIfNegative val="1"/>
          <c:dLbls>
            <c:numFmt formatCode="0.00" sourceLinked="0"/>
            <c:spPr>
              <a:noFill/>
              <a:ln>
                <a:noFill/>
              </a:ln>
              <a:effectLst/>
            </c:spPr>
            <c:txPr>
              <a:bodyPr/>
              <a:lstStyle/>
              <a:p>
                <a:pPr>
                  <a:defRPr sz="1250" b="1">
                    <a:solidFill>
                      <a:srgbClr val="12173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
Occlusion</c:v>
                </c:pt>
                <c:pt idx="1">
                  <c:v>First Partial
Occlusion</c:v>
                </c:pt>
                <c:pt idx="2">
                  <c:v>Full
Occlusion</c:v>
                </c:pt>
                <c:pt idx="3">
                  <c:v>First Partial
Appearance</c:v>
                </c:pt>
                <c:pt idx="4">
                  <c:v>Full
Appearance</c:v>
                </c:pt>
              </c:strCache>
            </c:strRef>
          </c:cat>
          <c:val>
            <c:numRef>
              <c:f>Sheet1!$B$2:$B$6</c:f>
              <c:numCache>
                <c:formatCode>General</c:formatCode>
                <c:ptCount val="5"/>
                <c:pt idx="0">
                  <c:v>0.77400000000000002</c:v>
                </c:pt>
                <c:pt idx="1">
                  <c:v>0.58699999999999997</c:v>
                </c:pt>
                <c:pt idx="2">
                  <c:v>2.9000000000000001E-2</c:v>
                </c:pt>
                <c:pt idx="3">
                  <c:v>0.42499999999999999</c:v>
                </c:pt>
                <c:pt idx="4">
                  <c:v>0.84499999999999997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5F0-4CB3-BD03-6E770DBB5F9B}"/>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2F0"/>
            </a:solidFill>
          </a:ln>
        </c:spPr>
        <c:txPr>
          <a:bodyPr/>
          <a:lstStyle/>
          <a:p>
            <a:pPr>
              <a:defRPr sz="1150">
                <a:solidFill>
                  <a:srgbClr val="2E3348"/>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50" b="1">
                <a:solidFill>
                  <a:srgbClr val="12173A"/>
                </a:solidFill>
              </a:rPr>
              <a:t>Center error by gap length (px)</a:t>
            </a:r>
          </a:p>
        </c:rich>
      </c:tx>
      <c:overlay val="0"/>
    </c:title>
    <c:autoTitleDeleted val="0"/>
    <c:plotArea>
      <c:layout/>
      <c:barChart>
        <c:barDir val="col"/>
        <c:grouping val="clustered"/>
        <c:varyColors val="1"/>
        <c:ser>
          <c:idx val="0"/>
          <c:order val="0"/>
          <c:tx>
            <c:strRef>
              <c:f>Sheet1!$B$1</c:f>
              <c:strCache>
                <c:ptCount val="1"/>
                <c:pt idx="0">
                  <c:v>Static memory</c:v>
                </c:pt>
              </c:strCache>
            </c:strRef>
          </c:tx>
          <c:spPr>
            <a:solidFill>
              <a:srgbClr val="69728C"/>
            </a:solidFill>
          </c:spPr>
          <c:invertIfNegative val="1"/>
          <c:cat>
            <c:strRef>
              <c:f>Sheet1!$A$2:$A$7</c:f>
              <c:strCache>
                <c:ptCount val="6"/>
                <c:pt idx="0">
                  <c:v>1</c:v>
                </c:pt>
                <c:pt idx="1">
                  <c:v>2</c:v>
                </c:pt>
                <c:pt idx="2">
                  <c:v>3</c:v>
                </c:pt>
                <c:pt idx="3">
                  <c:v>5</c:v>
                </c:pt>
                <c:pt idx="4">
                  <c:v>8</c:v>
                </c:pt>
                <c:pt idx="5">
                  <c:v>10</c:v>
                </c:pt>
              </c:strCache>
            </c:strRef>
          </c:cat>
          <c:val>
            <c:numRef>
              <c:f>Sheet1!$B$2:$B$7</c:f>
              <c:numCache>
                <c:formatCode>General</c:formatCode>
                <c:ptCount val="6"/>
                <c:pt idx="0">
                  <c:v>12.778</c:v>
                </c:pt>
                <c:pt idx="1">
                  <c:v>16.152000000000001</c:v>
                </c:pt>
                <c:pt idx="2">
                  <c:v>22.286000000000001</c:v>
                </c:pt>
                <c:pt idx="3">
                  <c:v>34.21</c:v>
                </c:pt>
                <c:pt idx="4">
                  <c:v>51.616</c:v>
                </c:pt>
                <c:pt idx="5">
                  <c:v>64.484999999999999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9AF-4218-8836-6A2C76606210}"/>
            </c:ext>
          </c:extLst>
        </c:ser>
        <c:ser>
          <c:idx val="1"/>
          <c:order val="1"/>
          <c:tx>
            <c:strRef>
              <c:f>Sheet1!$C$1</c:f>
              <c:strCache>
                <c:ptCount val="1"/>
                <c:pt idx="0">
                  <c:v>SORT motion</c:v>
                </c:pt>
              </c:strCache>
            </c:strRef>
          </c:tx>
          <c:spPr>
            <a:solidFill>
              <a:srgbClr val="FFA630"/>
            </a:solidFill>
          </c:spPr>
          <c:invertIfNegative val="1"/>
          <c:cat>
            <c:strRef>
              <c:f>Sheet1!$A$2:$A$7</c:f>
              <c:strCache>
                <c:ptCount val="6"/>
                <c:pt idx="0">
                  <c:v>1</c:v>
                </c:pt>
                <c:pt idx="1">
                  <c:v>2</c:v>
                </c:pt>
                <c:pt idx="2">
                  <c:v>3</c:v>
                </c:pt>
                <c:pt idx="3">
                  <c:v>5</c:v>
                </c:pt>
                <c:pt idx="4">
                  <c:v>8</c:v>
                </c:pt>
                <c:pt idx="5">
                  <c:v>10</c:v>
                </c:pt>
              </c:strCache>
            </c:strRef>
          </c:cat>
          <c:val>
            <c:numRef>
              <c:f>Sheet1!$C$2:$C$7</c:f>
              <c:numCache>
                <c:formatCode>General</c:formatCode>
                <c:ptCount val="6"/>
                <c:pt idx="0">
                  <c:v>3.472</c:v>
                </c:pt>
                <c:pt idx="1">
                  <c:v>3.3</c:v>
                </c:pt>
                <c:pt idx="2">
                  <c:v>4.5880000000000001</c:v>
                </c:pt>
                <c:pt idx="3">
                  <c:v>6.5030000000000001</c:v>
                </c:pt>
                <c:pt idx="4">
                  <c:v>14.295</c:v>
                </c:pt>
                <c:pt idx="5">
                  <c:v>31.329000000000001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9AF-4218-8836-6A2C7660621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2F0"/>
            </a:solidFill>
          </a:ln>
        </c:spPr>
        <c:txPr>
          <a:bodyPr/>
          <a:lstStyle/>
          <a:p>
            <a:pPr>
              <a:defRPr sz="1050">
                <a:solidFill>
                  <a:srgbClr val="2E3348"/>
                </a:solidFill>
              </a:defRPr>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txPr>
          <a:bodyPr/>
          <a:lstStyle/>
          <a:p>
            <a:pPr>
              <a:defRPr sz="950"/>
            </a:pPr>
            <a:endParaRPr lang="en-US"/>
          </a:p>
        </c:txPr>
        <c:crossAx val="-2068027336"/>
        <c:crosses val="autoZero"/>
        <c:crossBetween val="between"/>
      </c:valAx>
    </c:plotArea>
    <c:legend>
      <c:legendPos val="b"/>
      <c:overlay val="0"/>
      <c:txPr>
        <a:bodyPr/>
        <a:lstStyle/>
        <a:p>
          <a:pPr>
            <a:defRPr sz="1050"/>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50" b="1">
                <a:solidFill>
                  <a:srgbClr val="12173A"/>
                </a:solidFill>
              </a:rPr>
              <a:t>Mean IoU by gap length</a:t>
            </a:r>
          </a:p>
        </c:rich>
      </c:tx>
      <c:overlay val="0"/>
    </c:title>
    <c:autoTitleDeleted val="0"/>
    <c:plotArea>
      <c:layout/>
      <c:barChart>
        <c:barDir val="col"/>
        <c:grouping val="clustered"/>
        <c:varyColors val="1"/>
        <c:ser>
          <c:idx val="0"/>
          <c:order val="0"/>
          <c:tx>
            <c:strRef>
              <c:f>Sheet1!$B$1</c:f>
              <c:strCache>
                <c:ptCount val="1"/>
                <c:pt idx="0">
                  <c:v>Static memory</c:v>
                </c:pt>
              </c:strCache>
            </c:strRef>
          </c:tx>
          <c:spPr>
            <a:solidFill>
              <a:srgbClr val="69728C"/>
            </a:solidFill>
          </c:spPr>
          <c:invertIfNegative val="1"/>
          <c:cat>
            <c:strRef>
              <c:f>Sheet1!$A$2:$A$7</c:f>
              <c:strCache>
                <c:ptCount val="6"/>
                <c:pt idx="0">
                  <c:v>1</c:v>
                </c:pt>
                <c:pt idx="1">
                  <c:v>2</c:v>
                </c:pt>
                <c:pt idx="2">
                  <c:v>3</c:v>
                </c:pt>
                <c:pt idx="3">
                  <c:v>5</c:v>
                </c:pt>
                <c:pt idx="4">
                  <c:v>8</c:v>
                </c:pt>
                <c:pt idx="5">
                  <c:v>10</c:v>
                </c:pt>
              </c:strCache>
            </c:strRef>
          </c:cat>
          <c:val>
            <c:numRef>
              <c:f>Sheet1!$B$2:$B$7</c:f>
              <c:numCache>
                <c:formatCode>General</c:formatCode>
                <c:ptCount val="6"/>
                <c:pt idx="0">
                  <c:v>0.88700000000000001</c:v>
                </c:pt>
                <c:pt idx="1">
                  <c:v>0.86</c:v>
                </c:pt>
                <c:pt idx="2">
                  <c:v>0.81699999999999995</c:v>
                </c:pt>
                <c:pt idx="3">
                  <c:v>0.73699999999999999</c:v>
                </c:pt>
                <c:pt idx="4">
                  <c:v>0.628</c:v>
                </c:pt>
                <c:pt idx="5">
                  <c:v>0.57499999999999996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2C3-4D31-879B-C11B8300A7F5}"/>
            </c:ext>
          </c:extLst>
        </c:ser>
        <c:ser>
          <c:idx val="1"/>
          <c:order val="1"/>
          <c:tx>
            <c:strRef>
              <c:f>Sheet1!$C$1</c:f>
              <c:strCache>
                <c:ptCount val="1"/>
                <c:pt idx="0">
                  <c:v>SORT motion</c:v>
                </c:pt>
              </c:strCache>
            </c:strRef>
          </c:tx>
          <c:spPr>
            <a:solidFill>
              <a:srgbClr val="FFA630"/>
            </a:solidFill>
          </c:spPr>
          <c:invertIfNegative val="1"/>
          <c:cat>
            <c:strRef>
              <c:f>Sheet1!$A$2:$A$7</c:f>
              <c:strCache>
                <c:ptCount val="6"/>
                <c:pt idx="0">
                  <c:v>1</c:v>
                </c:pt>
                <c:pt idx="1">
                  <c:v>2</c:v>
                </c:pt>
                <c:pt idx="2">
                  <c:v>3</c:v>
                </c:pt>
                <c:pt idx="3">
                  <c:v>5</c:v>
                </c:pt>
                <c:pt idx="4">
                  <c:v>8</c:v>
                </c:pt>
                <c:pt idx="5">
                  <c:v>10</c:v>
                </c:pt>
              </c:strCache>
            </c:strRef>
          </c:cat>
          <c:val>
            <c:numRef>
              <c:f>Sheet1!$C$2:$C$7</c:f>
              <c:numCache>
                <c:formatCode>General</c:formatCode>
                <c:ptCount val="6"/>
                <c:pt idx="0">
                  <c:v>0.92100000000000004</c:v>
                </c:pt>
                <c:pt idx="1">
                  <c:v>0.90500000000000003</c:v>
                </c:pt>
                <c:pt idx="2">
                  <c:v>0.88200000000000001</c:v>
                </c:pt>
                <c:pt idx="3">
                  <c:v>0.83799999999999997</c:v>
                </c:pt>
                <c:pt idx="4">
                  <c:v>0.70199999999999996</c:v>
                </c:pt>
                <c:pt idx="5">
                  <c:v>0.56999999999999995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2C3-4D31-879B-C11B8300A7F5}"/>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2F0"/>
            </a:solidFill>
          </a:ln>
        </c:spPr>
        <c:txPr>
          <a:bodyPr/>
          <a:lstStyle/>
          <a:p>
            <a:pPr>
              <a:defRPr sz="1050">
                <a:solidFill>
                  <a:srgbClr val="2E3348"/>
                </a:solidFill>
              </a:defRPr>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txPr>
          <a:bodyPr/>
          <a:lstStyle/>
          <a:p>
            <a:pPr>
              <a:defRPr sz="950"/>
            </a:pPr>
            <a:endParaRPr lang="en-US"/>
          </a:p>
        </c:txPr>
        <c:crossAx val="-2068027336"/>
        <c:crosses val="autoZero"/>
        <c:crossBetween val="between"/>
      </c:valAx>
    </c:plotArea>
    <c:legend>
      <c:legendPos val="b"/>
      <c:overlay val="0"/>
      <c:txPr>
        <a:bodyPr/>
        <a:lstStyle/>
        <a:p>
          <a:pPr>
            <a:defRPr sz="1050"/>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901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follows straight after your hook - it's the reveal of what the project actually is. Introduce the project over the real dashcam frame: this is about helping self-driving car cameras keep track of road users even when something briefly blocks the view.</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this one real example frame by frame: the car is visible, then fully hidden behind other traffic, then reappears further down the road. Point out that most detectors process the middle frame in total isolation - to them, the car simply doesn't exist for that instant. That's the core problem this whole project is about.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upfront about scope before going further: this is nuScenes, and specifically only the forward-facing camera - no LiDAR, no side/rear cameras, no sensor fusion feeding the detector. That's a deliberate simplification to keep the study laptop-scale and focused purely on the occlusion-memory question. The payoff comes later - nuScenes' LiDAR and 3D annotations aren't part of detection, but they become the independent ground truth used to evaluate OATM, which is the next thing after the design slide.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the research question plainly and pause on it. This is the question the whole project is trying to answer, and the hypothesis is what we expect but haven't yet proven.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setup: a plain, off-the-shelf YOLO detector, no memory at all. Point at the photo - that's the actual failure, a real frame where the detector produced zero boxes for the hidden target, not a simulated one. Detection rate stays perfect through partial occlusion then falls off a cliff at full occlusion. Confidence erodes before detection technically fails, and recovers once visible again.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naive fix: just freeze the last box while the target is hidden. Orange is the frozen memory box, green is the real detection once the object reappears. Best case they nearly line up; worst case the frozen box is nowhere near the real car. Not cherry-picked - all 5 valid samples follow the same pattern, mean error 331px, 3 of 5 with zero overlap at all.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Motion prediction beats a frozen box clearly - 46px down to 17px, IoU up from 0.673 to 0.720. But say the catch out loud: almost the whole win comes from 2 of 9 tracks, the reference boxes aren't fully independent, and long gaps bypass the tracker's own expiry rule. A real result, not yet a fully validated one.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pivot of the whole talk. First state the diagnosis: naive memory fails because it ignores motion, and even real motion prediction (as just shown) only helps partially. Then name the gap in every existing lightweight method - none of them combine occlusion-causality reasoning, motion prediction, and confidence decay. That's the bridge into the OATM design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OATM's core mechanism, and be specific about the motion half since that's the part judges will probe: it's not a vague promise, it's the same predict-observe-correct Kalman loop already built and tested in Evidence 3 - just corrected to use an independent reference box and to actually enforce track-expiry, the two flaws that experiment exposed. Appearance memory (last clear crop) handles re-identification; motion memory (position + velocity) handles where to look. The occlusion classifier decides how much to trust the motion prediction at any moment, and confidence decays smoothly rather than on a fixed timer. Be clear this is the proposed design - it has not been implemented or benchmarked yet, that's the next phase.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answer to 'how will you actually know OATM is right.' The key move: ground truth comes from LiDAR and the 3D box annotations, not from another camera-derived tracker - so it isn't circular the way the SORT experiment's evaluation was. The front camera is blind during occlusion by design; LiDAR isn't, so it gives an independent check on whether OATM's predicted position is actually correct, not just self-consistent.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 OATM against the alternatives already used in the field. The point isn't that the others are bad - it's that none of them explicitly reason about *why* an object disappeared, which is what OATM adds. Reiterate that this row is a design claim to be tested, not a measured result.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roadmap: this baseline experiment was step one, the frozen-memory experiment was step two, the SORT test was step three. Next comes fixing the SORT experiment's methodology, building proper test sets, implementing OATM itself, and comparing it fairly against existing tracking methods. Also flag scope: everything so far has been vehicles - pedestrians and other vulnerable road users are the next class to extend to, since that's arguably the higher-stakes case. Open the floor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for Q&amp;A - full reading list behind the project. One caveat for your own awareness: the author list for the first entry (the dual-appearance / DADA-Track paper) came from a secondary search result rather than a directly verified page, since the publisher page blocked direct access - worth a quick manual check against the actual journal listing before you present this, just to be safe. Everything else was verified against the source page or a well-corroborated listing.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07A7F-9385-9E45-C99E-FFE580A37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3258E-C9F5-91E9-0CD7-E96423BC21E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36CFA14-58A3-CBBC-79A0-78AF0BE1F844}"/>
              </a:ext>
            </a:extLst>
          </p:cNvPr>
          <p:cNvSpPr>
            <a:spLocks noGrp="1"/>
          </p:cNvSpPr>
          <p:nvPr>
            <p:ph type="body" sz="quarter" idx="3"/>
          </p:nvPr>
        </p:nvSpPr>
        <p:spPr/>
        <p:txBody>
          <a:bodyPr/>
          <a:lstStyle/>
          <a:p>
            <a:r>
              <a:t>Close with the roadmap: this baseline experiment was step one, the frozen-memory experiment was step two, the SORT test was step three. Next comes fixing the SORT experiment's methodology, building proper test sets, implementing OATM itself, and comparing it fairly against existing tracking methods. Also flag scope: everything so far has been vehicles - pedestrians and other vulnerable road users are the next class to extend to, since that's arguably the higher-stakes case. Open the floor for questions.</a:t>
            </a:r>
          </a:p>
        </p:txBody>
      </p:sp>
      <p:sp>
        <p:nvSpPr>
          <p:cNvPr id="4" name="Slide Number Placeholder 3">
            <a:extLst>
              <a:ext uri="{FF2B5EF4-FFF2-40B4-BE49-F238E27FC236}">
                <a16:creationId xmlns:a16="http://schemas.microsoft.com/office/drawing/2014/main" id="{C9973212-7C3E-E335-A130-82616FF944E8}"/>
              </a:ext>
            </a:extLst>
          </p:cNvPr>
          <p:cNvSpPr>
            <a:spLocks noGrp="1"/>
          </p:cNvSpPr>
          <p:nvPr>
            <p:ph type="sldNum" sz="quarter" idx="5"/>
          </p:nvPr>
        </p:nvSpPr>
        <p:spPr/>
      </p:sp>
    </p:spTree>
    <p:extLst>
      <p:ext uri="{BB962C8B-B14F-4D97-AF65-F5344CB8AC3E}">
        <p14:creationId xmlns:p14="http://schemas.microsoft.com/office/powerpoint/2010/main" val="58759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3.jpg"/><Relationship Id="rId4" Type="http://schemas.openxmlformats.org/officeDocument/2006/relationships/image" Target="../media/image12.jpg"/></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4.jpg"/><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9D7DA9-9004-48F3-6A9B-C5D9E36CAD78}"/>
              </a:ext>
            </a:extLst>
          </p:cNvPr>
          <p:cNvPicPr>
            <a:picLocks noChangeAspect="1"/>
          </p:cNvPicPr>
          <p:nvPr/>
        </p:nvPicPr>
        <p:blipFill>
          <a:blip r:embed="rId2"/>
          <a:stretch>
            <a:fillRect/>
          </a:stretch>
        </p:blipFill>
        <p:spPr>
          <a:xfrm>
            <a:off x="-158388" y="-100013"/>
            <a:ext cx="12610064" cy="7115176"/>
          </a:xfrm>
          <a:prstGeom prst="rect">
            <a:avLst/>
          </a:prstGeom>
        </p:spPr>
      </p:pic>
    </p:spTree>
    <p:extLst>
      <p:ext uri="{BB962C8B-B14F-4D97-AF65-F5344CB8AC3E}">
        <p14:creationId xmlns:p14="http://schemas.microsoft.com/office/powerpoint/2010/main" val="3252622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4AB840-F339-EC20-372F-AB5AF15ACD04}"/>
              </a:ext>
            </a:extLst>
          </p:cNvPr>
          <p:cNvPicPr>
            <a:picLocks noChangeAspect="1"/>
          </p:cNvPicPr>
          <p:nvPr/>
        </p:nvPicPr>
        <p:blipFill>
          <a:blip r:embed="rId2"/>
          <a:stretch>
            <a:fillRect/>
          </a:stretch>
        </p:blipFill>
        <p:spPr>
          <a:xfrm>
            <a:off x="0" y="-63286"/>
            <a:ext cx="12380809" cy="7092735"/>
          </a:xfrm>
          <a:prstGeom prst="rect">
            <a:avLst/>
          </a:prstGeom>
        </p:spPr>
      </p:pic>
    </p:spTree>
    <p:extLst>
      <p:ext uri="{BB962C8B-B14F-4D97-AF65-F5344CB8AC3E}">
        <p14:creationId xmlns:p14="http://schemas.microsoft.com/office/powerpoint/2010/main" val="2595708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075F0D-343D-60EE-2F9D-DC9C78494453}"/>
              </a:ext>
            </a:extLst>
          </p:cNvPr>
          <p:cNvPicPr>
            <a:picLocks noChangeAspect="1"/>
          </p:cNvPicPr>
          <p:nvPr/>
        </p:nvPicPr>
        <p:blipFill>
          <a:blip r:embed="rId2"/>
          <a:stretch>
            <a:fillRect/>
          </a:stretch>
        </p:blipFill>
        <p:spPr>
          <a:xfrm>
            <a:off x="-1" y="-1"/>
            <a:ext cx="12402735" cy="7129463"/>
          </a:xfrm>
          <a:prstGeom prst="rect">
            <a:avLst/>
          </a:prstGeom>
        </p:spPr>
      </p:pic>
    </p:spTree>
    <p:extLst>
      <p:ext uri="{BB962C8B-B14F-4D97-AF65-F5344CB8AC3E}">
        <p14:creationId xmlns:p14="http://schemas.microsoft.com/office/powerpoint/2010/main" val="2288243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A3D597-C120-0FB7-6CD4-96428452B046}"/>
              </a:ext>
            </a:extLst>
          </p:cNvPr>
          <p:cNvPicPr>
            <a:picLocks noChangeAspect="1"/>
          </p:cNvPicPr>
          <p:nvPr/>
        </p:nvPicPr>
        <p:blipFill>
          <a:blip r:embed="rId2"/>
          <a:stretch>
            <a:fillRect/>
          </a:stretch>
        </p:blipFill>
        <p:spPr>
          <a:xfrm>
            <a:off x="0" y="0"/>
            <a:ext cx="12192000" cy="7010400"/>
          </a:xfrm>
          <a:prstGeom prst="rect">
            <a:avLst/>
          </a:prstGeom>
        </p:spPr>
      </p:pic>
    </p:spTree>
    <p:extLst>
      <p:ext uri="{BB962C8B-B14F-4D97-AF65-F5344CB8AC3E}">
        <p14:creationId xmlns:p14="http://schemas.microsoft.com/office/powerpoint/2010/main" val="235991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58FC16-8ED4-D091-A857-16820F9014A0}"/>
              </a:ext>
            </a:extLst>
          </p:cNvPr>
          <p:cNvPicPr>
            <a:picLocks noChangeAspect="1"/>
          </p:cNvPicPr>
          <p:nvPr/>
        </p:nvPicPr>
        <p:blipFill>
          <a:blip r:embed="rId2"/>
          <a:stretch>
            <a:fillRect/>
          </a:stretch>
        </p:blipFill>
        <p:spPr>
          <a:xfrm>
            <a:off x="0" y="0"/>
            <a:ext cx="12192000" cy="6953143"/>
          </a:xfrm>
          <a:prstGeom prst="rect">
            <a:avLst/>
          </a:prstGeom>
        </p:spPr>
      </p:pic>
    </p:spTree>
    <p:extLst>
      <p:ext uri="{BB962C8B-B14F-4D97-AF65-F5344CB8AC3E}">
        <p14:creationId xmlns:p14="http://schemas.microsoft.com/office/powerpoint/2010/main" val="2649058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1541FA-F5AD-3422-E7E0-59C43D9C6D91}"/>
              </a:ext>
            </a:extLst>
          </p:cNvPr>
          <p:cNvPicPr>
            <a:picLocks noChangeAspect="1"/>
          </p:cNvPicPr>
          <p:nvPr/>
        </p:nvPicPr>
        <p:blipFill>
          <a:blip r:embed="rId2"/>
          <a:stretch>
            <a:fillRect/>
          </a:stretch>
        </p:blipFill>
        <p:spPr>
          <a:xfrm>
            <a:off x="-61913" y="-103771"/>
            <a:ext cx="12315825" cy="7065541"/>
          </a:xfrm>
          <a:prstGeom prst="rect">
            <a:avLst/>
          </a:prstGeom>
        </p:spPr>
      </p:pic>
    </p:spTree>
    <p:extLst>
      <p:ext uri="{BB962C8B-B14F-4D97-AF65-F5344CB8AC3E}">
        <p14:creationId xmlns:p14="http://schemas.microsoft.com/office/powerpoint/2010/main" val="1234845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3B6B4E-D991-BF1E-B8B6-6EBF1429026A}"/>
              </a:ext>
            </a:extLst>
          </p:cNvPr>
          <p:cNvPicPr>
            <a:picLocks noChangeAspect="1"/>
          </p:cNvPicPr>
          <p:nvPr/>
        </p:nvPicPr>
        <p:blipFill>
          <a:blip r:embed="rId2"/>
          <a:stretch>
            <a:fillRect/>
          </a:stretch>
        </p:blipFill>
        <p:spPr>
          <a:xfrm>
            <a:off x="0" y="0"/>
            <a:ext cx="12192000" cy="6996784"/>
          </a:xfrm>
          <a:prstGeom prst="rect">
            <a:avLst/>
          </a:prstGeom>
        </p:spPr>
      </p:pic>
    </p:spTree>
    <p:extLst>
      <p:ext uri="{BB962C8B-B14F-4D97-AF65-F5344CB8AC3E}">
        <p14:creationId xmlns:p14="http://schemas.microsoft.com/office/powerpoint/2010/main" val="1592236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F819F4-E33F-E1A1-AA81-8D9BCD3F23BD}"/>
              </a:ext>
            </a:extLst>
          </p:cNvPr>
          <p:cNvPicPr>
            <a:picLocks noChangeAspect="1"/>
          </p:cNvPicPr>
          <p:nvPr/>
        </p:nvPicPr>
        <p:blipFill>
          <a:blip r:embed="rId2"/>
          <a:stretch>
            <a:fillRect/>
          </a:stretch>
        </p:blipFill>
        <p:spPr>
          <a:xfrm>
            <a:off x="0" y="0"/>
            <a:ext cx="12192000" cy="7046116"/>
          </a:xfrm>
          <a:prstGeom prst="rect">
            <a:avLst/>
          </a:prstGeom>
        </p:spPr>
      </p:pic>
    </p:spTree>
    <p:extLst>
      <p:ext uri="{BB962C8B-B14F-4D97-AF65-F5344CB8AC3E}">
        <p14:creationId xmlns:p14="http://schemas.microsoft.com/office/powerpoint/2010/main" val="3563548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1BEC95-3BB9-9EB7-1CD3-D2003FB2167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08050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042B58-18A8-8BE4-9A93-1F91641F63CE}"/>
              </a:ext>
            </a:extLst>
          </p:cNvPr>
          <p:cNvPicPr>
            <a:picLocks noChangeAspect="1"/>
          </p:cNvPicPr>
          <p:nvPr/>
        </p:nvPicPr>
        <p:blipFill>
          <a:blip r:embed="rId2"/>
          <a:stretch>
            <a:fillRect/>
          </a:stretch>
        </p:blipFill>
        <p:spPr>
          <a:xfrm>
            <a:off x="0" y="0"/>
            <a:ext cx="12192000" cy="7032246"/>
          </a:xfrm>
          <a:prstGeom prst="rect">
            <a:avLst/>
          </a:prstGeom>
        </p:spPr>
      </p:pic>
    </p:spTree>
    <p:extLst>
      <p:ext uri="{BB962C8B-B14F-4D97-AF65-F5344CB8AC3E}">
        <p14:creationId xmlns:p14="http://schemas.microsoft.com/office/powerpoint/2010/main" val="893411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p:cNvGrpSpPr/>
        <p:nvPr/>
      </p:nvGrpSpPr>
      <p:grpSpPr>
        <a:xfrm>
          <a:off x="0" y="0"/>
          <a:ext cx="0" cy="0"/>
          <a:chOff x="0" y="0"/>
          <a:chExt cx="0" cy="0"/>
        </a:xfrm>
      </p:grpSpPr>
      <p:pic>
        <p:nvPicPr>
          <p:cNvPr id="2" name="Picture 1" descr="1_previous_no_occlusion.jpg"/>
          <p:cNvPicPr>
            <a:picLocks noChangeAspect="1"/>
          </p:cNvPicPr>
          <p:nvPr/>
        </p:nvPicPr>
        <p:blipFill>
          <a:blip r:embed="rId3"/>
          <a:stretch>
            <a:fillRect/>
          </a:stretch>
        </p:blipFill>
        <p:spPr>
          <a:xfrm>
            <a:off x="0" y="0"/>
            <a:ext cx="12191695" cy="6858000"/>
          </a:xfrm>
          <a:prstGeom prst="rect">
            <a:avLst/>
          </a:prstGeom>
          <a:ln w="9525">
            <a:solidFill>
              <a:srgbClr val="DDE2F0"/>
            </a:solidFill>
          </a:ln>
        </p:spPr>
      </p:pic>
      <p:sp>
        <p:nvSpPr>
          <p:cNvPr id="3" name="Rectangle 2"/>
          <p:cNvSpPr/>
          <p:nvPr/>
        </p:nvSpPr>
        <p:spPr>
          <a:xfrm>
            <a:off x="0" y="0"/>
            <a:ext cx="12191695" cy="6858000"/>
          </a:xfrm>
          <a:prstGeom prst="rect">
            <a:avLst/>
          </a:prstGeom>
          <a:solidFill>
            <a:srgbClr val="12173A">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3291840"/>
            <a:ext cx="12191695" cy="3566160"/>
          </a:xfrm>
          <a:prstGeom prst="rect">
            <a:avLst/>
          </a:prstGeom>
          <a:solidFill>
            <a:srgbClr val="12173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02920"/>
            <a:ext cx="7315200" cy="320040"/>
          </a:xfrm>
          <a:prstGeom prst="rect">
            <a:avLst/>
          </a:prstGeom>
          <a:noFill/>
        </p:spPr>
        <p:txBody>
          <a:bodyPr wrap="square">
            <a:spAutoFit/>
          </a:bodyPr>
          <a:lstStyle/>
          <a:p>
            <a:pPr algn="l"/>
            <a:r>
              <a:rPr sz="1400" b="1" i="0">
                <a:solidFill>
                  <a:srgbClr val="FFA630"/>
                </a:solidFill>
                <a:latin typeface="Calibri"/>
              </a:rPr>
              <a:t>SRSI RESEARCH PROJECT</a:t>
            </a:r>
          </a:p>
        </p:txBody>
      </p:sp>
      <p:sp>
        <p:nvSpPr>
          <p:cNvPr id="6" name="Rectangle 5"/>
          <p:cNvSpPr/>
          <p:nvPr/>
        </p:nvSpPr>
        <p:spPr>
          <a:xfrm>
            <a:off x="914400" y="3794760"/>
            <a:ext cx="64008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977639"/>
            <a:ext cx="10360152" cy="1005840"/>
          </a:xfrm>
          <a:prstGeom prst="rect">
            <a:avLst/>
          </a:prstGeom>
          <a:noFill/>
        </p:spPr>
        <p:txBody>
          <a:bodyPr wrap="square">
            <a:spAutoFit/>
          </a:bodyPr>
          <a:lstStyle/>
          <a:p>
            <a:pPr algn="l"/>
            <a:r>
              <a:rPr sz="4000" b="1" i="0">
                <a:solidFill>
                  <a:srgbClr val="FFFFFF"/>
                </a:solidFill>
                <a:latin typeface="Cambria"/>
              </a:rPr>
              <a:t>Occlusion-Adaptive Temporal Memory</a:t>
            </a:r>
          </a:p>
        </p:txBody>
      </p:sp>
      <p:sp>
        <p:nvSpPr>
          <p:cNvPr id="8" name="TextBox 7"/>
          <p:cNvSpPr txBox="1"/>
          <p:nvPr/>
        </p:nvSpPr>
        <p:spPr>
          <a:xfrm>
            <a:off x="914400" y="4892040"/>
            <a:ext cx="9445752" cy="548640"/>
          </a:xfrm>
          <a:prstGeom prst="rect">
            <a:avLst/>
          </a:prstGeom>
          <a:noFill/>
        </p:spPr>
        <p:txBody>
          <a:bodyPr wrap="square">
            <a:spAutoFit/>
          </a:bodyPr>
          <a:lstStyle/>
          <a:p>
            <a:pPr algn="l"/>
            <a:r>
              <a:rPr sz="1900" b="0" i="1">
                <a:solidFill>
                  <a:srgbClr val="CADCFC"/>
                </a:solidFill>
                <a:latin typeface="Calibri"/>
              </a:rPr>
              <a:t>Giving self-driving cars short-term memory for hidden objects</a:t>
            </a:r>
          </a:p>
        </p:txBody>
      </p:sp>
      <p:sp>
        <p:nvSpPr>
          <p:cNvPr id="9" name="TextBox 8"/>
          <p:cNvSpPr txBox="1"/>
          <p:nvPr/>
        </p:nvSpPr>
        <p:spPr>
          <a:xfrm>
            <a:off x="914400" y="6029747"/>
            <a:ext cx="8702802" cy="307777"/>
          </a:xfrm>
          <a:prstGeom prst="rect">
            <a:avLst/>
          </a:prstGeom>
          <a:noFill/>
        </p:spPr>
        <p:txBody>
          <a:bodyPr wrap="square">
            <a:spAutoFit/>
          </a:bodyPr>
          <a:lstStyle/>
          <a:p>
            <a:pPr algn="l"/>
            <a:r>
              <a:rPr lang="en-GB" sz="1400" b="0" i="0" dirty="0">
                <a:solidFill>
                  <a:srgbClr val="69728C"/>
                </a:solidFill>
                <a:latin typeface="Calibri"/>
              </a:rPr>
              <a:t>Noor </a:t>
            </a:r>
            <a:r>
              <a:rPr lang="en-GB" sz="1400" b="0" i="0" dirty="0" err="1">
                <a:solidFill>
                  <a:srgbClr val="69728C"/>
                </a:solidFill>
                <a:latin typeface="Calibri"/>
              </a:rPr>
              <a:t>Basfar</a:t>
            </a:r>
            <a:r>
              <a:rPr lang="en-GB" sz="1400" b="0" i="0" dirty="0">
                <a:solidFill>
                  <a:srgbClr val="69728C"/>
                </a:solidFill>
                <a:latin typeface="Calibri"/>
              </a:rPr>
              <a:t> </a:t>
            </a:r>
            <a:endParaRPr sz="1400" b="0" i="0" dirty="0">
              <a:solidFill>
                <a:srgbClr val="69728C"/>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7315200" cy="320040"/>
          </a:xfrm>
          <a:prstGeom prst="rect">
            <a:avLst/>
          </a:prstGeom>
          <a:noFill/>
        </p:spPr>
        <p:txBody>
          <a:bodyPr wrap="square">
            <a:spAutoFit/>
          </a:bodyPr>
          <a:lstStyle/>
          <a:p>
            <a:pPr algn="l"/>
            <a:r>
              <a:rPr sz="1300" b="1" i="0">
                <a:solidFill>
                  <a:srgbClr val="FFA630"/>
                </a:solidFill>
                <a:latin typeface="Calibri"/>
              </a:rPr>
              <a:t>THE PROBLEM IN AUTONOMOUS DRIVING</a:t>
            </a:r>
          </a:p>
        </p:txBody>
      </p:sp>
      <p:sp>
        <p:nvSpPr>
          <p:cNvPr id="3" name="TextBox 2"/>
          <p:cNvSpPr txBox="1"/>
          <p:nvPr/>
        </p:nvSpPr>
        <p:spPr>
          <a:xfrm>
            <a:off x="640080" y="868680"/>
            <a:ext cx="10881360" cy="640080"/>
          </a:xfrm>
          <a:prstGeom prst="rect">
            <a:avLst/>
          </a:prstGeom>
          <a:noFill/>
        </p:spPr>
        <p:txBody>
          <a:bodyPr wrap="square">
            <a:spAutoFit/>
          </a:bodyPr>
          <a:lstStyle/>
          <a:p>
            <a:pPr algn="l"/>
            <a:r>
              <a:rPr sz="2600" b="1" i="0">
                <a:solidFill>
                  <a:srgbClr val="12173A"/>
                </a:solidFill>
                <a:latin typeface="Cambria"/>
              </a:rPr>
              <a:t>Single-frame detectors forget what they can't see</a:t>
            </a:r>
          </a:p>
        </p:txBody>
      </p:sp>
      <p:sp>
        <p:nvSpPr>
          <p:cNvPr id="4" name="Rectangle 3"/>
          <p:cNvSpPr/>
          <p:nvPr/>
        </p:nvSpPr>
        <p:spPr>
          <a:xfrm>
            <a:off x="640080" y="148132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1_previous_no_occlusion.jpg"/>
          <p:cNvPicPr>
            <a:picLocks noChangeAspect="1"/>
          </p:cNvPicPr>
          <p:nvPr/>
        </p:nvPicPr>
        <p:blipFill>
          <a:blip r:embed="rId3"/>
          <a:stretch>
            <a:fillRect/>
          </a:stretch>
        </p:blipFill>
        <p:spPr>
          <a:xfrm>
            <a:off x="640080" y="1965960"/>
            <a:ext cx="3429000" cy="1928812"/>
          </a:xfrm>
          <a:prstGeom prst="rect">
            <a:avLst/>
          </a:prstGeom>
          <a:ln w="9525">
            <a:solidFill>
              <a:srgbClr val="DDE2F0"/>
            </a:solidFill>
          </a:ln>
          <a:effectLst>
            <a:outerShdw blurRad="177800" dist="50800" dir="2700000" rotWithShape="0">
              <a:srgbClr val="12173A">
                <a:alpha val="32000"/>
              </a:srgbClr>
            </a:outerShdw>
          </a:effectLst>
        </p:spPr>
      </p:pic>
      <p:sp>
        <p:nvSpPr>
          <p:cNvPr id="6" name="Rounded Rectangle 5"/>
          <p:cNvSpPr/>
          <p:nvPr/>
        </p:nvSpPr>
        <p:spPr>
          <a:xfrm>
            <a:off x="777240" y="3602164"/>
            <a:ext cx="1463040" cy="384048"/>
          </a:xfrm>
          <a:prstGeom prst="roundRect">
            <a:avLst>
              <a:gd name="adj" fmla="val 5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FFFFFF"/>
                </a:solidFill>
                <a:latin typeface="Calibri"/>
              </a:rPr>
              <a:t>BEFORE</a:t>
            </a:r>
          </a:p>
        </p:txBody>
      </p:sp>
      <p:sp>
        <p:nvSpPr>
          <p:cNvPr id="7" name="TextBox 6"/>
          <p:cNvSpPr txBox="1"/>
          <p:nvPr/>
        </p:nvSpPr>
        <p:spPr>
          <a:xfrm>
            <a:off x="640080" y="4004500"/>
            <a:ext cx="3429000" cy="365760"/>
          </a:xfrm>
          <a:prstGeom prst="rect">
            <a:avLst/>
          </a:prstGeom>
          <a:noFill/>
        </p:spPr>
        <p:txBody>
          <a:bodyPr wrap="square">
            <a:spAutoFit/>
          </a:bodyPr>
          <a:lstStyle/>
          <a:p>
            <a:pPr algn="ctr"/>
            <a:r>
              <a:rPr sz="1300" b="0" i="0">
                <a:solidFill>
                  <a:srgbClr val="69728C"/>
                </a:solidFill>
                <a:latin typeface="Calibri"/>
              </a:rPr>
              <a:t>Car clearly visible</a:t>
            </a:r>
          </a:p>
        </p:txBody>
      </p:sp>
      <p:pic>
        <p:nvPicPr>
          <p:cNvPr id="8" name="Picture 7" descr="3_full_occlusion.jpg"/>
          <p:cNvPicPr>
            <a:picLocks noChangeAspect="1"/>
          </p:cNvPicPr>
          <p:nvPr/>
        </p:nvPicPr>
        <p:blipFill>
          <a:blip r:embed="rId4"/>
          <a:stretch>
            <a:fillRect/>
          </a:stretch>
        </p:blipFill>
        <p:spPr>
          <a:xfrm>
            <a:off x="4389120" y="1965960"/>
            <a:ext cx="3429000" cy="1928812"/>
          </a:xfrm>
          <a:prstGeom prst="rect">
            <a:avLst/>
          </a:prstGeom>
          <a:ln w="9525">
            <a:solidFill>
              <a:srgbClr val="DDE2F0"/>
            </a:solidFill>
          </a:ln>
          <a:effectLst>
            <a:outerShdw blurRad="177800" dist="50800" dir="2700000" rotWithShape="0">
              <a:srgbClr val="12173A">
                <a:alpha val="32000"/>
              </a:srgbClr>
            </a:outerShdw>
          </a:effectLst>
        </p:spPr>
      </p:pic>
      <p:sp>
        <p:nvSpPr>
          <p:cNvPr id="9" name="Rounded Rectangle 8"/>
          <p:cNvSpPr/>
          <p:nvPr/>
        </p:nvSpPr>
        <p:spPr>
          <a:xfrm>
            <a:off x="4526280" y="3602164"/>
            <a:ext cx="1463040" cy="384048"/>
          </a:xfrm>
          <a:prstGeom prst="roundRect">
            <a:avLst>
              <a:gd name="adj" fmla="val 50000"/>
            </a:avLst>
          </a:prstGeom>
          <a:solidFill>
            <a:srgbClr val="E0841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FFFFFF"/>
                </a:solidFill>
                <a:latin typeface="Calibri"/>
              </a:rPr>
              <a:t>OCCLUDED</a:t>
            </a:r>
          </a:p>
        </p:txBody>
      </p:sp>
      <p:sp>
        <p:nvSpPr>
          <p:cNvPr id="10" name="TextBox 9"/>
          <p:cNvSpPr txBox="1"/>
          <p:nvPr/>
        </p:nvSpPr>
        <p:spPr>
          <a:xfrm>
            <a:off x="4389120" y="4004500"/>
            <a:ext cx="3429000" cy="365760"/>
          </a:xfrm>
          <a:prstGeom prst="rect">
            <a:avLst/>
          </a:prstGeom>
          <a:noFill/>
        </p:spPr>
        <p:txBody>
          <a:bodyPr wrap="square">
            <a:spAutoFit/>
          </a:bodyPr>
          <a:lstStyle/>
          <a:p>
            <a:pPr algn="ctr"/>
            <a:r>
              <a:rPr sz="1300" b="0" i="0">
                <a:solidFill>
                  <a:srgbClr val="69728C"/>
                </a:solidFill>
                <a:latin typeface="Calibri"/>
              </a:rPr>
              <a:t>Fully hidden from view</a:t>
            </a:r>
          </a:p>
        </p:txBody>
      </p:sp>
      <p:pic>
        <p:nvPicPr>
          <p:cNvPr id="11" name="Picture 10" descr="5_full_appearance.jpg"/>
          <p:cNvPicPr>
            <a:picLocks noChangeAspect="1"/>
          </p:cNvPicPr>
          <p:nvPr/>
        </p:nvPicPr>
        <p:blipFill>
          <a:blip r:embed="rId5"/>
          <a:stretch>
            <a:fillRect/>
          </a:stretch>
        </p:blipFill>
        <p:spPr>
          <a:xfrm>
            <a:off x="8138160" y="1965960"/>
            <a:ext cx="3429000" cy="1928812"/>
          </a:xfrm>
          <a:prstGeom prst="rect">
            <a:avLst/>
          </a:prstGeom>
          <a:ln w="9525">
            <a:solidFill>
              <a:srgbClr val="DDE2F0"/>
            </a:solidFill>
          </a:ln>
          <a:effectLst>
            <a:outerShdw blurRad="177800" dist="50800" dir="2700000" rotWithShape="0">
              <a:srgbClr val="12173A">
                <a:alpha val="32000"/>
              </a:srgbClr>
            </a:outerShdw>
          </a:effectLst>
        </p:spPr>
      </p:pic>
      <p:sp>
        <p:nvSpPr>
          <p:cNvPr id="12" name="Rounded Rectangle 11"/>
          <p:cNvSpPr/>
          <p:nvPr/>
        </p:nvSpPr>
        <p:spPr>
          <a:xfrm>
            <a:off x="8275320" y="3602164"/>
            <a:ext cx="1463040" cy="384048"/>
          </a:xfrm>
          <a:prstGeom prst="roundRect">
            <a:avLst>
              <a:gd name="adj" fmla="val 5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FFFFFF"/>
                </a:solidFill>
                <a:latin typeface="Calibri"/>
              </a:rPr>
              <a:t>AFTER</a:t>
            </a:r>
          </a:p>
        </p:txBody>
      </p:sp>
      <p:sp>
        <p:nvSpPr>
          <p:cNvPr id="13" name="TextBox 12"/>
          <p:cNvSpPr txBox="1"/>
          <p:nvPr/>
        </p:nvSpPr>
        <p:spPr>
          <a:xfrm>
            <a:off x="8138160" y="4004500"/>
            <a:ext cx="3429000" cy="365760"/>
          </a:xfrm>
          <a:prstGeom prst="rect">
            <a:avLst/>
          </a:prstGeom>
          <a:noFill/>
        </p:spPr>
        <p:txBody>
          <a:bodyPr wrap="square">
            <a:spAutoFit/>
          </a:bodyPr>
          <a:lstStyle/>
          <a:p>
            <a:pPr algn="ctr"/>
            <a:r>
              <a:rPr sz="1300" b="0" i="0">
                <a:solidFill>
                  <a:srgbClr val="69728C"/>
                </a:solidFill>
                <a:latin typeface="Calibri"/>
              </a:rPr>
              <a:t>Reappears down the road</a:t>
            </a:r>
          </a:p>
        </p:txBody>
      </p:sp>
      <p:sp>
        <p:nvSpPr>
          <p:cNvPr id="14" name="TextBox 13"/>
          <p:cNvSpPr txBox="1"/>
          <p:nvPr/>
        </p:nvSpPr>
        <p:spPr>
          <a:xfrm>
            <a:off x="4069080" y="2747486"/>
            <a:ext cx="320040" cy="365760"/>
          </a:xfrm>
          <a:prstGeom prst="rect">
            <a:avLst/>
          </a:prstGeom>
          <a:noFill/>
        </p:spPr>
        <p:txBody>
          <a:bodyPr wrap="square">
            <a:spAutoFit/>
          </a:bodyPr>
          <a:lstStyle/>
          <a:p>
            <a:pPr algn="ctr"/>
            <a:r>
              <a:rPr sz="2200" b="1" i="0">
                <a:solidFill>
                  <a:srgbClr val="69728C"/>
                </a:solidFill>
                <a:latin typeface="Calibri"/>
              </a:rPr>
              <a:t>→</a:t>
            </a:r>
          </a:p>
        </p:txBody>
      </p:sp>
      <p:sp>
        <p:nvSpPr>
          <p:cNvPr id="15" name="TextBox 14"/>
          <p:cNvSpPr txBox="1"/>
          <p:nvPr/>
        </p:nvSpPr>
        <p:spPr>
          <a:xfrm>
            <a:off x="7818120" y="2747486"/>
            <a:ext cx="320040" cy="365760"/>
          </a:xfrm>
          <a:prstGeom prst="rect">
            <a:avLst/>
          </a:prstGeom>
          <a:noFill/>
        </p:spPr>
        <p:txBody>
          <a:bodyPr wrap="square">
            <a:spAutoFit/>
          </a:bodyPr>
          <a:lstStyle/>
          <a:p>
            <a:pPr algn="ctr"/>
            <a:r>
              <a:rPr sz="2200" b="1" i="0">
                <a:solidFill>
                  <a:srgbClr val="69728C"/>
                </a:solidFill>
                <a:latin typeface="Calibri"/>
              </a:rPr>
              <a:t>→</a:t>
            </a:r>
          </a:p>
        </p:txBody>
      </p:sp>
      <p:sp>
        <p:nvSpPr>
          <p:cNvPr id="16" name="TextBox 15"/>
          <p:cNvSpPr txBox="1"/>
          <p:nvPr/>
        </p:nvSpPr>
        <p:spPr>
          <a:xfrm>
            <a:off x="640080" y="5074920"/>
            <a:ext cx="10911535" cy="502920"/>
          </a:xfrm>
          <a:prstGeom prst="rect">
            <a:avLst/>
          </a:prstGeom>
          <a:noFill/>
        </p:spPr>
        <p:txBody>
          <a:bodyPr wrap="square">
            <a:spAutoFit/>
          </a:bodyPr>
          <a:lstStyle/>
          <a:p>
            <a:pPr algn="ctr"/>
            <a:r>
              <a:rPr sz="1800" b="1" i="0">
                <a:solidFill>
                  <a:srgbClr val="2E3348"/>
                </a:solidFill>
                <a:latin typeface="Calibri"/>
              </a:rPr>
              <a:t>A detector that only looks at the middle frame has no idea a car is even there.</a:t>
            </a:r>
          </a:p>
        </p:txBody>
      </p:sp>
      <p:sp>
        <p:nvSpPr>
          <p:cNvPr id="17" name="TextBox 16"/>
          <p:cNvSpPr txBox="1"/>
          <p:nvPr/>
        </p:nvSpPr>
        <p:spPr>
          <a:xfrm>
            <a:off x="640080" y="5623560"/>
            <a:ext cx="10911535" cy="457200"/>
          </a:xfrm>
          <a:prstGeom prst="rect">
            <a:avLst/>
          </a:prstGeom>
          <a:noFill/>
        </p:spPr>
        <p:txBody>
          <a:bodyPr wrap="square">
            <a:spAutoFit/>
          </a:bodyPr>
          <a:lstStyle/>
          <a:p>
            <a:pPr algn="ctr"/>
            <a:r>
              <a:rPr sz="1400" b="0" i="1">
                <a:solidFill>
                  <a:srgbClr val="69728C"/>
                </a:solidFill>
                <a:latin typeface="Calibri"/>
              </a:rPr>
              <a:t>“Like watching someone walk behind a parked bus — you don't assume they vanished.”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7315200" cy="320040"/>
          </a:xfrm>
          <a:prstGeom prst="rect">
            <a:avLst/>
          </a:prstGeom>
          <a:noFill/>
        </p:spPr>
        <p:txBody>
          <a:bodyPr wrap="square">
            <a:spAutoFit/>
          </a:bodyPr>
          <a:lstStyle/>
          <a:p>
            <a:pPr algn="l"/>
            <a:r>
              <a:rPr sz="1300" b="1" i="0">
                <a:solidFill>
                  <a:srgbClr val="FFA630"/>
                </a:solidFill>
                <a:latin typeface="Calibri"/>
              </a:rPr>
              <a:t>THE DATASET</a:t>
            </a:r>
          </a:p>
        </p:txBody>
      </p:sp>
      <p:sp>
        <p:nvSpPr>
          <p:cNvPr id="3" name="TextBox 2"/>
          <p:cNvSpPr txBox="1"/>
          <p:nvPr/>
        </p:nvSpPr>
        <p:spPr>
          <a:xfrm>
            <a:off x="640080" y="868680"/>
            <a:ext cx="5852160" cy="822960"/>
          </a:xfrm>
          <a:prstGeom prst="rect">
            <a:avLst/>
          </a:prstGeom>
          <a:noFill/>
        </p:spPr>
        <p:txBody>
          <a:bodyPr wrap="square">
            <a:spAutoFit/>
          </a:bodyPr>
          <a:lstStyle/>
          <a:p>
            <a:pPr algn="l"/>
            <a:r>
              <a:rPr sz="2500" b="1" i="0">
                <a:solidFill>
                  <a:srgbClr val="12173A"/>
                </a:solidFill>
                <a:latin typeface="Cambria"/>
              </a:rPr>
              <a:t>nuScenes — Front Camera Only</a:t>
            </a:r>
          </a:p>
        </p:txBody>
      </p:sp>
      <p:sp>
        <p:nvSpPr>
          <p:cNvPr id="4" name="Rectangle 3"/>
          <p:cNvSpPr/>
          <p:nvPr/>
        </p:nvSpPr>
        <p:spPr>
          <a:xfrm>
            <a:off x="640080" y="148132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2217420"/>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1</a:t>
            </a:r>
          </a:p>
        </p:txBody>
      </p:sp>
      <p:sp>
        <p:nvSpPr>
          <p:cNvPr id="6" name="TextBox 5"/>
          <p:cNvSpPr txBox="1"/>
          <p:nvPr/>
        </p:nvSpPr>
        <p:spPr>
          <a:xfrm>
            <a:off x="1353312" y="1920240"/>
            <a:ext cx="5230368" cy="1051560"/>
          </a:xfrm>
          <a:prstGeom prst="rect">
            <a:avLst/>
          </a:prstGeom>
          <a:noFill/>
        </p:spPr>
        <p:txBody>
          <a:bodyPr wrap="square" anchor="ctr">
            <a:spAutoFit/>
          </a:bodyPr>
          <a:lstStyle/>
          <a:p>
            <a:r>
              <a:rPr sz="1350">
                <a:solidFill>
                  <a:srgbClr val="2E3348"/>
                </a:solidFill>
                <a:latin typeface="Calibri"/>
              </a:rPr>
              <a:t>nuScenes: a large-scale AV dataset with synchronized cameras, LiDAR, radar, and 3D box annotations that include a per-object visibility rating</a:t>
            </a:r>
          </a:p>
        </p:txBody>
      </p:sp>
      <p:sp>
        <p:nvSpPr>
          <p:cNvPr id="7" name="Rounded Rectangle 6"/>
          <p:cNvSpPr/>
          <p:nvPr/>
        </p:nvSpPr>
        <p:spPr>
          <a:xfrm>
            <a:off x="640080" y="3360420"/>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2</a:t>
            </a:r>
          </a:p>
        </p:txBody>
      </p:sp>
      <p:sp>
        <p:nvSpPr>
          <p:cNvPr id="8" name="TextBox 7"/>
          <p:cNvSpPr txBox="1"/>
          <p:nvPr/>
        </p:nvSpPr>
        <p:spPr>
          <a:xfrm>
            <a:off x="1353312" y="3063240"/>
            <a:ext cx="5230368" cy="1051560"/>
          </a:xfrm>
          <a:prstGeom prst="rect">
            <a:avLst/>
          </a:prstGeom>
          <a:noFill/>
        </p:spPr>
        <p:txBody>
          <a:bodyPr wrap="square" anchor="ctr">
            <a:spAutoFit/>
          </a:bodyPr>
          <a:lstStyle/>
          <a:p>
            <a:r>
              <a:rPr sz="1350">
                <a:solidFill>
                  <a:srgbClr val="2E3348"/>
                </a:solidFill>
                <a:latin typeface="Calibri"/>
              </a:rPr>
              <a:t>This project uses only CAM_FRONT — one monocular camera, no LiDAR or other views feeding detection itself</a:t>
            </a:r>
          </a:p>
        </p:txBody>
      </p:sp>
      <p:sp>
        <p:nvSpPr>
          <p:cNvPr id="9" name="Rounded Rectangle 8"/>
          <p:cNvSpPr/>
          <p:nvPr/>
        </p:nvSpPr>
        <p:spPr>
          <a:xfrm>
            <a:off x="640080" y="4503420"/>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3</a:t>
            </a:r>
          </a:p>
        </p:txBody>
      </p:sp>
      <p:sp>
        <p:nvSpPr>
          <p:cNvPr id="10" name="TextBox 9"/>
          <p:cNvSpPr txBox="1"/>
          <p:nvPr/>
        </p:nvSpPr>
        <p:spPr>
          <a:xfrm>
            <a:off x="1353312" y="4206240"/>
            <a:ext cx="5230368" cy="1051560"/>
          </a:xfrm>
          <a:prstGeom prst="rect">
            <a:avLst/>
          </a:prstGeom>
          <a:noFill/>
        </p:spPr>
        <p:txBody>
          <a:bodyPr wrap="square" anchor="ctr">
            <a:spAutoFit/>
          </a:bodyPr>
          <a:lstStyle/>
          <a:p>
            <a:r>
              <a:rPr sz="1350">
                <a:solidFill>
                  <a:srgbClr val="2E3348"/>
                </a:solidFill>
                <a:latin typeface="Calibri"/>
              </a:rPr>
              <a:t>Front-only keeps the pipeline laptop-scale and isolates the occlusion-memory problem, instead of mixing in multi-camera fusion</a:t>
            </a:r>
          </a:p>
        </p:txBody>
      </p:sp>
      <p:sp>
        <p:nvSpPr>
          <p:cNvPr id="11" name="Rounded Rectangle 10"/>
          <p:cNvSpPr/>
          <p:nvPr/>
        </p:nvSpPr>
        <p:spPr>
          <a:xfrm>
            <a:off x="640080" y="5646420"/>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4</a:t>
            </a:r>
          </a:p>
        </p:txBody>
      </p:sp>
      <p:sp>
        <p:nvSpPr>
          <p:cNvPr id="12" name="TextBox 11"/>
          <p:cNvSpPr txBox="1"/>
          <p:nvPr/>
        </p:nvSpPr>
        <p:spPr>
          <a:xfrm>
            <a:off x="1353312" y="5349240"/>
            <a:ext cx="5230368" cy="1051560"/>
          </a:xfrm>
          <a:prstGeom prst="rect">
            <a:avLst/>
          </a:prstGeom>
          <a:noFill/>
        </p:spPr>
        <p:txBody>
          <a:bodyPr wrap="square" anchor="ctr">
            <a:spAutoFit/>
          </a:bodyPr>
          <a:lstStyle/>
          <a:p>
            <a:r>
              <a:rPr sz="1350">
                <a:solidFill>
                  <a:srgbClr val="2E3348"/>
                </a:solidFill>
                <a:latin typeface="Calibri"/>
              </a:rPr>
              <a:t>LiDAR and the 3D annotations aren't wasted, though — they come back as independent ground truth for evaluating OATM (next: Evaluation Methodology)</a:t>
            </a:r>
          </a:p>
        </p:txBody>
      </p:sp>
      <p:pic>
        <p:nvPicPr>
          <p:cNvPr id="13" name="Picture 12" descr="1_previous_no_occlusion.jpg"/>
          <p:cNvPicPr>
            <a:picLocks noChangeAspect="1"/>
          </p:cNvPicPr>
          <p:nvPr/>
        </p:nvPicPr>
        <p:blipFill>
          <a:blip r:embed="rId3"/>
          <a:stretch>
            <a:fillRect/>
          </a:stretch>
        </p:blipFill>
        <p:spPr>
          <a:xfrm>
            <a:off x="6858000" y="1965960"/>
            <a:ext cx="4709160" cy="2648902"/>
          </a:xfrm>
          <a:prstGeom prst="rect">
            <a:avLst/>
          </a:prstGeom>
          <a:ln w="9525">
            <a:solidFill>
              <a:srgbClr val="DDE2F0"/>
            </a:solidFill>
          </a:ln>
          <a:effectLst>
            <a:outerShdw blurRad="177800" dist="50800" dir="2700000" rotWithShape="0">
              <a:srgbClr val="12173A">
                <a:alpha val="32000"/>
              </a:srgbClr>
            </a:outerShdw>
          </a:effectLst>
        </p:spPr>
      </p:pic>
      <p:sp>
        <p:nvSpPr>
          <p:cNvPr id="14" name="TextBox 13"/>
          <p:cNvSpPr txBox="1"/>
          <p:nvPr/>
        </p:nvSpPr>
        <p:spPr>
          <a:xfrm>
            <a:off x="6858000" y="4752022"/>
            <a:ext cx="4709160" cy="457200"/>
          </a:xfrm>
          <a:prstGeom prst="rect">
            <a:avLst/>
          </a:prstGeom>
          <a:noFill/>
        </p:spPr>
        <p:txBody>
          <a:bodyPr wrap="square">
            <a:spAutoFit/>
          </a:bodyPr>
          <a:lstStyle/>
          <a:p>
            <a:pPr algn="ctr"/>
            <a:r>
              <a:rPr sz="1250" b="0" i="1">
                <a:solidFill>
                  <a:srgbClr val="69728C"/>
                </a:solidFill>
                <a:latin typeface="Calibri"/>
              </a:rPr>
              <a:t>CAM_FRONT — the only view this project detects from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p:cNvGrpSpPr/>
        <p:nvPr/>
      </p:nvGrpSpPr>
      <p:grpSpPr>
        <a:xfrm>
          <a:off x="0" y="0"/>
          <a:ext cx="0" cy="0"/>
          <a:chOff x="0" y="0"/>
          <a:chExt cx="0" cy="0"/>
        </a:xfrm>
      </p:grpSpPr>
      <p:sp>
        <p:nvSpPr>
          <p:cNvPr id="2" name="TextBox 1"/>
          <p:cNvSpPr txBox="1"/>
          <p:nvPr/>
        </p:nvSpPr>
        <p:spPr>
          <a:xfrm>
            <a:off x="0" y="1417320"/>
            <a:ext cx="12191695" cy="320040"/>
          </a:xfrm>
          <a:prstGeom prst="rect">
            <a:avLst/>
          </a:prstGeom>
          <a:noFill/>
        </p:spPr>
        <p:txBody>
          <a:bodyPr wrap="square">
            <a:spAutoFit/>
          </a:bodyPr>
          <a:lstStyle/>
          <a:p>
            <a:pPr algn="ctr"/>
            <a:r>
              <a:rPr sz="1300" b="1" i="0">
                <a:solidFill>
                  <a:srgbClr val="FFA630"/>
                </a:solidFill>
                <a:latin typeface="Calibri"/>
              </a:rPr>
              <a:t>THE CORE RESEARCH QUESTION</a:t>
            </a:r>
          </a:p>
        </p:txBody>
      </p:sp>
      <p:sp>
        <p:nvSpPr>
          <p:cNvPr id="3" name="Rectangle 2"/>
          <p:cNvSpPr/>
          <p:nvPr/>
        </p:nvSpPr>
        <p:spPr>
          <a:xfrm>
            <a:off x="5775807" y="1828800"/>
            <a:ext cx="64008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9811512" cy="1920240"/>
          </a:xfrm>
          <a:prstGeom prst="rect">
            <a:avLst/>
          </a:prstGeom>
          <a:noFill/>
        </p:spPr>
        <p:txBody>
          <a:bodyPr wrap="square">
            <a:spAutoFit/>
          </a:bodyPr>
          <a:lstStyle/>
          <a:p>
            <a:pPr algn="ctr">
              <a:lnSpc>
                <a:spcPct val="115000"/>
              </a:lnSpc>
            </a:pPr>
            <a:r>
              <a:rPr sz="2900" b="1" i="0">
                <a:solidFill>
                  <a:srgbClr val="FFFFFF"/>
                </a:solidFill>
                <a:latin typeface="Cambria"/>
              </a:rPr>
              <a:t>Can short-term visual memory help a camera keep track of temporarily hidden road users — without inventing false ones?</a:t>
            </a:r>
          </a:p>
        </p:txBody>
      </p:sp>
      <p:sp>
        <p:nvSpPr>
          <p:cNvPr id="5" name="Rounded Rectangle 4"/>
          <p:cNvSpPr/>
          <p:nvPr/>
        </p:nvSpPr>
        <p:spPr>
          <a:xfrm>
            <a:off x="1737360" y="4434840"/>
            <a:ext cx="8714232" cy="1600200"/>
          </a:xfrm>
          <a:prstGeom prst="roundRect">
            <a:avLst>
              <a:gd name="adj" fmla="val 12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wrap="square" lIns="365760" tIns="201168" rIns="365760" rtlCol="0" anchor="ctr"/>
          <a:lstStyle/>
          <a:p>
            <a:pPr algn="ctr"/>
            <a:r>
              <a:rPr sz="1300" b="1">
                <a:solidFill>
                  <a:srgbClr val="FFA630"/>
                </a:solidFill>
                <a:latin typeface="Calibri"/>
              </a:rPr>
              <a:t>Hypothesis</a:t>
            </a:r>
          </a:p>
          <a:p>
            <a:pPr algn="ctr">
              <a:spcBef>
                <a:spcPts val="600"/>
              </a:spcBef>
            </a:pPr>
            <a:r>
              <a:rPr sz="1550" i="1">
                <a:solidFill>
                  <a:srgbClr val="CADCFC"/>
                </a:solidFill>
                <a:latin typeface="Calibri"/>
              </a:rPr>
              <a:t>Occlusion-aware temporal memory preserves more valid tracks through short occlusions than single-frame detection or conventional tracking — without creating an unacceptable number of false, ghost tracks.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7315200" cy="320040"/>
          </a:xfrm>
          <a:prstGeom prst="rect">
            <a:avLst/>
          </a:prstGeom>
          <a:noFill/>
        </p:spPr>
        <p:txBody>
          <a:bodyPr wrap="square">
            <a:spAutoFit/>
          </a:bodyPr>
          <a:lstStyle/>
          <a:p>
            <a:pPr algn="l"/>
            <a:r>
              <a:rPr sz="1300" b="1" i="0">
                <a:solidFill>
                  <a:srgbClr val="FFA630"/>
                </a:solidFill>
                <a:latin typeface="Calibri"/>
              </a:rPr>
              <a:t>EVIDENCE 1 · BASELINE</a:t>
            </a:r>
          </a:p>
        </p:txBody>
      </p:sp>
      <p:sp>
        <p:nvSpPr>
          <p:cNvPr id="3" name="TextBox 2"/>
          <p:cNvSpPr txBox="1"/>
          <p:nvPr/>
        </p:nvSpPr>
        <p:spPr>
          <a:xfrm>
            <a:off x="640080" y="749808"/>
            <a:ext cx="10881360" cy="548640"/>
          </a:xfrm>
          <a:prstGeom prst="rect">
            <a:avLst/>
          </a:prstGeom>
          <a:noFill/>
        </p:spPr>
        <p:txBody>
          <a:bodyPr wrap="square">
            <a:spAutoFit/>
          </a:bodyPr>
          <a:lstStyle/>
          <a:p>
            <a:pPr algn="l"/>
            <a:r>
              <a:rPr sz="2500" b="1" i="0">
                <a:solidFill>
                  <a:srgbClr val="12173A"/>
                </a:solidFill>
                <a:latin typeface="Cambria"/>
              </a:rPr>
              <a:t>Detection Collapses at Full Occlusion</a:t>
            </a:r>
          </a:p>
        </p:txBody>
      </p:sp>
      <p:sp>
        <p:nvSpPr>
          <p:cNvPr id="4" name="Rectangle 3"/>
          <p:cNvSpPr/>
          <p:nvPr/>
        </p:nvSpPr>
        <p:spPr>
          <a:xfrm>
            <a:off x="640080" y="129844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911535" cy="365760"/>
          </a:xfrm>
          <a:prstGeom prst="rect">
            <a:avLst/>
          </a:prstGeom>
          <a:noFill/>
        </p:spPr>
        <p:txBody>
          <a:bodyPr wrap="square">
            <a:spAutoFit/>
          </a:bodyPr>
          <a:lstStyle/>
          <a:p>
            <a:pPr algn="l"/>
            <a:r>
              <a:rPr sz="1350" b="0" i="0">
                <a:solidFill>
                  <a:srgbClr val="2E3348"/>
                </a:solidFill>
                <a:latin typeface="Calibri"/>
              </a:rPr>
              <a:t>Pretrained YOLO nano, CPU-only, on 8 real nuScenes occlusion sequences — tracked through 5 stages, from clearly visible to fully hidden and back.</a:t>
            </a:r>
          </a:p>
        </p:txBody>
      </p:sp>
      <p:graphicFrame>
        <p:nvGraphicFramePr>
          <p:cNvPr id="6" name="Chart 5"/>
          <p:cNvGraphicFramePr>
            <a:graphicFrameLocks noGrp="1"/>
          </p:cNvGraphicFramePr>
          <p:nvPr/>
        </p:nvGraphicFramePr>
        <p:xfrm>
          <a:off x="640080" y="1783080"/>
          <a:ext cx="534924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p:cNvGraphicFramePr>
            <a:graphicFrameLocks noGrp="1"/>
          </p:cNvGraphicFramePr>
          <p:nvPr/>
        </p:nvGraphicFramePr>
        <p:xfrm>
          <a:off x="6263640" y="1783080"/>
          <a:ext cx="5349240" cy="2286000"/>
        </p:xfrm>
        <a:graphic>
          <a:graphicData uri="http://schemas.openxmlformats.org/drawingml/2006/chart">
            <c:chart xmlns:c="http://schemas.openxmlformats.org/drawingml/2006/chart" xmlns:r="http://schemas.openxmlformats.org/officeDocument/2006/relationships" r:id="rId4"/>
          </a:graphicData>
        </a:graphic>
      </p:graphicFrame>
      <p:pic>
        <p:nvPicPr>
          <p:cNvPr id="8" name="Picture 7" descr="assets_yolo_only_crop_sample_003.jpg"/>
          <p:cNvPicPr>
            <a:picLocks noChangeAspect="1"/>
          </p:cNvPicPr>
          <p:nvPr/>
        </p:nvPicPr>
        <p:blipFill>
          <a:blip r:embed="rId5"/>
          <a:stretch>
            <a:fillRect/>
          </a:stretch>
        </p:blipFill>
        <p:spPr>
          <a:xfrm>
            <a:off x="640080" y="4206240"/>
            <a:ext cx="3017520" cy="1697355"/>
          </a:xfrm>
          <a:prstGeom prst="rect">
            <a:avLst/>
          </a:prstGeom>
          <a:ln w="9525">
            <a:solidFill>
              <a:srgbClr val="DDE2F0"/>
            </a:solidFill>
          </a:ln>
          <a:effectLst>
            <a:outerShdw blurRad="177800" dist="50800" dir="2700000" rotWithShape="0">
              <a:srgbClr val="12173A">
                <a:alpha val="32000"/>
              </a:srgbClr>
            </a:outerShdw>
          </a:effectLst>
        </p:spPr>
      </p:pic>
      <p:sp>
        <p:nvSpPr>
          <p:cNvPr id="9" name="TextBox 8"/>
          <p:cNvSpPr txBox="1"/>
          <p:nvPr/>
        </p:nvSpPr>
        <p:spPr>
          <a:xfrm>
            <a:off x="640080" y="5958459"/>
            <a:ext cx="3017520" cy="548640"/>
          </a:xfrm>
          <a:prstGeom prst="rect">
            <a:avLst/>
          </a:prstGeom>
          <a:noFill/>
        </p:spPr>
        <p:txBody>
          <a:bodyPr wrap="square">
            <a:spAutoFit/>
          </a:bodyPr>
          <a:lstStyle/>
          <a:p>
            <a:pPr algn="ctr"/>
            <a:r>
              <a:rPr sz="1050" b="0" i="1">
                <a:solidFill>
                  <a:srgbClr val="69728C"/>
                </a:solidFill>
                <a:latin typeface="Calibri"/>
              </a:rPr>
              <a:t>Full occlusion, sample_003 — YOLO draws zero boxes on the target. Not misdetected — simply absent.</a:t>
            </a:r>
          </a:p>
        </p:txBody>
      </p:sp>
      <p:sp>
        <p:nvSpPr>
          <p:cNvPr id="10" name="Rounded Rectangle 9"/>
          <p:cNvSpPr/>
          <p:nvPr/>
        </p:nvSpPr>
        <p:spPr>
          <a:xfrm>
            <a:off x="3931920" y="4206240"/>
            <a:ext cx="7619695" cy="1188720"/>
          </a:xfrm>
          <a:prstGeom prst="roundRect">
            <a:avLst>
              <a:gd name="adj" fmla="val 10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31920" y="4370832"/>
            <a:ext cx="2539898" cy="430887"/>
          </a:xfrm>
          <a:prstGeom prst="rect">
            <a:avLst/>
          </a:prstGeom>
          <a:noFill/>
        </p:spPr>
        <p:txBody>
          <a:bodyPr wrap="square">
            <a:spAutoFit/>
          </a:bodyPr>
          <a:lstStyle/>
          <a:p>
            <a:pPr algn="ctr"/>
            <a:r>
              <a:rPr sz="2200" b="1" i="0" dirty="0">
                <a:solidFill>
                  <a:srgbClr val="FFA630"/>
                </a:solidFill>
                <a:latin typeface="Cambria"/>
              </a:rPr>
              <a:t>100% → 1</a:t>
            </a:r>
            <a:r>
              <a:rPr lang="en-GB" sz="2200" b="1" i="0" dirty="0">
                <a:solidFill>
                  <a:srgbClr val="FFA630"/>
                </a:solidFill>
                <a:latin typeface="Cambria"/>
              </a:rPr>
              <a:t>3</a:t>
            </a:r>
            <a:r>
              <a:rPr sz="2200" b="1" i="0" dirty="0">
                <a:solidFill>
                  <a:srgbClr val="FFA630"/>
                </a:solidFill>
                <a:latin typeface="Cambria"/>
              </a:rPr>
              <a:t>%</a:t>
            </a:r>
          </a:p>
        </p:txBody>
      </p:sp>
      <p:sp>
        <p:nvSpPr>
          <p:cNvPr id="12" name="TextBox 11"/>
          <p:cNvSpPr txBox="1"/>
          <p:nvPr/>
        </p:nvSpPr>
        <p:spPr>
          <a:xfrm>
            <a:off x="4069080" y="4992624"/>
            <a:ext cx="2265578" cy="320040"/>
          </a:xfrm>
          <a:prstGeom prst="rect">
            <a:avLst/>
          </a:prstGeom>
          <a:noFill/>
        </p:spPr>
        <p:txBody>
          <a:bodyPr wrap="square">
            <a:spAutoFit/>
          </a:bodyPr>
          <a:lstStyle/>
          <a:p>
            <a:pPr algn="ctr">
              <a:lnSpc>
                <a:spcPct val="105000"/>
              </a:lnSpc>
            </a:pPr>
            <a:r>
              <a:rPr sz="1050" b="0" i="0">
                <a:solidFill>
                  <a:srgbClr val="CADCFC"/>
                </a:solidFill>
                <a:latin typeface="Calibri"/>
              </a:rPr>
              <a:t>detection rate at full occlusion</a:t>
            </a:r>
          </a:p>
        </p:txBody>
      </p:sp>
      <p:sp>
        <p:nvSpPr>
          <p:cNvPr id="13" name="TextBox 12"/>
          <p:cNvSpPr txBox="1"/>
          <p:nvPr/>
        </p:nvSpPr>
        <p:spPr>
          <a:xfrm>
            <a:off x="6471818" y="4370832"/>
            <a:ext cx="2539898" cy="640080"/>
          </a:xfrm>
          <a:prstGeom prst="rect">
            <a:avLst/>
          </a:prstGeom>
          <a:noFill/>
        </p:spPr>
        <p:txBody>
          <a:bodyPr wrap="square">
            <a:spAutoFit/>
          </a:bodyPr>
          <a:lstStyle/>
          <a:p>
            <a:pPr algn="ctr"/>
            <a:r>
              <a:rPr sz="2200" b="1" i="0">
                <a:solidFill>
                  <a:srgbClr val="FFA630"/>
                </a:solidFill>
                <a:latin typeface="Cambria"/>
              </a:rPr>
              <a:t>0.77 → 0.03</a:t>
            </a:r>
          </a:p>
        </p:txBody>
      </p:sp>
      <p:sp>
        <p:nvSpPr>
          <p:cNvPr id="14" name="TextBox 13"/>
          <p:cNvSpPr txBox="1"/>
          <p:nvPr/>
        </p:nvSpPr>
        <p:spPr>
          <a:xfrm>
            <a:off x="6608978" y="4992624"/>
            <a:ext cx="2265578" cy="320040"/>
          </a:xfrm>
          <a:prstGeom prst="rect">
            <a:avLst/>
          </a:prstGeom>
          <a:noFill/>
        </p:spPr>
        <p:txBody>
          <a:bodyPr wrap="square">
            <a:spAutoFit/>
          </a:bodyPr>
          <a:lstStyle/>
          <a:p>
            <a:pPr algn="ctr">
              <a:lnSpc>
                <a:spcPct val="105000"/>
              </a:lnSpc>
            </a:pPr>
            <a:r>
              <a:rPr sz="1050" b="0" i="0">
                <a:solidFill>
                  <a:srgbClr val="CADCFC"/>
                </a:solidFill>
                <a:latin typeface="Calibri"/>
              </a:rPr>
              <a:t>mean confidence at full occlusion</a:t>
            </a:r>
          </a:p>
        </p:txBody>
      </p:sp>
      <p:sp>
        <p:nvSpPr>
          <p:cNvPr id="15" name="Rectangle 14"/>
          <p:cNvSpPr/>
          <p:nvPr/>
        </p:nvSpPr>
        <p:spPr>
          <a:xfrm>
            <a:off x="6471818" y="4407408"/>
            <a:ext cx="12700" cy="78638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11716" y="4370832"/>
            <a:ext cx="2539898" cy="640080"/>
          </a:xfrm>
          <a:prstGeom prst="rect">
            <a:avLst/>
          </a:prstGeom>
          <a:noFill/>
        </p:spPr>
        <p:txBody>
          <a:bodyPr wrap="square">
            <a:spAutoFit/>
          </a:bodyPr>
          <a:lstStyle/>
          <a:p>
            <a:pPr algn="ctr"/>
            <a:r>
              <a:rPr sz="2200" b="1" i="0">
                <a:solidFill>
                  <a:srgbClr val="FFA630"/>
                </a:solidFill>
                <a:latin typeface="Cambria"/>
              </a:rPr>
              <a:t>100%</a:t>
            </a:r>
          </a:p>
        </p:txBody>
      </p:sp>
      <p:sp>
        <p:nvSpPr>
          <p:cNvPr id="17" name="TextBox 16"/>
          <p:cNvSpPr txBox="1"/>
          <p:nvPr/>
        </p:nvSpPr>
        <p:spPr>
          <a:xfrm>
            <a:off x="9148876" y="4992624"/>
            <a:ext cx="2265578" cy="320040"/>
          </a:xfrm>
          <a:prstGeom prst="rect">
            <a:avLst/>
          </a:prstGeom>
          <a:noFill/>
        </p:spPr>
        <p:txBody>
          <a:bodyPr wrap="square">
            <a:spAutoFit/>
          </a:bodyPr>
          <a:lstStyle/>
          <a:p>
            <a:pPr algn="ctr">
              <a:lnSpc>
                <a:spcPct val="105000"/>
              </a:lnSpc>
            </a:pPr>
            <a:r>
              <a:rPr sz="1050" b="0" i="0">
                <a:solidFill>
                  <a:srgbClr val="CADCFC"/>
                </a:solidFill>
                <a:latin typeface="Calibri"/>
              </a:rPr>
              <a:t>correct class whenever detected</a:t>
            </a:r>
          </a:p>
        </p:txBody>
      </p:sp>
      <p:sp>
        <p:nvSpPr>
          <p:cNvPr id="18" name="Rectangle 17"/>
          <p:cNvSpPr/>
          <p:nvPr/>
        </p:nvSpPr>
        <p:spPr>
          <a:xfrm>
            <a:off x="9011716" y="4407408"/>
            <a:ext cx="12700" cy="78638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31920" y="5486400"/>
            <a:ext cx="7619695" cy="365760"/>
          </a:xfrm>
          <a:prstGeom prst="rect">
            <a:avLst/>
          </a:prstGeom>
          <a:noFill/>
        </p:spPr>
        <p:txBody>
          <a:bodyPr wrap="square">
            <a:spAutoFit/>
          </a:bodyPr>
          <a:lstStyle/>
          <a:p>
            <a:pPr algn="l"/>
            <a:r>
              <a:rPr sz="1100" b="0" i="1">
                <a:solidFill>
                  <a:srgbClr val="69728C"/>
                </a:solidFill>
                <a:latin typeface="Calibri"/>
              </a:rPr>
              <a:t>Partial-occlusion stages have small sample sizes (n=2-3) — interpret with caution.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7315200" cy="320040"/>
          </a:xfrm>
          <a:prstGeom prst="rect">
            <a:avLst/>
          </a:prstGeom>
          <a:noFill/>
        </p:spPr>
        <p:txBody>
          <a:bodyPr wrap="square">
            <a:spAutoFit/>
          </a:bodyPr>
          <a:lstStyle/>
          <a:p>
            <a:pPr algn="l"/>
            <a:r>
              <a:rPr sz="1300" b="1" i="0">
                <a:solidFill>
                  <a:srgbClr val="FFA630"/>
                </a:solidFill>
                <a:latin typeface="Calibri"/>
              </a:rPr>
              <a:t>EVIDENCE 2 · NAIVE MEMORY</a:t>
            </a:r>
          </a:p>
        </p:txBody>
      </p:sp>
      <p:sp>
        <p:nvSpPr>
          <p:cNvPr id="3" name="TextBox 2"/>
          <p:cNvSpPr txBox="1"/>
          <p:nvPr/>
        </p:nvSpPr>
        <p:spPr>
          <a:xfrm>
            <a:off x="640080" y="749808"/>
            <a:ext cx="10881360" cy="548640"/>
          </a:xfrm>
          <a:prstGeom prst="rect">
            <a:avLst/>
          </a:prstGeom>
          <a:noFill/>
        </p:spPr>
        <p:txBody>
          <a:bodyPr wrap="square">
            <a:spAutoFit/>
          </a:bodyPr>
          <a:lstStyle/>
          <a:p>
            <a:pPr algn="l"/>
            <a:r>
              <a:rPr sz="2500" b="1" i="0">
                <a:solidFill>
                  <a:srgbClr val="12173A"/>
                </a:solidFill>
                <a:latin typeface="Cambria"/>
              </a:rPr>
              <a:t>The Simplest Fix: Freeze the Last Box</a:t>
            </a:r>
          </a:p>
        </p:txBody>
      </p:sp>
      <p:sp>
        <p:nvSpPr>
          <p:cNvPr id="4" name="Rectangle 3"/>
          <p:cNvSpPr/>
          <p:nvPr/>
        </p:nvSpPr>
        <p:spPr>
          <a:xfrm>
            <a:off x="640080" y="129844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911535" cy="320040"/>
          </a:xfrm>
          <a:prstGeom prst="rect">
            <a:avLst/>
          </a:prstGeom>
          <a:noFill/>
        </p:spPr>
        <p:txBody>
          <a:bodyPr wrap="square">
            <a:spAutoFit/>
          </a:bodyPr>
          <a:lstStyle/>
          <a:p>
            <a:pPr algn="l"/>
            <a:r>
              <a:rPr sz="1350" b="0" i="0">
                <a:solidFill>
                  <a:srgbClr val="2E3348"/>
                </a:solidFill>
                <a:latin typeface="Calibri"/>
              </a:rPr>
              <a:t>When YOLO loses the target, keep drawing its last known box instead of letting it vanish.</a:t>
            </a:r>
          </a:p>
        </p:txBody>
      </p:sp>
      <p:sp>
        <p:nvSpPr>
          <p:cNvPr id="6" name="Rounded Rectangle 5"/>
          <p:cNvSpPr/>
          <p:nvPr/>
        </p:nvSpPr>
        <p:spPr>
          <a:xfrm>
            <a:off x="1203807" y="1828800"/>
            <a:ext cx="2011680" cy="384048"/>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Calibri"/>
              </a:rPr>
              <a:t>BEST CASE</a:t>
            </a:r>
          </a:p>
        </p:txBody>
      </p:sp>
      <p:sp>
        <p:nvSpPr>
          <p:cNvPr id="7" name="Rounded Rectangle 6"/>
          <p:cNvSpPr/>
          <p:nvPr/>
        </p:nvSpPr>
        <p:spPr>
          <a:xfrm>
            <a:off x="6233007" y="1828800"/>
            <a:ext cx="2103120" cy="384048"/>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Calibri"/>
              </a:rPr>
              <a:t>WORST CASE</a:t>
            </a:r>
          </a:p>
        </p:txBody>
      </p:sp>
      <p:pic>
        <p:nvPicPr>
          <p:cNvPr id="8" name="Picture 7" descr="comparison_2_reappearance.jpg"/>
          <p:cNvPicPr>
            <a:picLocks noChangeAspect="1"/>
          </p:cNvPicPr>
          <p:nvPr/>
        </p:nvPicPr>
        <p:blipFill>
          <a:blip r:embed="rId3"/>
          <a:stretch>
            <a:fillRect/>
          </a:stretch>
        </p:blipFill>
        <p:spPr>
          <a:xfrm>
            <a:off x="1203807" y="2212848"/>
            <a:ext cx="4754880" cy="2674620"/>
          </a:xfrm>
          <a:prstGeom prst="rect">
            <a:avLst/>
          </a:prstGeom>
          <a:ln w="9525">
            <a:solidFill>
              <a:srgbClr val="DDE2F0"/>
            </a:solidFill>
          </a:ln>
          <a:effectLst>
            <a:outerShdw blurRad="177800" dist="50800" dir="2700000" rotWithShape="0">
              <a:srgbClr val="12173A">
                <a:alpha val="32000"/>
              </a:srgbClr>
            </a:outerShdw>
          </a:effectLst>
        </p:spPr>
      </p:pic>
      <p:pic>
        <p:nvPicPr>
          <p:cNvPr id="9" name="Picture 8" descr="comparison_2_reappearance.jpg"/>
          <p:cNvPicPr>
            <a:picLocks noChangeAspect="1"/>
          </p:cNvPicPr>
          <p:nvPr/>
        </p:nvPicPr>
        <p:blipFill>
          <a:blip r:embed="rId4"/>
          <a:stretch>
            <a:fillRect/>
          </a:stretch>
        </p:blipFill>
        <p:spPr>
          <a:xfrm>
            <a:off x="6233007" y="2212848"/>
            <a:ext cx="4754880" cy="2674620"/>
          </a:xfrm>
          <a:prstGeom prst="rect">
            <a:avLst/>
          </a:prstGeom>
          <a:ln w="9525">
            <a:solidFill>
              <a:srgbClr val="DDE2F0"/>
            </a:solidFill>
          </a:ln>
          <a:effectLst>
            <a:outerShdw blurRad="177800" dist="50800" dir="2700000" rotWithShape="0">
              <a:srgbClr val="12173A">
                <a:alpha val="32000"/>
              </a:srgbClr>
            </a:outerShdw>
          </a:effectLst>
        </p:spPr>
      </p:pic>
      <p:sp>
        <p:nvSpPr>
          <p:cNvPr id="10" name="TextBox 9"/>
          <p:cNvSpPr txBox="1"/>
          <p:nvPr/>
        </p:nvSpPr>
        <p:spPr>
          <a:xfrm>
            <a:off x="1203807" y="4960620"/>
            <a:ext cx="4754880" cy="365760"/>
          </a:xfrm>
          <a:prstGeom prst="rect">
            <a:avLst/>
          </a:prstGeom>
          <a:noFill/>
        </p:spPr>
        <p:txBody>
          <a:bodyPr wrap="square">
            <a:spAutoFit/>
          </a:bodyPr>
          <a:lstStyle/>
          <a:p>
            <a:pPr algn="ctr"/>
            <a:r>
              <a:rPr sz="1150" b="0" i="1">
                <a:solidFill>
                  <a:srgbClr val="69728C"/>
                </a:solidFill>
                <a:latin typeface="Calibri"/>
              </a:rPr>
              <a:t>sample_003 — reappears next to a bus (83 px, IoU 0.34 — boxes barely overlap by a third)</a:t>
            </a:r>
          </a:p>
        </p:txBody>
      </p:sp>
      <p:sp>
        <p:nvSpPr>
          <p:cNvPr id="11" name="TextBox 10"/>
          <p:cNvSpPr txBox="1"/>
          <p:nvPr/>
        </p:nvSpPr>
        <p:spPr>
          <a:xfrm>
            <a:off x="6233007" y="4960620"/>
            <a:ext cx="4754880" cy="365760"/>
          </a:xfrm>
          <a:prstGeom prst="rect">
            <a:avLst/>
          </a:prstGeom>
          <a:noFill/>
        </p:spPr>
        <p:txBody>
          <a:bodyPr wrap="square">
            <a:spAutoFit/>
          </a:bodyPr>
          <a:lstStyle/>
          <a:p>
            <a:pPr algn="ctr"/>
            <a:r>
              <a:rPr sz="1150" b="0" i="1">
                <a:solidFill>
                  <a:srgbClr val="69728C"/>
                </a:solidFill>
                <a:latin typeface="Calibri"/>
              </a:rPr>
              <a:t>sample_006 — crossing an intersection (589 px, IoU 0.00)</a:t>
            </a:r>
          </a:p>
        </p:txBody>
      </p:sp>
      <p:sp>
        <p:nvSpPr>
          <p:cNvPr id="12" name="TextBox 11"/>
          <p:cNvSpPr txBox="1"/>
          <p:nvPr/>
        </p:nvSpPr>
        <p:spPr>
          <a:xfrm>
            <a:off x="640080" y="5344668"/>
            <a:ext cx="10911535" cy="274320"/>
          </a:xfrm>
          <a:prstGeom prst="rect">
            <a:avLst/>
          </a:prstGeom>
          <a:noFill/>
        </p:spPr>
        <p:txBody>
          <a:bodyPr wrap="square">
            <a:spAutoFit/>
          </a:bodyPr>
          <a:lstStyle/>
          <a:p>
            <a:pPr algn="ctr"/>
            <a:r>
              <a:rPr sz="1100" b="0" i="1">
                <a:solidFill>
                  <a:srgbClr val="69728C"/>
                </a:solidFill>
                <a:latin typeface="Calibri"/>
              </a:rPr>
              <a:t>Also tested: sample_001 (127px), sample_004 (423px), sample_005 (432px) — same pattern across all 5.</a:t>
            </a:r>
          </a:p>
        </p:txBody>
      </p:sp>
      <p:sp>
        <p:nvSpPr>
          <p:cNvPr id="13" name="Rounded Rectangle 12"/>
          <p:cNvSpPr/>
          <p:nvPr/>
        </p:nvSpPr>
        <p:spPr>
          <a:xfrm>
            <a:off x="640080" y="5623560"/>
            <a:ext cx="10911535" cy="1097280"/>
          </a:xfrm>
          <a:prstGeom prst="roundRect">
            <a:avLst>
              <a:gd name="adj" fmla="val 10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5788152"/>
            <a:ext cx="3637178" cy="640080"/>
          </a:xfrm>
          <a:prstGeom prst="rect">
            <a:avLst/>
          </a:prstGeom>
          <a:noFill/>
        </p:spPr>
        <p:txBody>
          <a:bodyPr wrap="square">
            <a:spAutoFit/>
          </a:bodyPr>
          <a:lstStyle/>
          <a:p>
            <a:pPr algn="ctr"/>
            <a:r>
              <a:rPr sz="2600" b="1" i="0">
                <a:solidFill>
                  <a:srgbClr val="FFA630"/>
                </a:solidFill>
                <a:latin typeface="Cambria"/>
              </a:rPr>
              <a:t>331 px</a:t>
            </a:r>
          </a:p>
        </p:txBody>
      </p:sp>
      <p:sp>
        <p:nvSpPr>
          <p:cNvPr id="15" name="TextBox 14"/>
          <p:cNvSpPr txBox="1"/>
          <p:nvPr/>
        </p:nvSpPr>
        <p:spPr>
          <a:xfrm>
            <a:off x="777240" y="6409944"/>
            <a:ext cx="3362858" cy="228600"/>
          </a:xfrm>
          <a:prstGeom prst="rect">
            <a:avLst/>
          </a:prstGeom>
          <a:noFill/>
        </p:spPr>
        <p:txBody>
          <a:bodyPr wrap="square">
            <a:spAutoFit/>
          </a:bodyPr>
          <a:lstStyle/>
          <a:p>
            <a:pPr algn="ctr">
              <a:lnSpc>
                <a:spcPct val="105000"/>
              </a:lnSpc>
            </a:pPr>
            <a:r>
              <a:rPr sz="1100" b="0" i="0">
                <a:solidFill>
                  <a:srgbClr val="CADCFC"/>
                </a:solidFill>
                <a:latin typeface="Calibri"/>
              </a:rPr>
              <a:t>mean center error on reappearance</a:t>
            </a:r>
          </a:p>
        </p:txBody>
      </p:sp>
      <p:sp>
        <p:nvSpPr>
          <p:cNvPr id="16" name="TextBox 15"/>
          <p:cNvSpPr txBox="1"/>
          <p:nvPr/>
        </p:nvSpPr>
        <p:spPr>
          <a:xfrm>
            <a:off x="4277258" y="5788152"/>
            <a:ext cx="3637178" cy="640080"/>
          </a:xfrm>
          <a:prstGeom prst="rect">
            <a:avLst/>
          </a:prstGeom>
          <a:noFill/>
        </p:spPr>
        <p:txBody>
          <a:bodyPr wrap="square">
            <a:spAutoFit/>
          </a:bodyPr>
          <a:lstStyle/>
          <a:p>
            <a:pPr algn="ctr"/>
            <a:r>
              <a:rPr sz="2600" b="1" i="0">
                <a:solidFill>
                  <a:srgbClr val="FFA630"/>
                </a:solidFill>
                <a:latin typeface="Cambria"/>
              </a:rPr>
              <a:t>0.085</a:t>
            </a:r>
          </a:p>
        </p:txBody>
      </p:sp>
      <p:sp>
        <p:nvSpPr>
          <p:cNvPr id="17" name="TextBox 16"/>
          <p:cNvSpPr txBox="1"/>
          <p:nvPr/>
        </p:nvSpPr>
        <p:spPr>
          <a:xfrm>
            <a:off x="4414418" y="6409944"/>
            <a:ext cx="3362858" cy="228600"/>
          </a:xfrm>
          <a:prstGeom prst="rect">
            <a:avLst/>
          </a:prstGeom>
          <a:noFill/>
        </p:spPr>
        <p:txBody>
          <a:bodyPr wrap="square">
            <a:spAutoFit/>
          </a:bodyPr>
          <a:lstStyle/>
          <a:p>
            <a:pPr algn="ctr">
              <a:lnSpc>
                <a:spcPct val="105000"/>
              </a:lnSpc>
            </a:pPr>
            <a:r>
              <a:rPr sz="1100" b="0" i="0">
                <a:solidFill>
                  <a:srgbClr val="CADCFC"/>
                </a:solidFill>
                <a:latin typeface="Calibri"/>
              </a:rPr>
              <a:t>mean IoU (median: 0.000)</a:t>
            </a:r>
          </a:p>
        </p:txBody>
      </p:sp>
      <p:sp>
        <p:nvSpPr>
          <p:cNvPr id="18" name="Rectangle 17"/>
          <p:cNvSpPr/>
          <p:nvPr/>
        </p:nvSpPr>
        <p:spPr>
          <a:xfrm>
            <a:off x="4277258" y="5824728"/>
            <a:ext cx="12700" cy="69494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14436" y="5788152"/>
            <a:ext cx="3637178" cy="640080"/>
          </a:xfrm>
          <a:prstGeom prst="rect">
            <a:avLst/>
          </a:prstGeom>
          <a:noFill/>
        </p:spPr>
        <p:txBody>
          <a:bodyPr wrap="square">
            <a:spAutoFit/>
          </a:bodyPr>
          <a:lstStyle/>
          <a:p>
            <a:pPr algn="ctr"/>
            <a:r>
              <a:rPr sz="2600" b="1" i="0">
                <a:solidFill>
                  <a:srgbClr val="FFA630"/>
                </a:solidFill>
                <a:latin typeface="Cambria"/>
              </a:rPr>
              <a:t>3 / 5</a:t>
            </a:r>
          </a:p>
        </p:txBody>
      </p:sp>
      <p:sp>
        <p:nvSpPr>
          <p:cNvPr id="20" name="TextBox 19"/>
          <p:cNvSpPr txBox="1"/>
          <p:nvPr/>
        </p:nvSpPr>
        <p:spPr>
          <a:xfrm>
            <a:off x="8051596" y="6409944"/>
            <a:ext cx="3362858" cy="228600"/>
          </a:xfrm>
          <a:prstGeom prst="rect">
            <a:avLst/>
          </a:prstGeom>
          <a:noFill/>
        </p:spPr>
        <p:txBody>
          <a:bodyPr wrap="square">
            <a:spAutoFit/>
          </a:bodyPr>
          <a:lstStyle/>
          <a:p>
            <a:pPr algn="ctr">
              <a:lnSpc>
                <a:spcPct val="105000"/>
              </a:lnSpc>
            </a:pPr>
            <a:r>
              <a:rPr sz="1100" b="0" i="0">
                <a:solidFill>
                  <a:srgbClr val="CADCFC"/>
                </a:solidFill>
                <a:latin typeface="Calibri"/>
              </a:rPr>
              <a:t>samples had zero box overlap</a:t>
            </a:r>
          </a:p>
        </p:txBody>
      </p:sp>
      <p:sp>
        <p:nvSpPr>
          <p:cNvPr id="21" name="Rectangle 20"/>
          <p:cNvSpPr/>
          <p:nvPr/>
        </p:nvSpPr>
        <p:spPr>
          <a:xfrm>
            <a:off x="7914436" y="5824728"/>
            <a:ext cx="12700" cy="69494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7315200" cy="320040"/>
          </a:xfrm>
          <a:prstGeom prst="rect">
            <a:avLst/>
          </a:prstGeom>
          <a:noFill/>
        </p:spPr>
        <p:txBody>
          <a:bodyPr wrap="square">
            <a:spAutoFit/>
          </a:bodyPr>
          <a:lstStyle/>
          <a:p>
            <a:pPr algn="l"/>
            <a:r>
              <a:rPr sz="1300" b="1" i="0">
                <a:solidFill>
                  <a:srgbClr val="FFA630"/>
                </a:solidFill>
                <a:latin typeface="Calibri"/>
              </a:rPr>
              <a:t>EVIDENCE 3 · SORT MOTION PREDICTION</a:t>
            </a:r>
          </a:p>
        </p:txBody>
      </p:sp>
      <p:sp>
        <p:nvSpPr>
          <p:cNvPr id="3" name="TextBox 2"/>
          <p:cNvSpPr txBox="1"/>
          <p:nvPr/>
        </p:nvSpPr>
        <p:spPr>
          <a:xfrm>
            <a:off x="640080" y="749808"/>
            <a:ext cx="10881360" cy="548640"/>
          </a:xfrm>
          <a:prstGeom prst="rect">
            <a:avLst/>
          </a:prstGeom>
          <a:noFill/>
        </p:spPr>
        <p:txBody>
          <a:bodyPr wrap="square">
            <a:spAutoFit/>
          </a:bodyPr>
          <a:lstStyle/>
          <a:p>
            <a:pPr algn="l"/>
            <a:r>
              <a:rPr sz="2400" b="1" i="0">
                <a:solidFill>
                  <a:srgbClr val="12173A"/>
                </a:solidFill>
                <a:latin typeface="Cambria"/>
              </a:rPr>
              <a:t>Motion Prediction Helps — With Caveats</a:t>
            </a:r>
          </a:p>
        </p:txBody>
      </p:sp>
      <p:sp>
        <p:nvSpPr>
          <p:cNvPr id="4" name="Rectangle 3"/>
          <p:cNvSpPr/>
          <p:nvPr/>
        </p:nvSpPr>
        <p:spPr>
          <a:xfrm>
            <a:off x="640080" y="129844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911535" cy="320040"/>
          </a:xfrm>
          <a:prstGeom prst="rect">
            <a:avLst/>
          </a:prstGeom>
          <a:noFill/>
        </p:spPr>
        <p:txBody>
          <a:bodyPr wrap="square">
            <a:spAutoFit/>
          </a:bodyPr>
          <a:lstStyle/>
          <a:p>
            <a:pPr algn="l"/>
            <a:r>
              <a:rPr sz="1350" b="0" i="0" dirty="0">
                <a:solidFill>
                  <a:srgbClr val="2E3348"/>
                </a:solidFill>
                <a:latin typeface="Calibri"/>
              </a:rPr>
              <a:t>A mini SORT-style tracker predicting velocity instead of freezing position — tested on 9 real car tracks.</a:t>
            </a:r>
          </a:p>
        </p:txBody>
      </p:sp>
      <p:graphicFrame>
        <p:nvGraphicFramePr>
          <p:cNvPr id="6" name="Chart 5"/>
          <p:cNvGraphicFramePr>
            <a:graphicFrameLocks noGrp="1"/>
          </p:cNvGraphicFramePr>
          <p:nvPr/>
        </p:nvGraphicFramePr>
        <p:xfrm>
          <a:off x="640080" y="1828800"/>
          <a:ext cx="5349240" cy="2331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p:cNvGraphicFramePr>
            <a:graphicFrameLocks noGrp="1"/>
          </p:cNvGraphicFramePr>
          <p:nvPr/>
        </p:nvGraphicFramePr>
        <p:xfrm>
          <a:off x="6263640" y="1828800"/>
          <a:ext cx="5349240"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8" name="Rounded Rectangle 7"/>
          <p:cNvSpPr/>
          <p:nvPr/>
        </p:nvSpPr>
        <p:spPr>
          <a:xfrm>
            <a:off x="640080" y="4297680"/>
            <a:ext cx="10911535" cy="1097280"/>
          </a:xfrm>
          <a:prstGeom prst="roundRect">
            <a:avLst>
              <a:gd name="adj" fmla="val 10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4462272"/>
            <a:ext cx="3637178" cy="640080"/>
          </a:xfrm>
          <a:prstGeom prst="rect">
            <a:avLst/>
          </a:prstGeom>
          <a:noFill/>
        </p:spPr>
        <p:txBody>
          <a:bodyPr wrap="square">
            <a:spAutoFit/>
          </a:bodyPr>
          <a:lstStyle/>
          <a:p>
            <a:pPr algn="ctr"/>
            <a:r>
              <a:rPr sz="2300" b="1" i="0">
                <a:solidFill>
                  <a:srgbClr val="FFA630"/>
                </a:solidFill>
                <a:latin typeface="Cambria"/>
              </a:rPr>
              <a:t>46 → 17 px</a:t>
            </a:r>
          </a:p>
        </p:txBody>
      </p:sp>
      <p:sp>
        <p:nvSpPr>
          <p:cNvPr id="10" name="TextBox 9"/>
          <p:cNvSpPr txBox="1"/>
          <p:nvPr/>
        </p:nvSpPr>
        <p:spPr>
          <a:xfrm>
            <a:off x="777240" y="5084064"/>
            <a:ext cx="3362858" cy="228600"/>
          </a:xfrm>
          <a:prstGeom prst="rect">
            <a:avLst/>
          </a:prstGeom>
          <a:noFill/>
        </p:spPr>
        <p:txBody>
          <a:bodyPr wrap="square">
            <a:spAutoFit/>
          </a:bodyPr>
          <a:lstStyle/>
          <a:p>
            <a:pPr algn="ctr">
              <a:lnSpc>
                <a:spcPct val="105000"/>
              </a:lnSpc>
            </a:pPr>
            <a:r>
              <a:rPr sz="1050" b="0" i="0">
                <a:solidFill>
                  <a:srgbClr val="CADCFC"/>
                </a:solidFill>
                <a:latin typeface="Calibri"/>
              </a:rPr>
              <a:t>mean center error, static → SORT</a:t>
            </a:r>
          </a:p>
        </p:txBody>
      </p:sp>
      <p:sp>
        <p:nvSpPr>
          <p:cNvPr id="11" name="TextBox 10"/>
          <p:cNvSpPr txBox="1"/>
          <p:nvPr/>
        </p:nvSpPr>
        <p:spPr>
          <a:xfrm>
            <a:off x="4318102" y="4511128"/>
            <a:ext cx="3637178" cy="446276"/>
          </a:xfrm>
          <a:prstGeom prst="rect">
            <a:avLst/>
          </a:prstGeom>
          <a:noFill/>
        </p:spPr>
        <p:txBody>
          <a:bodyPr wrap="square">
            <a:spAutoFit/>
          </a:bodyPr>
          <a:lstStyle/>
          <a:p>
            <a:pPr algn="ctr"/>
            <a:r>
              <a:rPr sz="2300" b="1" i="0" dirty="0">
                <a:solidFill>
                  <a:schemeClr val="accent6">
                    <a:lumMod val="75000"/>
                  </a:schemeClr>
                </a:solidFill>
                <a:latin typeface="Cambria"/>
              </a:rPr>
              <a:t>0.67</a:t>
            </a:r>
            <a:r>
              <a:rPr sz="2300" b="1" i="0" dirty="0">
                <a:solidFill>
                  <a:srgbClr val="FFA630"/>
                </a:solidFill>
                <a:latin typeface="Cambria"/>
              </a:rPr>
              <a:t> → 0.72</a:t>
            </a:r>
          </a:p>
        </p:txBody>
      </p:sp>
      <p:sp>
        <p:nvSpPr>
          <p:cNvPr id="12" name="TextBox 11"/>
          <p:cNvSpPr txBox="1"/>
          <p:nvPr/>
        </p:nvSpPr>
        <p:spPr>
          <a:xfrm>
            <a:off x="4414418" y="5084064"/>
            <a:ext cx="3362858" cy="228600"/>
          </a:xfrm>
          <a:prstGeom prst="rect">
            <a:avLst/>
          </a:prstGeom>
          <a:noFill/>
        </p:spPr>
        <p:txBody>
          <a:bodyPr wrap="square">
            <a:spAutoFit/>
          </a:bodyPr>
          <a:lstStyle/>
          <a:p>
            <a:pPr algn="ctr">
              <a:lnSpc>
                <a:spcPct val="105000"/>
              </a:lnSpc>
            </a:pPr>
            <a:r>
              <a:rPr sz="1050" b="0" i="0">
                <a:solidFill>
                  <a:srgbClr val="CADCFC"/>
                </a:solidFill>
                <a:latin typeface="Calibri"/>
              </a:rPr>
              <a:t>mean IoU, static → SORT</a:t>
            </a:r>
          </a:p>
        </p:txBody>
      </p:sp>
      <p:sp>
        <p:nvSpPr>
          <p:cNvPr id="13" name="Rectangle 12"/>
          <p:cNvSpPr/>
          <p:nvPr/>
        </p:nvSpPr>
        <p:spPr>
          <a:xfrm>
            <a:off x="4277258" y="4498848"/>
            <a:ext cx="12700" cy="69494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14436" y="4462272"/>
            <a:ext cx="3637178" cy="640080"/>
          </a:xfrm>
          <a:prstGeom prst="rect">
            <a:avLst/>
          </a:prstGeom>
          <a:noFill/>
        </p:spPr>
        <p:txBody>
          <a:bodyPr wrap="square">
            <a:spAutoFit/>
          </a:bodyPr>
          <a:lstStyle/>
          <a:p>
            <a:pPr algn="ctr"/>
            <a:r>
              <a:rPr sz="2300" b="1" i="0">
                <a:solidFill>
                  <a:srgbClr val="FFA630"/>
                </a:solidFill>
                <a:latin typeface="Cambria"/>
              </a:rPr>
              <a:t>9 tracks</a:t>
            </a:r>
          </a:p>
        </p:txBody>
      </p:sp>
      <p:sp>
        <p:nvSpPr>
          <p:cNvPr id="15" name="TextBox 14"/>
          <p:cNvSpPr txBox="1"/>
          <p:nvPr/>
        </p:nvSpPr>
        <p:spPr>
          <a:xfrm>
            <a:off x="8051596" y="5084064"/>
            <a:ext cx="3362858" cy="228600"/>
          </a:xfrm>
          <a:prstGeom prst="rect">
            <a:avLst/>
          </a:prstGeom>
          <a:noFill/>
        </p:spPr>
        <p:txBody>
          <a:bodyPr wrap="square">
            <a:spAutoFit/>
          </a:bodyPr>
          <a:lstStyle/>
          <a:p>
            <a:pPr algn="ctr">
              <a:lnSpc>
                <a:spcPct val="105000"/>
              </a:lnSpc>
            </a:pPr>
            <a:r>
              <a:rPr sz="1050" b="0" i="0">
                <a:solidFill>
                  <a:srgbClr val="CADCFC"/>
                </a:solidFill>
                <a:latin typeface="Calibri"/>
              </a:rPr>
              <a:t>cars only, across 3 clips</a:t>
            </a:r>
          </a:p>
        </p:txBody>
      </p:sp>
      <p:sp>
        <p:nvSpPr>
          <p:cNvPr id="16" name="Rectangle 15"/>
          <p:cNvSpPr/>
          <p:nvPr/>
        </p:nvSpPr>
        <p:spPr>
          <a:xfrm>
            <a:off x="7914436" y="4498848"/>
            <a:ext cx="12700" cy="69494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40080" y="5486400"/>
            <a:ext cx="10911535" cy="1234440"/>
          </a:xfrm>
          <a:prstGeom prst="roundRect">
            <a:avLst>
              <a:gd name="adj" fmla="val 6000"/>
            </a:avLst>
          </a:prstGeom>
          <a:solidFill>
            <a:srgbClr val="F3F5FA"/>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74320" tIns="146304" rIns="274320" rtlCol="0" anchor="ctr"/>
          <a:lstStyle/>
          <a:p>
            <a:pPr algn="ctr"/>
            <a:r>
              <a:rPr sz="1150" b="1" dirty="0">
                <a:solidFill>
                  <a:srgbClr val="E0841C"/>
                </a:solidFill>
                <a:latin typeface="Calibri"/>
              </a:rPr>
              <a:t>THE CATCH</a:t>
            </a:r>
          </a:p>
          <a:p>
            <a:pPr>
              <a:spcBef>
                <a:spcPts val="300"/>
              </a:spcBef>
            </a:pPr>
            <a:r>
              <a:rPr sz="1250" dirty="0">
                <a:solidFill>
                  <a:srgbClr val="2E3348"/>
                </a:solidFill>
                <a:latin typeface="Calibri"/>
              </a:rPr>
              <a:t>Almost the entire win comes from 2 of 9 tracks — on the dominant clip, static memory ties SORT. The reference boxes were Kalman-corrected (not raw YOLO), and long gaps bypass the tracker's own expiry rule. A real demonstration of motion extrapolation — not yet an independent validation of SORT.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p:cNvGrpSpPr/>
        <p:nvPr/>
      </p:nvGrpSpPr>
      <p:grpSpPr>
        <a:xfrm>
          <a:off x="0" y="0"/>
          <a:ext cx="0" cy="0"/>
          <a:chOff x="0" y="0"/>
          <a:chExt cx="0" cy="0"/>
        </a:xfrm>
      </p:grpSpPr>
      <p:sp>
        <p:nvSpPr>
          <p:cNvPr id="2" name="TextBox 1"/>
          <p:cNvSpPr txBox="1"/>
          <p:nvPr/>
        </p:nvSpPr>
        <p:spPr>
          <a:xfrm>
            <a:off x="0" y="548640"/>
            <a:ext cx="12191695" cy="320040"/>
          </a:xfrm>
          <a:prstGeom prst="rect">
            <a:avLst/>
          </a:prstGeom>
          <a:noFill/>
        </p:spPr>
        <p:txBody>
          <a:bodyPr wrap="square">
            <a:spAutoFit/>
          </a:bodyPr>
          <a:lstStyle/>
          <a:p>
            <a:pPr algn="ctr"/>
            <a:r>
              <a:rPr sz="1300" b="1" i="0">
                <a:solidFill>
                  <a:srgbClr val="FFA630"/>
                </a:solidFill>
                <a:latin typeface="Calibri"/>
              </a:rPr>
              <a:t>THE DIAGNOSIS</a:t>
            </a:r>
          </a:p>
        </p:txBody>
      </p:sp>
      <p:sp>
        <p:nvSpPr>
          <p:cNvPr id="3" name="TextBox 2"/>
          <p:cNvSpPr txBox="1"/>
          <p:nvPr/>
        </p:nvSpPr>
        <p:spPr>
          <a:xfrm>
            <a:off x="1188720" y="914400"/>
            <a:ext cx="9811512" cy="1188720"/>
          </a:xfrm>
          <a:prstGeom prst="rect">
            <a:avLst/>
          </a:prstGeom>
          <a:noFill/>
        </p:spPr>
        <p:txBody>
          <a:bodyPr wrap="square">
            <a:spAutoFit/>
          </a:bodyPr>
          <a:lstStyle/>
          <a:p>
            <a:pPr algn="ctr">
              <a:lnSpc>
                <a:spcPct val="112000"/>
              </a:lnSpc>
            </a:pPr>
            <a:r>
              <a:rPr sz="2700" b="1" i="0">
                <a:solidFill>
                  <a:srgbClr val="FFFFFF"/>
                </a:solidFill>
                <a:latin typeface="Cambria"/>
              </a:rPr>
              <a:t>A static memory box goes stale because it ignores motion.</a:t>
            </a:r>
          </a:p>
        </p:txBody>
      </p:sp>
      <p:sp>
        <p:nvSpPr>
          <p:cNvPr id="4" name="TextBox 3"/>
          <p:cNvSpPr txBox="1"/>
          <p:nvPr/>
        </p:nvSpPr>
        <p:spPr>
          <a:xfrm>
            <a:off x="1554480" y="2148840"/>
            <a:ext cx="9079992" cy="777240"/>
          </a:xfrm>
          <a:prstGeom prst="rect">
            <a:avLst/>
          </a:prstGeom>
          <a:noFill/>
        </p:spPr>
        <p:txBody>
          <a:bodyPr wrap="square">
            <a:spAutoFit/>
          </a:bodyPr>
          <a:lstStyle/>
          <a:p>
            <a:pPr algn="ctr">
              <a:lnSpc>
                <a:spcPct val="120000"/>
              </a:lnSpc>
            </a:pPr>
            <a:r>
              <a:rPr sz="1400" b="0" i="0">
                <a:solidFill>
                  <a:srgbClr val="CADCFC"/>
                </a:solidFill>
                <a:latin typeface="Calibri"/>
              </a:rPr>
              <a:t>Real objects keep moving while hidden. A memory system that only remembers where something was will drift further wrong the longer it stays hidden.</a:t>
            </a:r>
          </a:p>
        </p:txBody>
      </p:sp>
      <p:sp>
        <p:nvSpPr>
          <p:cNvPr id="5" name="Rectangle 4"/>
          <p:cNvSpPr/>
          <p:nvPr/>
        </p:nvSpPr>
        <p:spPr>
          <a:xfrm>
            <a:off x="4270248" y="3063240"/>
            <a:ext cx="3657600" cy="19050"/>
          </a:xfrm>
          <a:prstGeom prst="rect">
            <a:avLst/>
          </a:prstGeom>
          <a:solidFill>
            <a:srgbClr val="FFA63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3291840"/>
            <a:ext cx="12191695" cy="320040"/>
          </a:xfrm>
          <a:prstGeom prst="rect">
            <a:avLst/>
          </a:prstGeom>
          <a:noFill/>
        </p:spPr>
        <p:txBody>
          <a:bodyPr wrap="square">
            <a:spAutoFit/>
          </a:bodyPr>
          <a:lstStyle/>
          <a:p>
            <a:pPr algn="ctr"/>
            <a:r>
              <a:rPr sz="1300" b="1" i="0">
                <a:solidFill>
                  <a:srgbClr val="FFA630"/>
                </a:solidFill>
                <a:latin typeface="Calibri"/>
              </a:rPr>
              <a:t>THE GAP IN EXISTING TOOLS</a:t>
            </a:r>
          </a:p>
        </p:txBody>
      </p:sp>
      <p:sp>
        <p:nvSpPr>
          <p:cNvPr id="7" name="Rounded Rectangle 6"/>
          <p:cNvSpPr/>
          <p:nvPr/>
        </p:nvSpPr>
        <p:spPr>
          <a:xfrm>
            <a:off x="442913" y="3847147"/>
            <a:ext cx="5440680" cy="77724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82880" rtlCol="0" anchor="ctr"/>
          <a:lstStyle/>
          <a:p>
            <a:r>
              <a:rPr sz="1350" b="1" dirty="0">
                <a:solidFill>
                  <a:srgbClr val="FFA630"/>
                </a:solidFill>
                <a:latin typeface="Calibri"/>
              </a:rPr>
              <a:t>Single-frame detection</a:t>
            </a:r>
          </a:p>
          <a:p>
            <a:r>
              <a:rPr sz="1250" dirty="0">
                <a:solidFill>
                  <a:srgbClr val="CADCFC"/>
                </a:solidFill>
                <a:latin typeface="Calibri"/>
              </a:rPr>
              <a:t>no memory at all — occluded means gone</a:t>
            </a:r>
          </a:p>
        </p:txBody>
      </p:sp>
      <p:sp>
        <p:nvSpPr>
          <p:cNvPr id="8" name="Rounded Rectangle 7"/>
          <p:cNvSpPr/>
          <p:nvPr/>
        </p:nvSpPr>
        <p:spPr>
          <a:xfrm>
            <a:off x="6308409" y="3847147"/>
            <a:ext cx="5440680" cy="77724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82880" rtlCol="0" anchor="ctr"/>
          <a:lstStyle/>
          <a:p>
            <a:r>
              <a:rPr sz="1350" b="1" dirty="0">
                <a:solidFill>
                  <a:srgbClr val="FFA630"/>
                </a:solidFill>
                <a:latin typeface="Calibri"/>
              </a:rPr>
              <a:t>SORT</a:t>
            </a:r>
          </a:p>
          <a:p>
            <a:r>
              <a:rPr sz="1250" dirty="0">
                <a:solidFill>
                  <a:srgbClr val="CADCFC"/>
                </a:solidFill>
                <a:latin typeface="Calibri"/>
              </a:rPr>
              <a:t>cuts error 46→17px on smooth tracks — but N=9 cars, circular reference</a:t>
            </a:r>
          </a:p>
        </p:txBody>
      </p:sp>
      <p:sp>
        <p:nvSpPr>
          <p:cNvPr id="9" name="Rounded Rectangle 8"/>
          <p:cNvSpPr/>
          <p:nvPr/>
        </p:nvSpPr>
        <p:spPr>
          <a:xfrm>
            <a:off x="442913" y="4732020"/>
            <a:ext cx="5440680" cy="77724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82880" rtlCol="0" anchor="ctr"/>
          <a:lstStyle/>
          <a:p>
            <a:r>
              <a:rPr sz="1350" b="1" dirty="0" err="1">
                <a:solidFill>
                  <a:srgbClr val="FFA630"/>
                </a:solidFill>
                <a:latin typeface="Calibri"/>
              </a:rPr>
              <a:t>ByteTrack</a:t>
            </a:r>
            <a:endParaRPr sz="1350" b="1" dirty="0">
              <a:solidFill>
                <a:srgbClr val="FFA630"/>
              </a:solidFill>
              <a:latin typeface="Calibri"/>
            </a:endParaRPr>
          </a:p>
          <a:p>
            <a:r>
              <a:rPr sz="1250" dirty="0">
                <a:solidFill>
                  <a:srgbClr val="CADCFC"/>
                </a:solidFill>
                <a:latin typeface="Calibri"/>
              </a:rPr>
              <a:t>still needs some visible evidence to link to</a:t>
            </a:r>
          </a:p>
        </p:txBody>
      </p:sp>
      <p:sp>
        <p:nvSpPr>
          <p:cNvPr id="10" name="Rounded Rectangle 9"/>
          <p:cNvSpPr/>
          <p:nvPr/>
        </p:nvSpPr>
        <p:spPr>
          <a:xfrm>
            <a:off x="6321553" y="4709160"/>
            <a:ext cx="5440680" cy="77724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82880" rtlCol="0" anchor="ctr"/>
          <a:lstStyle/>
          <a:p>
            <a:r>
              <a:rPr sz="1350" b="1" dirty="0">
                <a:solidFill>
                  <a:srgbClr val="FFA630"/>
                </a:solidFill>
                <a:latin typeface="Calibri"/>
              </a:rPr>
              <a:t>Fixed temporal memory</a:t>
            </a:r>
          </a:p>
          <a:p>
            <a:r>
              <a:rPr sz="1250" dirty="0">
                <a:solidFill>
                  <a:srgbClr val="CADCFC"/>
                </a:solidFill>
                <a:latin typeface="Calibri"/>
              </a:rPr>
              <a:t>blind to motion and its own ghost-track risk</a:t>
            </a:r>
          </a:p>
        </p:txBody>
      </p:sp>
      <p:sp>
        <p:nvSpPr>
          <p:cNvPr id="11" name="TextBox 10"/>
          <p:cNvSpPr txBox="1"/>
          <p:nvPr/>
        </p:nvSpPr>
        <p:spPr>
          <a:xfrm>
            <a:off x="1554480" y="5806440"/>
            <a:ext cx="9079992" cy="457200"/>
          </a:xfrm>
          <a:prstGeom prst="rect">
            <a:avLst/>
          </a:prstGeom>
          <a:noFill/>
        </p:spPr>
        <p:txBody>
          <a:bodyPr wrap="square">
            <a:spAutoFit/>
          </a:bodyPr>
          <a:lstStyle/>
          <a:p>
            <a:pPr algn="ctr"/>
            <a:r>
              <a:rPr sz="1450" b="1" i="1">
                <a:solidFill>
                  <a:srgbClr val="FFA630"/>
                </a:solidFill>
                <a:latin typeface="Calibri"/>
              </a:rPr>
              <a:t>None decide hidden vs. lost vs. gone, or decay confidence accordingly — that's the gap OATM is built to fill.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320040"/>
          </a:xfrm>
          <a:prstGeom prst="rect">
            <a:avLst/>
          </a:prstGeom>
          <a:noFill/>
        </p:spPr>
        <p:txBody>
          <a:bodyPr wrap="square">
            <a:spAutoFit/>
          </a:bodyPr>
          <a:lstStyle/>
          <a:p>
            <a:pPr algn="l"/>
            <a:r>
              <a:rPr sz="1300" b="1" i="0">
                <a:solidFill>
                  <a:srgbClr val="FFA630"/>
                </a:solidFill>
                <a:latin typeface="Calibri"/>
              </a:rPr>
              <a:t>THE PROPOSED FIX</a:t>
            </a:r>
          </a:p>
        </p:txBody>
      </p:sp>
      <p:sp>
        <p:nvSpPr>
          <p:cNvPr id="3" name="TextBox 2"/>
          <p:cNvSpPr txBox="1"/>
          <p:nvPr/>
        </p:nvSpPr>
        <p:spPr>
          <a:xfrm>
            <a:off x="640080" y="795528"/>
            <a:ext cx="8229600" cy="640080"/>
          </a:xfrm>
          <a:prstGeom prst="rect">
            <a:avLst/>
          </a:prstGeom>
          <a:noFill/>
        </p:spPr>
        <p:txBody>
          <a:bodyPr wrap="square">
            <a:spAutoFit/>
          </a:bodyPr>
          <a:lstStyle/>
          <a:p>
            <a:pPr algn="l"/>
            <a:r>
              <a:rPr sz="2400" b="1" i="0">
                <a:solidFill>
                  <a:srgbClr val="12173A"/>
                </a:solidFill>
                <a:latin typeface="Cambria"/>
              </a:rPr>
              <a:t>OATM: Occlusion-Adaptive Temporal Memory</a:t>
            </a:r>
          </a:p>
        </p:txBody>
      </p:sp>
      <p:sp>
        <p:nvSpPr>
          <p:cNvPr id="4" name="Rectangle 3"/>
          <p:cNvSpPr/>
          <p:nvPr/>
        </p:nvSpPr>
        <p:spPr>
          <a:xfrm>
            <a:off x="640080" y="1417320"/>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2125980"/>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1</a:t>
            </a:r>
          </a:p>
        </p:txBody>
      </p:sp>
      <p:sp>
        <p:nvSpPr>
          <p:cNvPr id="6" name="TextBox 5"/>
          <p:cNvSpPr txBox="1"/>
          <p:nvPr/>
        </p:nvSpPr>
        <p:spPr>
          <a:xfrm>
            <a:off x="1353312" y="2108359"/>
            <a:ext cx="5321808" cy="492443"/>
          </a:xfrm>
          <a:prstGeom prst="rect">
            <a:avLst/>
          </a:prstGeom>
          <a:noFill/>
        </p:spPr>
        <p:txBody>
          <a:bodyPr wrap="square" anchor="ctr">
            <a:spAutoFit/>
          </a:bodyPr>
          <a:lstStyle/>
          <a:p>
            <a:r>
              <a:rPr sz="1300" b="1" dirty="0">
                <a:solidFill>
                  <a:srgbClr val="2E3348"/>
                </a:solidFill>
                <a:latin typeface="Calibri"/>
              </a:rPr>
              <a:t>Appearance memory: </a:t>
            </a:r>
            <a:r>
              <a:rPr sz="1300" dirty="0">
                <a:solidFill>
                  <a:srgbClr val="2E3348"/>
                </a:solidFill>
                <a:latin typeface="Calibri"/>
              </a:rPr>
              <a:t>stores the last clear crop of the object, so it can be re-identified on reappearance</a:t>
            </a:r>
          </a:p>
        </p:txBody>
      </p:sp>
      <p:sp>
        <p:nvSpPr>
          <p:cNvPr id="7" name="Rounded Rectangle 6"/>
          <p:cNvSpPr/>
          <p:nvPr/>
        </p:nvSpPr>
        <p:spPr>
          <a:xfrm>
            <a:off x="640080" y="3360420"/>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2</a:t>
            </a:r>
          </a:p>
        </p:txBody>
      </p:sp>
      <p:sp>
        <p:nvSpPr>
          <p:cNvPr id="8" name="TextBox 7"/>
          <p:cNvSpPr txBox="1"/>
          <p:nvPr/>
        </p:nvSpPr>
        <p:spPr>
          <a:xfrm>
            <a:off x="1353312" y="3242771"/>
            <a:ext cx="5321808" cy="692497"/>
          </a:xfrm>
          <a:prstGeom prst="rect">
            <a:avLst/>
          </a:prstGeom>
          <a:noFill/>
        </p:spPr>
        <p:txBody>
          <a:bodyPr wrap="square" anchor="ctr">
            <a:spAutoFit/>
          </a:bodyPr>
          <a:lstStyle/>
          <a:p>
            <a:r>
              <a:rPr sz="1300" b="1" dirty="0">
                <a:solidFill>
                  <a:srgbClr val="2E3348"/>
                </a:solidFill>
                <a:latin typeface="Calibri"/>
              </a:rPr>
              <a:t>Motion memory: </a:t>
            </a:r>
            <a:r>
              <a:rPr sz="1300" dirty="0">
                <a:solidFill>
                  <a:srgbClr val="2E3348"/>
                </a:solidFill>
                <a:latin typeface="Calibri"/>
              </a:rPr>
              <a:t>a Kalman-style predict → observe → correct loop — the same mechanism already prototyped in Evidence 3, fixed to use an independent reference and real track-expiry</a:t>
            </a:r>
          </a:p>
        </p:txBody>
      </p:sp>
      <p:sp>
        <p:nvSpPr>
          <p:cNvPr id="9" name="Rounded Rectangle 8"/>
          <p:cNvSpPr/>
          <p:nvPr/>
        </p:nvSpPr>
        <p:spPr>
          <a:xfrm>
            <a:off x="640080" y="4594860"/>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3</a:t>
            </a:r>
          </a:p>
        </p:txBody>
      </p:sp>
      <p:sp>
        <p:nvSpPr>
          <p:cNvPr id="10" name="TextBox 9"/>
          <p:cNvSpPr txBox="1"/>
          <p:nvPr/>
        </p:nvSpPr>
        <p:spPr>
          <a:xfrm>
            <a:off x="1353312" y="4577239"/>
            <a:ext cx="5321808" cy="492443"/>
          </a:xfrm>
          <a:prstGeom prst="rect">
            <a:avLst/>
          </a:prstGeom>
          <a:noFill/>
        </p:spPr>
        <p:txBody>
          <a:bodyPr wrap="square" anchor="ctr">
            <a:spAutoFit/>
          </a:bodyPr>
          <a:lstStyle/>
          <a:p>
            <a:r>
              <a:rPr sz="1300" b="1" dirty="0">
                <a:solidFill>
                  <a:srgbClr val="2E3348"/>
                </a:solidFill>
                <a:latin typeface="Calibri"/>
              </a:rPr>
              <a:t>Occlusion classifier: </a:t>
            </a:r>
            <a:r>
              <a:rPr sz="1300" dirty="0">
                <a:solidFill>
                  <a:srgbClr val="2E3348"/>
                </a:solidFill>
                <a:latin typeface="Calibri"/>
              </a:rPr>
              <a:t>VISIBLE / OCCLUDED / LOST / EXITED — decides how much to trust the motion prediction right now</a:t>
            </a:r>
          </a:p>
        </p:txBody>
      </p:sp>
      <p:sp>
        <p:nvSpPr>
          <p:cNvPr id="11" name="Rounded Rectangle 10"/>
          <p:cNvSpPr/>
          <p:nvPr/>
        </p:nvSpPr>
        <p:spPr>
          <a:xfrm>
            <a:off x="640080" y="5829300"/>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4</a:t>
            </a:r>
          </a:p>
        </p:txBody>
      </p:sp>
      <p:sp>
        <p:nvSpPr>
          <p:cNvPr id="12" name="TextBox 11"/>
          <p:cNvSpPr txBox="1"/>
          <p:nvPr/>
        </p:nvSpPr>
        <p:spPr>
          <a:xfrm>
            <a:off x="1353312" y="5486400"/>
            <a:ext cx="5321808" cy="1143000"/>
          </a:xfrm>
          <a:prstGeom prst="rect">
            <a:avLst/>
          </a:prstGeom>
          <a:noFill/>
        </p:spPr>
        <p:txBody>
          <a:bodyPr wrap="square" anchor="ctr">
            <a:spAutoFit/>
          </a:bodyPr>
          <a:lstStyle/>
          <a:p>
            <a:r>
              <a:rPr sz="1300" dirty="0">
                <a:solidFill>
                  <a:srgbClr val="2E3348"/>
                </a:solidFill>
                <a:latin typeface="Calibri"/>
              </a:rPr>
              <a:t>Confidence decays smoothly, not on a fixed countdown; anti-ghost termination retires a track before it becomes a phantom</a:t>
            </a:r>
          </a:p>
        </p:txBody>
      </p:sp>
      <p:sp>
        <p:nvSpPr>
          <p:cNvPr id="13" name="Rounded Rectangle 12"/>
          <p:cNvSpPr/>
          <p:nvPr/>
        </p:nvSpPr>
        <p:spPr>
          <a:xfrm>
            <a:off x="7680960" y="1965960"/>
            <a:ext cx="2286000" cy="658368"/>
          </a:xfrm>
          <a:prstGeom prst="roundRect">
            <a:avLst>
              <a:gd name="adj" fmla="val 18000"/>
            </a:avLst>
          </a:prstGeom>
          <a:solidFill>
            <a:srgbClr val="12173A"/>
          </a:solidFill>
          <a:ln>
            <a:noFill/>
          </a:ln>
          <a:effectLst>
            <a:outerShdw blurRad="127000" dist="38100" dir="2700000" rotWithShape="0">
              <a:srgbClr val="12173A">
                <a:alpha val="28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VISIBLE</a:t>
            </a:r>
          </a:p>
        </p:txBody>
      </p:sp>
      <p:sp>
        <p:nvSpPr>
          <p:cNvPr id="14" name="Rounded Rectangle 13"/>
          <p:cNvSpPr/>
          <p:nvPr/>
        </p:nvSpPr>
        <p:spPr>
          <a:xfrm>
            <a:off x="7680960" y="3246120"/>
            <a:ext cx="2286000" cy="658368"/>
          </a:xfrm>
          <a:prstGeom prst="roundRect">
            <a:avLst>
              <a:gd name="adj" fmla="val 18000"/>
            </a:avLst>
          </a:prstGeom>
          <a:solidFill>
            <a:srgbClr val="E0841C"/>
          </a:solidFill>
          <a:ln>
            <a:noFill/>
          </a:ln>
          <a:effectLst>
            <a:outerShdw blurRad="127000" dist="38100" dir="2700000" rotWithShape="0">
              <a:srgbClr val="12173A">
                <a:alpha val="28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OCCLUDED</a:t>
            </a:r>
          </a:p>
        </p:txBody>
      </p:sp>
      <p:sp>
        <p:nvSpPr>
          <p:cNvPr id="15" name="Rounded Rectangle 14"/>
          <p:cNvSpPr/>
          <p:nvPr/>
        </p:nvSpPr>
        <p:spPr>
          <a:xfrm>
            <a:off x="7680960" y="4526280"/>
            <a:ext cx="2286000" cy="658368"/>
          </a:xfrm>
          <a:prstGeom prst="roundRect">
            <a:avLst>
              <a:gd name="adj" fmla="val 18000"/>
            </a:avLst>
          </a:prstGeom>
          <a:solidFill>
            <a:srgbClr val="69728C"/>
          </a:solidFill>
          <a:ln>
            <a:noFill/>
          </a:ln>
          <a:effectLst>
            <a:outerShdw blurRad="127000" dist="38100" dir="2700000" rotWithShape="0">
              <a:srgbClr val="12173A">
                <a:alpha val="28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LOST / EXITED</a:t>
            </a:r>
          </a:p>
        </p:txBody>
      </p:sp>
      <p:cxnSp>
        <p:nvCxnSpPr>
          <p:cNvPr id="16" name="Connector 15"/>
          <p:cNvCxnSpPr/>
          <p:nvPr/>
        </p:nvCxnSpPr>
        <p:spPr>
          <a:xfrm>
            <a:off x="8823960" y="2624328"/>
            <a:ext cx="0" cy="621792"/>
          </a:xfrm>
          <a:prstGeom prst="line">
            <a:avLst/>
          </a:prstGeom>
          <a:ln w="25400">
            <a:solidFill>
              <a:srgbClr val="69728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823960" y="3904488"/>
            <a:ext cx="0" cy="621792"/>
          </a:xfrm>
          <a:prstGeom prst="line">
            <a:avLst/>
          </a:prstGeom>
          <a:ln w="25400">
            <a:solidFill>
              <a:srgbClr val="69728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680960" y="5349240"/>
            <a:ext cx="2286000" cy="822960"/>
          </a:xfrm>
          <a:prstGeom prst="rect">
            <a:avLst/>
          </a:prstGeom>
          <a:noFill/>
        </p:spPr>
        <p:txBody>
          <a:bodyPr wrap="square">
            <a:spAutoFit/>
          </a:bodyPr>
          <a:lstStyle/>
          <a:p>
            <a:pPr algn="ctr"/>
            <a:r>
              <a:rPr sz="1100" b="0" i="1">
                <a:solidFill>
                  <a:srgbClr val="69728C"/>
                </a:solidFill>
                <a:latin typeface="Calibri"/>
              </a:rPr>
              <a:t>reappearance → back to VISIBLE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320040"/>
          </a:xfrm>
          <a:prstGeom prst="rect">
            <a:avLst/>
          </a:prstGeom>
          <a:noFill/>
        </p:spPr>
        <p:txBody>
          <a:bodyPr wrap="square">
            <a:spAutoFit/>
          </a:bodyPr>
          <a:lstStyle/>
          <a:p>
            <a:pPr algn="l"/>
            <a:r>
              <a:rPr sz="1300" b="1" i="0">
                <a:solidFill>
                  <a:srgbClr val="FFA630"/>
                </a:solidFill>
                <a:latin typeface="Calibri"/>
              </a:rPr>
              <a:t>EVALUATION METHODOLOGY</a:t>
            </a:r>
          </a:p>
        </p:txBody>
      </p:sp>
      <p:sp>
        <p:nvSpPr>
          <p:cNvPr id="3" name="TextBox 2"/>
          <p:cNvSpPr txBox="1"/>
          <p:nvPr/>
        </p:nvSpPr>
        <p:spPr>
          <a:xfrm>
            <a:off x="640080" y="795528"/>
            <a:ext cx="10515600" cy="640080"/>
          </a:xfrm>
          <a:prstGeom prst="rect">
            <a:avLst/>
          </a:prstGeom>
          <a:noFill/>
        </p:spPr>
        <p:txBody>
          <a:bodyPr wrap="square">
            <a:spAutoFit/>
          </a:bodyPr>
          <a:lstStyle/>
          <a:p>
            <a:pPr algn="l"/>
            <a:r>
              <a:rPr sz="2300" b="1" i="0">
                <a:solidFill>
                  <a:srgbClr val="12173A"/>
                </a:solidFill>
                <a:latin typeface="Cambria"/>
              </a:rPr>
              <a:t>Ground Truth From LiDAR, Not the Camera Itself</a:t>
            </a:r>
          </a:p>
        </p:txBody>
      </p:sp>
      <p:sp>
        <p:nvSpPr>
          <p:cNvPr id="4" name="Rectangle 3"/>
          <p:cNvSpPr/>
          <p:nvPr/>
        </p:nvSpPr>
        <p:spPr>
          <a:xfrm>
            <a:off x="640080" y="1371600"/>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2034540"/>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1</a:t>
            </a:r>
          </a:p>
        </p:txBody>
      </p:sp>
      <p:sp>
        <p:nvSpPr>
          <p:cNvPr id="6" name="TextBox 5"/>
          <p:cNvSpPr txBox="1"/>
          <p:nvPr/>
        </p:nvSpPr>
        <p:spPr>
          <a:xfrm>
            <a:off x="1353313" y="1882266"/>
            <a:ext cx="5976176" cy="761747"/>
          </a:xfrm>
          <a:prstGeom prst="rect">
            <a:avLst/>
          </a:prstGeom>
          <a:noFill/>
        </p:spPr>
        <p:txBody>
          <a:bodyPr wrap="square" anchor="ctr">
            <a:spAutoFit/>
          </a:bodyPr>
          <a:lstStyle/>
          <a:p>
            <a:r>
              <a:rPr sz="1450" dirty="0">
                <a:solidFill>
                  <a:srgbClr val="2E3348"/>
                </a:solidFill>
                <a:latin typeface="Calibri"/>
              </a:rPr>
              <a:t>Use </a:t>
            </a:r>
            <a:r>
              <a:rPr sz="1450" dirty="0" err="1">
                <a:solidFill>
                  <a:srgbClr val="2E3348"/>
                </a:solidFill>
                <a:latin typeface="Calibri"/>
              </a:rPr>
              <a:t>nuScenes</a:t>
            </a:r>
            <a:r>
              <a:rPr sz="1450" dirty="0">
                <a:solidFill>
                  <a:srgbClr val="2E3348"/>
                </a:solidFill>
                <a:latin typeface="Calibri"/>
              </a:rPr>
              <a:t>' 3D box annotations + LiDAR point cloud as ground truth, projected into CAM_FRONT — never derived from the front camera's own detections</a:t>
            </a:r>
          </a:p>
        </p:txBody>
      </p:sp>
      <p:sp>
        <p:nvSpPr>
          <p:cNvPr id="7" name="Rounded Rectangle 6"/>
          <p:cNvSpPr/>
          <p:nvPr/>
        </p:nvSpPr>
        <p:spPr>
          <a:xfrm>
            <a:off x="640080" y="3086100"/>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2</a:t>
            </a:r>
          </a:p>
        </p:txBody>
      </p:sp>
      <p:sp>
        <p:nvSpPr>
          <p:cNvPr id="8" name="TextBox 7"/>
          <p:cNvSpPr txBox="1"/>
          <p:nvPr/>
        </p:nvSpPr>
        <p:spPr>
          <a:xfrm>
            <a:off x="1353312" y="3045395"/>
            <a:ext cx="5661851" cy="538609"/>
          </a:xfrm>
          <a:prstGeom prst="rect">
            <a:avLst/>
          </a:prstGeom>
          <a:noFill/>
        </p:spPr>
        <p:txBody>
          <a:bodyPr wrap="square" anchor="ctr">
            <a:spAutoFit/>
          </a:bodyPr>
          <a:lstStyle/>
          <a:p>
            <a:r>
              <a:rPr sz="1450">
                <a:solidFill>
                  <a:srgbClr val="2E3348"/>
                </a:solidFill>
                <a:latin typeface="Calibri"/>
              </a:rPr>
              <a:t>Run OATM exactly as designed: CAM_FRONT only, genuinely blind to the object during its occluded frames</a:t>
            </a:r>
          </a:p>
        </p:txBody>
      </p:sp>
      <p:sp>
        <p:nvSpPr>
          <p:cNvPr id="9" name="Rounded Rectangle 8"/>
          <p:cNvSpPr/>
          <p:nvPr/>
        </p:nvSpPr>
        <p:spPr>
          <a:xfrm>
            <a:off x="640080" y="4137660"/>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3</a:t>
            </a:r>
          </a:p>
        </p:txBody>
      </p:sp>
      <p:sp>
        <p:nvSpPr>
          <p:cNvPr id="10" name="TextBox 9"/>
          <p:cNvSpPr txBox="1"/>
          <p:nvPr/>
        </p:nvSpPr>
        <p:spPr>
          <a:xfrm>
            <a:off x="1353312" y="4096955"/>
            <a:ext cx="5661851" cy="538609"/>
          </a:xfrm>
          <a:prstGeom prst="rect">
            <a:avLst/>
          </a:prstGeom>
          <a:noFill/>
        </p:spPr>
        <p:txBody>
          <a:bodyPr wrap="square" anchor="ctr">
            <a:spAutoFit/>
          </a:bodyPr>
          <a:lstStyle/>
          <a:p>
            <a:r>
              <a:rPr sz="1450" dirty="0">
                <a:solidFill>
                  <a:srgbClr val="2E3348"/>
                </a:solidFill>
                <a:latin typeface="Calibri"/>
              </a:rPr>
              <a:t>Score OATM's predicted position during occlusion against that projected LiDAR / 3D ground truth, not against another camera-based tracker</a:t>
            </a:r>
          </a:p>
        </p:txBody>
      </p:sp>
      <p:sp>
        <p:nvSpPr>
          <p:cNvPr id="11" name="Rounded Rectangle 10"/>
          <p:cNvSpPr/>
          <p:nvPr/>
        </p:nvSpPr>
        <p:spPr>
          <a:xfrm>
            <a:off x="640080" y="5189220"/>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4</a:t>
            </a:r>
          </a:p>
        </p:txBody>
      </p:sp>
      <p:sp>
        <p:nvSpPr>
          <p:cNvPr id="12" name="TextBox 11"/>
          <p:cNvSpPr txBox="1"/>
          <p:nvPr/>
        </p:nvSpPr>
        <p:spPr>
          <a:xfrm>
            <a:off x="1353312" y="5148515"/>
            <a:ext cx="5490401" cy="538609"/>
          </a:xfrm>
          <a:prstGeom prst="rect">
            <a:avLst/>
          </a:prstGeom>
          <a:noFill/>
        </p:spPr>
        <p:txBody>
          <a:bodyPr wrap="square" anchor="ctr">
            <a:spAutoFit/>
          </a:bodyPr>
          <a:lstStyle/>
          <a:p>
            <a:r>
              <a:rPr sz="1450" dirty="0">
                <a:solidFill>
                  <a:srgbClr val="2E3348"/>
                </a:solidFill>
                <a:latin typeface="Calibri"/>
              </a:rPr>
              <a:t>This directly fixes the circularity in Evidence 3, where the reference boxes came from the same Kalman model being tested</a:t>
            </a:r>
          </a:p>
        </p:txBody>
      </p:sp>
      <p:sp>
        <p:nvSpPr>
          <p:cNvPr id="13" name="Rounded Rectangle 12"/>
          <p:cNvSpPr/>
          <p:nvPr/>
        </p:nvSpPr>
        <p:spPr>
          <a:xfrm>
            <a:off x="640080" y="5989320"/>
            <a:ext cx="10911535" cy="640080"/>
          </a:xfrm>
          <a:prstGeom prst="roundRect">
            <a:avLst>
              <a:gd name="adj" fmla="val 12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1400" b="1" i="1">
                <a:solidFill>
                  <a:srgbClr val="FFA630"/>
                </a:solidFill>
                <a:latin typeface="Calibri"/>
              </a:rPr>
              <a:t>The front camera can't see through the occlusion — but LiDAR still can. That's what makes this an independent check.</a:t>
            </a:r>
          </a:p>
        </p:txBody>
      </p:sp>
      <p:pic>
        <p:nvPicPr>
          <p:cNvPr id="15" name="Picture 14">
            <a:extLst>
              <a:ext uri="{FF2B5EF4-FFF2-40B4-BE49-F238E27FC236}">
                <a16:creationId xmlns:a16="http://schemas.microsoft.com/office/drawing/2014/main" id="{078C2393-6AC1-85B5-ACB4-3972B02DBB04}"/>
              </a:ext>
            </a:extLst>
          </p:cNvPr>
          <p:cNvPicPr>
            <a:picLocks noChangeAspect="1"/>
          </p:cNvPicPr>
          <p:nvPr/>
        </p:nvPicPr>
        <p:blipFill>
          <a:blip r:embed="rId3"/>
          <a:stretch>
            <a:fillRect/>
          </a:stretch>
        </p:blipFill>
        <p:spPr>
          <a:xfrm>
            <a:off x="7329489" y="1435608"/>
            <a:ext cx="4458080" cy="406324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320040"/>
          </a:xfrm>
          <a:prstGeom prst="rect">
            <a:avLst/>
          </a:prstGeom>
          <a:noFill/>
        </p:spPr>
        <p:txBody>
          <a:bodyPr wrap="square">
            <a:spAutoFit/>
          </a:bodyPr>
          <a:lstStyle/>
          <a:p>
            <a:pPr algn="l"/>
            <a:r>
              <a:rPr sz="1300" b="1" i="0">
                <a:solidFill>
                  <a:srgbClr val="FFA630"/>
                </a:solidFill>
                <a:latin typeface="Calibri"/>
              </a:rPr>
              <a:t>HOW OATM COMPARES</a:t>
            </a:r>
          </a:p>
        </p:txBody>
      </p:sp>
      <p:sp>
        <p:nvSpPr>
          <p:cNvPr id="3" name="TextBox 2"/>
          <p:cNvSpPr txBox="1"/>
          <p:nvPr/>
        </p:nvSpPr>
        <p:spPr>
          <a:xfrm>
            <a:off x="640080" y="795528"/>
            <a:ext cx="8229600" cy="548640"/>
          </a:xfrm>
          <a:prstGeom prst="rect">
            <a:avLst/>
          </a:prstGeom>
          <a:noFill/>
        </p:spPr>
        <p:txBody>
          <a:bodyPr wrap="square">
            <a:spAutoFit/>
          </a:bodyPr>
          <a:lstStyle/>
          <a:p>
            <a:pPr algn="l"/>
            <a:r>
              <a:rPr sz="2400" b="1" i="0">
                <a:solidFill>
                  <a:srgbClr val="12173A"/>
                </a:solidFill>
                <a:latin typeface="Cambria"/>
              </a:rPr>
              <a:t>A Design Comparison</a:t>
            </a:r>
          </a:p>
        </p:txBody>
      </p:sp>
      <p:sp>
        <p:nvSpPr>
          <p:cNvPr id="4" name="Rectangle 3"/>
          <p:cNvSpPr/>
          <p:nvPr/>
        </p:nvSpPr>
        <p:spPr>
          <a:xfrm>
            <a:off x="640080" y="1371600"/>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3040"/>
            <a:ext cx="10911535" cy="365760"/>
          </a:xfrm>
          <a:prstGeom prst="rect">
            <a:avLst/>
          </a:prstGeom>
          <a:noFill/>
        </p:spPr>
        <p:txBody>
          <a:bodyPr wrap="square">
            <a:spAutoFit/>
          </a:bodyPr>
          <a:lstStyle/>
          <a:p>
            <a:pPr algn="l"/>
            <a:r>
              <a:rPr sz="1300" b="0" i="1">
                <a:solidFill>
                  <a:srgbClr val="69728C"/>
                </a:solidFill>
                <a:latin typeface="Calibri"/>
              </a:rPr>
              <a:t>OATM has not been implemented or measured yet — this is a design-level comparison.</a:t>
            </a:r>
          </a:p>
        </p:txBody>
      </p:sp>
      <p:sp>
        <p:nvSpPr>
          <p:cNvPr id="6" name="Rounded Rectangle 5"/>
          <p:cNvSpPr/>
          <p:nvPr/>
        </p:nvSpPr>
        <p:spPr>
          <a:xfrm>
            <a:off x="530352" y="1856232"/>
            <a:ext cx="11130991" cy="4379976"/>
          </a:xfrm>
          <a:prstGeom prst="roundRect">
            <a:avLst>
              <a:gd name="adj" fmla="val 3000"/>
            </a:avLst>
          </a:prstGeom>
          <a:solidFill>
            <a:srgbClr val="FFFFFF"/>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extLst>
              <p:ext uri="{D42A27DB-BD31-4B8C-83A1-F6EECF244321}">
                <p14:modId xmlns:p14="http://schemas.microsoft.com/office/powerpoint/2010/main" val="1527896998"/>
              </p:ext>
            </p:extLst>
          </p:nvPr>
        </p:nvGraphicFramePr>
        <p:xfrm>
          <a:off x="640080" y="1965960"/>
          <a:ext cx="10908792" cy="416052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3410712">
                  <a:extLst>
                    <a:ext uri="{9D8B030D-6E8A-4147-A177-3AD203B41FA5}">
                      <a16:colId xmlns:a16="http://schemas.microsoft.com/office/drawing/2014/main" val="20002"/>
                    </a:ext>
                  </a:extLst>
                </a:gridCol>
              </a:tblGrid>
              <a:tr h="693420">
                <a:tc>
                  <a:txBody>
                    <a:bodyPr/>
                    <a:lstStyle/>
                    <a:p>
                      <a:r>
                        <a:rPr sz="1350" b="1">
                          <a:solidFill>
                            <a:srgbClr val="FFFFFF"/>
                          </a:solidFill>
                          <a:latin typeface="Calibri"/>
                        </a:rPr>
                        <a:t>Method</a:t>
                      </a:r>
                    </a:p>
                  </a:txBody>
                  <a:tcPr marL="164592" marR="137160" anchor="ctr">
                    <a:solidFill>
                      <a:srgbClr val="12173A"/>
                    </a:solidFill>
                  </a:tcPr>
                </a:tc>
                <a:tc>
                  <a:txBody>
                    <a:bodyPr/>
                    <a:lstStyle/>
                    <a:p>
                      <a:r>
                        <a:rPr sz="1350" b="1">
                          <a:solidFill>
                            <a:srgbClr val="FFFFFF"/>
                          </a:solidFill>
                          <a:latin typeface="Calibri"/>
                        </a:rPr>
                        <a:t>How it works</a:t>
                      </a:r>
                    </a:p>
                  </a:txBody>
                  <a:tcPr marL="164592" marR="137160" anchor="ctr">
                    <a:solidFill>
                      <a:srgbClr val="12173A"/>
                    </a:solidFill>
                  </a:tcPr>
                </a:tc>
                <a:tc>
                  <a:txBody>
                    <a:bodyPr/>
                    <a:lstStyle/>
                    <a:p>
                      <a:r>
                        <a:rPr sz="1350" b="1">
                          <a:solidFill>
                            <a:srgbClr val="FFFFFF"/>
                          </a:solidFill>
                          <a:latin typeface="Calibri"/>
                        </a:rPr>
                        <a:t>Main weakness</a:t>
                      </a:r>
                    </a:p>
                  </a:txBody>
                  <a:tcPr marL="164592" marR="137160" anchor="ctr">
                    <a:solidFill>
                      <a:srgbClr val="12173A"/>
                    </a:solidFill>
                  </a:tcPr>
                </a:tc>
                <a:extLst>
                  <a:ext uri="{0D108BD9-81ED-4DB2-BD59-A6C34878D82A}">
                    <a16:rowId xmlns:a16="http://schemas.microsoft.com/office/drawing/2014/main" val="10000"/>
                  </a:ext>
                </a:extLst>
              </a:tr>
              <a:tr h="693420">
                <a:tc>
                  <a:txBody>
                    <a:bodyPr/>
                    <a:lstStyle/>
                    <a:p>
                      <a:r>
                        <a:rPr sz="1250">
                          <a:solidFill>
                            <a:srgbClr val="2E3348"/>
                          </a:solidFill>
                          <a:latin typeface="Calibri"/>
                        </a:rPr>
                        <a:t>Single-frame detection</a:t>
                      </a:r>
                    </a:p>
                  </a:txBody>
                  <a:tcPr marL="164592" marR="137160" anchor="ctr">
                    <a:solidFill>
                      <a:srgbClr val="FFFFFF"/>
                    </a:solidFill>
                  </a:tcPr>
                </a:tc>
                <a:tc>
                  <a:txBody>
                    <a:bodyPr/>
                    <a:lstStyle/>
                    <a:p>
                      <a:r>
                        <a:rPr sz="1250">
                          <a:solidFill>
                            <a:srgbClr val="2E3348"/>
                          </a:solidFill>
                          <a:latin typeface="Calibri"/>
                        </a:rPr>
                        <a:t>Looks only at the current image</a:t>
                      </a:r>
                    </a:p>
                  </a:txBody>
                  <a:tcPr marL="164592" marR="137160" anchor="ctr">
                    <a:solidFill>
                      <a:srgbClr val="FFFFFF"/>
                    </a:solidFill>
                  </a:tcPr>
                </a:tc>
                <a:tc>
                  <a:txBody>
                    <a:bodyPr/>
                    <a:lstStyle/>
                    <a:p>
                      <a:r>
                        <a:rPr sz="1250">
                          <a:solidFill>
                            <a:srgbClr val="2E3348"/>
                          </a:solidFill>
                          <a:latin typeface="Calibri"/>
                        </a:rPr>
                        <a:t>Hidden object instantly disappears</a:t>
                      </a:r>
                    </a:p>
                  </a:txBody>
                  <a:tcPr marL="164592" marR="137160" anchor="ctr">
                    <a:solidFill>
                      <a:srgbClr val="FFFFFF"/>
                    </a:solidFill>
                  </a:tcPr>
                </a:tc>
                <a:extLst>
                  <a:ext uri="{0D108BD9-81ED-4DB2-BD59-A6C34878D82A}">
                    <a16:rowId xmlns:a16="http://schemas.microsoft.com/office/drawing/2014/main" val="10001"/>
                  </a:ext>
                </a:extLst>
              </a:tr>
              <a:tr h="693420">
                <a:tc>
                  <a:txBody>
                    <a:bodyPr/>
                    <a:lstStyle/>
                    <a:p>
                      <a:r>
                        <a:rPr sz="1250">
                          <a:solidFill>
                            <a:srgbClr val="2E3348"/>
                          </a:solidFill>
                          <a:latin typeface="Calibri"/>
                        </a:rPr>
                        <a:t>SORT</a:t>
                      </a:r>
                    </a:p>
                  </a:txBody>
                  <a:tcPr marL="164592" marR="137160" anchor="ctr">
                    <a:solidFill>
                      <a:srgbClr val="F3F5FA"/>
                    </a:solidFill>
                  </a:tcPr>
                </a:tc>
                <a:tc>
                  <a:txBody>
                    <a:bodyPr/>
                    <a:lstStyle/>
                    <a:p>
                      <a:r>
                        <a:rPr sz="1250" dirty="0">
                          <a:solidFill>
                            <a:srgbClr val="2E3348"/>
                          </a:solidFill>
                          <a:latin typeface="Calibri"/>
                        </a:rPr>
                        <a:t>Predicts motion — measured 46</a:t>
                      </a:r>
                      <a:r>
                        <a:rPr lang="en-GB" sz="1250" dirty="0">
                          <a:solidFill>
                            <a:srgbClr val="2E3348"/>
                          </a:solidFill>
                          <a:latin typeface="Calibri"/>
                        </a:rPr>
                        <a:t> </a:t>
                      </a:r>
                      <a:r>
                        <a:rPr sz="1250" dirty="0">
                          <a:solidFill>
                            <a:srgbClr val="2E3348"/>
                          </a:solidFill>
                          <a:latin typeface="Calibri"/>
                        </a:rPr>
                        <a:t>→</a:t>
                      </a:r>
                      <a:r>
                        <a:rPr lang="en-GB" sz="1250" dirty="0">
                          <a:solidFill>
                            <a:srgbClr val="2E3348"/>
                          </a:solidFill>
                          <a:latin typeface="Calibri"/>
                        </a:rPr>
                        <a:t> </a:t>
                      </a:r>
                      <a:r>
                        <a:rPr sz="1250" dirty="0">
                          <a:solidFill>
                            <a:srgbClr val="2E3348"/>
                          </a:solidFill>
                          <a:latin typeface="Calibri"/>
                        </a:rPr>
                        <a:t>17px error on 9 tracks</a:t>
                      </a:r>
                    </a:p>
                  </a:txBody>
                  <a:tcPr marL="164592" marR="137160" anchor="ctr">
                    <a:solidFill>
                      <a:srgbClr val="F3F5FA"/>
                    </a:solidFill>
                  </a:tcPr>
                </a:tc>
                <a:tc>
                  <a:txBody>
                    <a:bodyPr/>
                    <a:lstStyle/>
                    <a:p>
                      <a:r>
                        <a:rPr sz="1250">
                          <a:solidFill>
                            <a:srgbClr val="2E3348"/>
                          </a:solidFill>
                          <a:latin typeface="Calibri"/>
                        </a:rPr>
                        <a:t>Tiny sample; reference partly circular; expiry bypassed</a:t>
                      </a:r>
                    </a:p>
                  </a:txBody>
                  <a:tcPr marL="164592" marR="137160" anchor="ctr">
                    <a:solidFill>
                      <a:srgbClr val="F3F5FA"/>
                    </a:solidFill>
                  </a:tcPr>
                </a:tc>
                <a:extLst>
                  <a:ext uri="{0D108BD9-81ED-4DB2-BD59-A6C34878D82A}">
                    <a16:rowId xmlns:a16="http://schemas.microsoft.com/office/drawing/2014/main" val="10002"/>
                  </a:ext>
                </a:extLst>
              </a:tr>
              <a:tr h="693420">
                <a:tc>
                  <a:txBody>
                    <a:bodyPr/>
                    <a:lstStyle/>
                    <a:p>
                      <a:r>
                        <a:rPr sz="1250">
                          <a:solidFill>
                            <a:srgbClr val="2E3348"/>
                          </a:solidFill>
                          <a:latin typeface="Calibri"/>
                        </a:rPr>
                        <a:t>ByteTrack</a:t>
                      </a:r>
                    </a:p>
                  </a:txBody>
                  <a:tcPr marL="164592" marR="137160" anchor="ctr">
                    <a:solidFill>
                      <a:srgbClr val="FFFFFF"/>
                    </a:solidFill>
                  </a:tcPr>
                </a:tc>
                <a:tc>
                  <a:txBody>
                    <a:bodyPr/>
                    <a:lstStyle/>
                    <a:p>
                      <a:r>
                        <a:rPr sz="1250">
                          <a:solidFill>
                            <a:srgbClr val="2E3348"/>
                          </a:solidFill>
                          <a:latin typeface="Calibri"/>
                        </a:rPr>
                        <a:t>Links strong and weak detections</a:t>
                      </a:r>
                    </a:p>
                  </a:txBody>
                  <a:tcPr marL="164592" marR="137160" anchor="ctr">
                    <a:solidFill>
                      <a:srgbClr val="FFFFFF"/>
                    </a:solidFill>
                  </a:tcPr>
                </a:tc>
                <a:tc>
                  <a:txBody>
                    <a:bodyPr/>
                    <a:lstStyle/>
                    <a:p>
                      <a:r>
                        <a:rPr sz="1250">
                          <a:solidFill>
                            <a:srgbClr val="2E3348"/>
                          </a:solidFill>
                          <a:latin typeface="Calibri"/>
                        </a:rPr>
                        <a:t>Still needs some visible evidence</a:t>
                      </a:r>
                    </a:p>
                  </a:txBody>
                  <a:tcPr marL="164592" marR="137160" anchor="ctr">
                    <a:solidFill>
                      <a:srgbClr val="FFFFFF"/>
                    </a:solidFill>
                  </a:tcPr>
                </a:tc>
                <a:extLst>
                  <a:ext uri="{0D108BD9-81ED-4DB2-BD59-A6C34878D82A}">
                    <a16:rowId xmlns:a16="http://schemas.microsoft.com/office/drawing/2014/main" val="10003"/>
                  </a:ext>
                </a:extLst>
              </a:tr>
              <a:tr h="693420">
                <a:tc>
                  <a:txBody>
                    <a:bodyPr/>
                    <a:lstStyle/>
                    <a:p>
                      <a:r>
                        <a:rPr sz="1250">
                          <a:solidFill>
                            <a:srgbClr val="2E3348"/>
                          </a:solidFill>
                          <a:latin typeface="Calibri"/>
                        </a:rPr>
                        <a:t>Fixed temporal memory</a:t>
                      </a:r>
                    </a:p>
                  </a:txBody>
                  <a:tcPr marL="164592" marR="137160" anchor="ctr">
                    <a:solidFill>
                      <a:srgbClr val="F3F5FA"/>
                    </a:solidFill>
                  </a:tcPr>
                </a:tc>
                <a:tc>
                  <a:txBody>
                    <a:bodyPr/>
                    <a:lstStyle/>
                    <a:p>
                      <a:r>
                        <a:rPr sz="1250">
                          <a:solidFill>
                            <a:srgbClr val="2E3348"/>
                          </a:solidFill>
                          <a:latin typeface="Calibri"/>
                        </a:rPr>
                        <a:t>Keeps missing objects for N frames</a:t>
                      </a:r>
                    </a:p>
                  </a:txBody>
                  <a:tcPr marL="164592" marR="137160" anchor="ctr">
                    <a:solidFill>
                      <a:srgbClr val="F3F5FA"/>
                    </a:solidFill>
                  </a:tcPr>
                </a:tc>
                <a:tc>
                  <a:txBody>
                    <a:bodyPr/>
                    <a:lstStyle/>
                    <a:p>
                      <a:r>
                        <a:rPr sz="1250">
                          <a:solidFill>
                            <a:srgbClr val="2E3348"/>
                          </a:solidFill>
                          <a:latin typeface="Calibri"/>
                        </a:rPr>
                        <a:t>May forget early or keep ghosts too long</a:t>
                      </a:r>
                    </a:p>
                  </a:txBody>
                  <a:tcPr marL="164592" marR="137160" anchor="ctr">
                    <a:solidFill>
                      <a:srgbClr val="F3F5FA"/>
                    </a:solidFill>
                  </a:tcPr>
                </a:tc>
                <a:extLst>
                  <a:ext uri="{0D108BD9-81ED-4DB2-BD59-A6C34878D82A}">
                    <a16:rowId xmlns:a16="http://schemas.microsoft.com/office/drawing/2014/main" val="10004"/>
                  </a:ext>
                </a:extLst>
              </a:tr>
              <a:tr h="693420">
                <a:tc>
                  <a:txBody>
                    <a:bodyPr/>
                    <a:lstStyle/>
                    <a:p>
                      <a:r>
                        <a:rPr sz="1250" b="1">
                          <a:solidFill>
                            <a:srgbClr val="12173A"/>
                          </a:solidFill>
                          <a:latin typeface="Calibri"/>
                        </a:rPr>
                        <a:t>OATM (proposed)</a:t>
                      </a:r>
                    </a:p>
                  </a:txBody>
                  <a:tcPr marL="164592" marR="137160" anchor="ctr">
                    <a:solidFill>
                      <a:srgbClr val="FFF3E0"/>
                    </a:solidFill>
                  </a:tcPr>
                </a:tc>
                <a:tc>
                  <a:txBody>
                    <a:bodyPr/>
                    <a:lstStyle/>
                    <a:p>
                      <a:r>
                        <a:rPr sz="1250" b="1">
                          <a:solidFill>
                            <a:srgbClr val="12173A"/>
                          </a:solidFill>
                          <a:latin typeface="Calibri"/>
                        </a:rPr>
                        <a:t>Appearance + motion + occlusion-aware decay</a:t>
                      </a:r>
                    </a:p>
                  </a:txBody>
                  <a:tcPr marL="164592" marR="137160" anchor="ctr">
                    <a:solidFill>
                      <a:srgbClr val="FFF3E0"/>
                    </a:solidFill>
                  </a:tcPr>
                </a:tc>
                <a:tc>
                  <a:txBody>
                    <a:bodyPr/>
                    <a:lstStyle/>
                    <a:p>
                      <a:r>
                        <a:rPr sz="1250" b="1" dirty="0">
                          <a:solidFill>
                            <a:srgbClr val="12173A"/>
                          </a:solidFill>
                          <a:latin typeface="Calibri"/>
                        </a:rPr>
                        <a:t>More complex; needs careful tuning</a:t>
                      </a:r>
                    </a:p>
                  </a:txBody>
                  <a:tcPr marL="164592" marR="137160" anchor="ctr">
                    <a:solidFill>
                      <a:srgbClr val="FFF3E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64048D-B652-7091-DEF9-B02AFB4C9715}"/>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719960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p:cNvGrpSpPr/>
        <p:nvPr/>
      </p:nvGrpSpPr>
      <p:grpSpPr>
        <a:xfrm>
          <a:off x="0" y="0"/>
          <a:ext cx="0" cy="0"/>
          <a:chOff x="0" y="0"/>
          <a:chExt cx="0" cy="0"/>
        </a:xfrm>
      </p:grpSpPr>
      <p:sp>
        <p:nvSpPr>
          <p:cNvPr id="2" name="TextBox 1"/>
          <p:cNvSpPr txBox="1"/>
          <p:nvPr/>
        </p:nvSpPr>
        <p:spPr>
          <a:xfrm>
            <a:off x="0" y="594360"/>
            <a:ext cx="12191695" cy="320040"/>
          </a:xfrm>
          <a:prstGeom prst="rect">
            <a:avLst/>
          </a:prstGeom>
          <a:noFill/>
        </p:spPr>
        <p:txBody>
          <a:bodyPr wrap="square">
            <a:spAutoFit/>
          </a:bodyPr>
          <a:lstStyle/>
          <a:p>
            <a:pPr algn="ctr"/>
            <a:r>
              <a:rPr sz="1300" b="1" i="0">
                <a:solidFill>
                  <a:srgbClr val="FFA630"/>
                </a:solidFill>
                <a:latin typeface="Calibri"/>
              </a:rPr>
              <a:t>ROADMAP</a:t>
            </a:r>
          </a:p>
        </p:txBody>
      </p:sp>
      <p:sp>
        <p:nvSpPr>
          <p:cNvPr id="3" name="TextBox 2"/>
          <p:cNvSpPr txBox="1"/>
          <p:nvPr/>
        </p:nvSpPr>
        <p:spPr>
          <a:xfrm>
            <a:off x="914400" y="914400"/>
            <a:ext cx="10360152" cy="731520"/>
          </a:xfrm>
          <a:prstGeom prst="rect">
            <a:avLst/>
          </a:prstGeom>
          <a:noFill/>
        </p:spPr>
        <p:txBody>
          <a:bodyPr wrap="square">
            <a:spAutoFit/>
          </a:bodyPr>
          <a:lstStyle/>
          <a:p>
            <a:pPr algn="ctr"/>
            <a:r>
              <a:rPr sz="3000" b="1" i="0">
                <a:solidFill>
                  <a:srgbClr val="FFFFFF"/>
                </a:solidFill>
                <a:latin typeface="Cambria"/>
              </a:rPr>
              <a:t>Proving It</a:t>
            </a:r>
          </a:p>
        </p:txBody>
      </p:sp>
      <p:sp>
        <p:nvSpPr>
          <p:cNvPr id="4" name="Rounded Rectangle 3"/>
          <p:cNvSpPr/>
          <p:nvPr/>
        </p:nvSpPr>
        <p:spPr>
          <a:xfrm>
            <a:off x="1645920" y="1865376"/>
            <a:ext cx="457200" cy="457200"/>
          </a:xfrm>
          <a:prstGeom prst="roundRect">
            <a:avLst>
              <a:gd name="adj" fmla="val 30000"/>
            </a:avLst>
          </a:prstGeom>
          <a:solidFill>
            <a:srgbClr val="E0841C"/>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12173A"/>
                </a:solidFill>
                <a:latin typeface="Calibri"/>
              </a:rPr>
              <a:t>1</a:t>
            </a:r>
          </a:p>
        </p:txBody>
      </p:sp>
      <p:sp>
        <p:nvSpPr>
          <p:cNvPr id="5" name="TextBox 4"/>
          <p:cNvSpPr txBox="1"/>
          <p:nvPr/>
        </p:nvSpPr>
        <p:spPr>
          <a:xfrm>
            <a:off x="2359152" y="1737360"/>
            <a:ext cx="8156448" cy="713232"/>
          </a:xfrm>
          <a:prstGeom prst="rect">
            <a:avLst/>
          </a:prstGeom>
          <a:noFill/>
        </p:spPr>
        <p:txBody>
          <a:bodyPr wrap="square" anchor="ctr">
            <a:spAutoFit/>
          </a:bodyPr>
          <a:lstStyle/>
          <a:p>
            <a:r>
              <a:rPr sz="1400">
                <a:solidFill>
                  <a:srgbClr val="FFFFFF"/>
                </a:solidFill>
                <a:latin typeface="Calibri"/>
              </a:rPr>
              <a:t>Build natural + controlled occlusion test sets from nuScenes</a:t>
            </a:r>
          </a:p>
        </p:txBody>
      </p:sp>
      <p:sp>
        <p:nvSpPr>
          <p:cNvPr id="6" name="Rounded Rectangle 5"/>
          <p:cNvSpPr/>
          <p:nvPr/>
        </p:nvSpPr>
        <p:spPr>
          <a:xfrm>
            <a:off x="1645920" y="2651760"/>
            <a:ext cx="457200" cy="457200"/>
          </a:xfrm>
          <a:prstGeom prst="roundRect">
            <a:avLst>
              <a:gd name="adj" fmla="val 30000"/>
            </a:avLst>
          </a:prstGeom>
          <a:solidFill>
            <a:srgbClr val="E0841C"/>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12173A"/>
                </a:solidFill>
                <a:latin typeface="Calibri"/>
              </a:rPr>
              <a:t>2</a:t>
            </a:r>
          </a:p>
        </p:txBody>
      </p:sp>
      <p:sp>
        <p:nvSpPr>
          <p:cNvPr id="7" name="TextBox 6"/>
          <p:cNvSpPr txBox="1"/>
          <p:nvPr/>
        </p:nvSpPr>
        <p:spPr>
          <a:xfrm>
            <a:off x="2359152" y="2523744"/>
            <a:ext cx="8156448" cy="713232"/>
          </a:xfrm>
          <a:prstGeom prst="rect">
            <a:avLst/>
          </a:prstGeom>
          <a:noFill/>
        </p:spPr>
        <p:txBody>
          <a:bodyPr wrap="square" anchor="ctr">
            <a:spAutoFit/>
          </a:bodyPr>
          <a:lstStyle/>
          <a:p>
            <a:r>
              <a:rPr sz="1400">
                <a:solidFill>
                  <a:srgbClr val="FFFFFF"/>
                </a:solidFill>
                <a:latin typeface="Calibri"/>
              </a:rPr>
              <a:t>Fix SORT's circular reference and disabled track-expiry, add ByteTrack, then benchmark all 5 against OATM</a:t>
            </a:r>
          </a:p>
        </p:txBody>
      </p:sp>
      <p:sp>
        <p:nvSpPr>
          <p:cNvPr id="8" name="Rounded Rectangle 7"/>
          <p:cNvSpPr/>
          <p:nvPr/>
        </p:nvSpPr>
        <p:spPr>
          <a:xfrm>
            <a:off x="1645920" y="3438144"/>
            <a:ext cx="457200" cy="457200"/>
          </a:xfrm>
          <a:prstGeom prst="roundRect">
            <a:avLst>
              <a:gd name="adj" fmla="val 30000"/>
            </a:avLst>
          </a:prstGeom>
          <a:solidFill>
            <a:srgbClr val="E0841C"/>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12173A"/>
                </a:solidFill>
                <a:latin typeface="Calibri"/>
              </a:rPr>
              <a:t>3</a:t>
            </a:r>
          </a:p>
        </p:txBody>
      </p:sp>
      <p:sp>
        <p:nvSpPr>
          <p:cNvPr id="9" name="TextBox 8"/>
          <p:cNvSpPr txBox="1"/>
          <p:nvPr/>
        </p:nvSpPr>
        <p:spPr>
          <a:xfrm>
            <a:off x="2359152" y="3310128"/>
            <a:ext cx="8156448" cy="713232"/>
          </a:xfrm>
          <a:prstGeom prst="rect">
            <a:avLst/>
          </a:prstGeom>
          <a:noFill/>
        </p:spPr>
        <p:txBody>
          <a:bodyPr wrap="square" anchor="ctr">
            <a:spAutoFit/>
          </a:bodyPr>
          <a:lstStyle/>
          <a:p>
            <a:r>
              <a:rPr sz="1400">
                <a:solidFill>
                  <a:srgbClr val="FFFFFF"/>
                </a:solidFill>
                <a:latin typeface="Calibri"/>
              </a:rPr>
              <a:t>Metrics: occluded-object recall, identity preservation, ghost-track rate, recovery time</a:t>
            </a:r>
          </a:p>
        </p:txBody>
      </p:sp>
      <p:sp>
        <p:nvSpPr>
          <p:cNvPr id="10" name="Rounded Rectangle 9"/>
          <p:cNvSpPr/>
          <p:nvPr/>
        </p:nvSpPr>
        <p:spPr>
          <a:xfrm>
            <a:off x="1645920" y="4224528"/>
            <a:ext cx="457200" cy="457200"/>
          </a:xfrm>
          <a:prstGeom prst="roundRect">
            <a:avLst>
              <a:gd name="adj" fmla="val 30000"/>
            </a:avLst>
          </a:prstGeom>
          <a:solidFill>
            <a:srgbClr val="E0841C"/>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12173A"/>
                </a:solidFill>
                <a:latin typeface="Calibri"/>
              </a:rPr>
              <a:t>4</a:t>
            </a:r>
          </a:p>
        </p:txBody>
      </p:sp>
      <p:sp>
        <p:nvSpPr>
          <p:cNvPr id="11" name="TextBox 10"/>
          <p:cNvSpPr txBox="1"/>
          <p:nvPr/>
        </p:nvSpPr>
        <p:spPr>
          <a:xfrm>
            <a:off x="2359152" y="4096512"/>
            <a:ext cx="8156448" cy="713232"/>
          </a:xfrm>
          <a:prstGeom prst="rect">
            <a:avLst/>
          </a:prstGeom>
          <a:noFill/>
        </p:spPr>
        <p:txBody>
          <a:bodyPr wrap="square" anchor="ctr">
            <a:spAutoFit/>
          </a:bodyPr>
          <a:lstStyle/>
          <a:p>
            <a:r>
              <a:rPr sz="1400">
                <a:solidFill>
                  <a:srgbClr val="FFFFFF"/>
                </a:solidFill>
                <a:latin typeface="Calibri"/>
              </a:rPr>
              <a:t>Split train / validation / test by scene, not by frame, to avoid leakage</a:t>
            </a:r>
          </a:p>
        </p:txBody>
      </p:sp>
      <p:sp>
        <p:nvSpPr>
          <p:cNvPr id="12" name="Rounded Rectangle 11"/>
          <p:cNvSpPr/>
          <p:nvPr/>
        </p:nvSpPr>
        <p:spPr>
          <a:xfrm>
            <a:off x="1645920" y="5010912"/>
            <a:ext cx="457200" cy="457200"/>
          </a:xfrm>
          <a:prstGeom prst="roundRect">
            <a:avLst>
              <a:gd name="adj" fmla="val 30000"/>
            </a:avLst>
          </a:prstGeom>
          <a:solidFill>
            <a:srgbClr val="E0841C"/>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12173A"/>
                </a:solidFill>
                <a:latin typeface="Calibri"/>
              </a:rPr>
              <a:t>5</a:t>
            </a:r>
          </a:p>
        </p:txBody>
      </p:sp>
      <p:sp>
        <p:nvSpPr>
          <p:cNvPr id="13" name="TextBox 12"/>
          <p:cNvSpPr txBox="1"/>
          <p:nvPr/>
        </p:nvSpPr>
        <p:spPr>
          <a:xfrm>
            <a:off x="2359152" y="4882896"/>
            <a:ext cx="8156448" cy="713232"/>
          </a:xfrm>
          <a:prstGeom prst="rect">
            <a:avLst/>
          </a:prstGeom>
          <a:noFill/>
        </p:spPr>
        <p:txBody>
          <a:bodyPr wrap="square" anchor="ctr">
            <a:spAutoFit/>
          </a:bodyPr>
          <a:lstStyle/>
          <a:p>
            <a:r>
              <a:rPr sz="1400">
                <a:solidFill>
                  <a:srgbClr val="FFFFFF"/>
                </a:solidFill>
                <a:latin typeface="Calibri"/>
              </a:rPr>
              <a:t>Expand from vehicle-only tracking to pedestrians and other vulnerable road users</a:t>
            </a:r>
          </a:p>
        </p:txBody>
      </p:sp>
      <p:sp>
        <p:nvSpPr>
          <p:cNvPr id="14" name="Rectangle 13"/>
          <p:cNvSpPr/>
          <p:nvPr/>
        </p:nvSpPr>
        <p:spPr>
          <a:xfrm>
            <a:off x="4270248" y="5806440"/>
            <a:ext cx="3657600" cy="19050"/>
          </a:xfrm>
          <a:prstGeom prst="rect">
            <a:avLst/>
          </a:prstGeom>
          <a:solidFill>
            <a:srgbClr val="FFA63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640080" y="868680"/>
            <a:ext cx="10881360" cy="492443"/>
          </a:xfrm>
          <a:prstGeom prst="rect">
            <a:avLst/>
          </a:prstGeom>
          <a:noFill/>
        </p:spPr>
        <p:txBody>
          <a:bodyPr wrap="square">
            <a:spAutoFit/>
          </a:bodyPr>
          <a:lstStyle/>
          <a:p>
            <a:pPr algn="l"/>
            <a:r>
              <a:rPr lang="en-GB" sz="2600" b="1" dirty="0">
                <a:solidFill>
                  <a:srgbClr val="12173A"/>
                </a:solidFill>
                <a:latin typeface="Cambria"/>
              </a:rPr>
              <a:t>References</a:t>
            </a:r>
            <a:endParaRPr sz="2600" b="1" i="0" dirty="0">
              <a:solidFill>
                <a:srgbClr val="12173A"/>
              </a:solidFill>
              <a:latin typeface="Cambria"/>
            </a:endParaRPr>
          </a:p>
        </p:txBody>
      </p:sp>
      <p:sp>
        <p:nvSpPr>
          <p:cNvPr id="4" name="Rectangle 3"/>
          <p:cNvSpPr/>
          <p:nvPr/>
        </p:nvSpPr>
        <p:spPr>
          <a:xfrm>
            <a:off x="640080" y="148132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783080"/>
            <a:ext cx="10911535" cy="621792"/>
          </a:xfrm>
          <a:prstGeom prst="rect">
            <a:avLst/>
          </a:prstGeom>
          <a:noFill/>
        </p:spPr>
        <p:txBody>
          <a:bodyPr wrap="square">
            <a:spAutoFit/>
          </a:bodyPr>
          <a:lstStyle/>
          <a:p>
            <a:r>
              <a:rPr sz="1150">
                <a:solidFill>
                  <a:srgbClr val="2E3348"/>
                </a:solidFill>
                <a:latin typeface="Calibri"/>
              </a:rPr>
              <a:t>Ma, J., Yang, J., Fu, F., Hao, D., &amp; Wang, R. (2026). </a:t>
            </a:r>
            <a:r>
              <a:rPr sz="1150" i="1">
                <a:solidFill>
                  <a:srgbClr val="12173A"/>
                </a:solidFill>
                <a:latin typeface="Calibri"/>
              </a:rPr>
              <a:t>Occlusion-aware multi-camera 3D multi-object tracking with dual-appearance dynamic association. </a:t>
            </a:r>
            <a:r>
              <a:rPr sz="1150">
                <a:solidFill>
                  <a:srgbClr val="69728C"/>
                </a:solidFill>
                <a:latin typeface="Calibri"/>
              </a:rPr>
              <a:t>Applied Soft Computing.</a:t>
            </a:r>
          </a:p>
        </p:txBody>
      </p:sp>
      <p:sp>
        <p:nvSpPr>
          <p:cNvPr id="6" name="TextBox 5"/>
          <p:cNvSpPr txBox="1"/>
          <p:nvPr/>
        </p:nvSpPr>
        <p:spPr>
          <a:xfrm>
            <a:off x="640080" y="2404872"/>
            <a:ext cx="10911535" cy="621792"/>
          </a:xfrm>
          <a:prstGeom prst="rect">
            <a:avLst/>
          </a:prstGeom>
          <a:noFill/>
        </p:spPr>
        <p:txBody>
          <a:bodyPr wrap="square">
            <a:spAutoFit/>
          </a:bodyPr>
          <a:lstStyle/>
          <a:p>
            <a:r>
              <a:rPr sz="1150">
                <a:solidFill>
                  <a:srgbClr val="2E3348"/>
                </a:solidFill>
                <a:latin typeface="Calibri"/>
              </a:rPr>
              <a:t>Pang, Z., Li, J., Tokmakov, P., Chen, D., Zagoruyko, S., &amp; Wang, Y.-X. (2023). </a:t>
            </a:r>
            <a:r>
              <a:rPr sz="1150" i="1">
                <a:solidFill>
                  <a:srgbClr val="12173A"/>
                </a:solidFill>
                <a:latin typeface="Calibri"/>
              </a:rPr>
              <a:t>Standing Between Past and Future: Spatio-Temporal Modeling for Multi-Camera 3D Multi-Object Tracking. </a:t>
            </a:r>
            <a:r>
              <a:rPr sz="1150">
                <a:solidFill>
                  <a:srgbClr val="69728C"/>
                </a:solidFill>
                <a:latin typeface="Calibri"/>
              </a:rPr>
              <a:t>CVPR 2023. arXiv:2302.03802.</a:t>
            </a:r>
          </a:p>
        </p:txBody>
      </p:sp>
      <p:sp>
        <p:nvSpPr>
          <p:cNvPr id="7" name="TextBox 6"/>
          <p:cNvSpPr txBox="1"/>
          <p:nvPr/>
        </p:nvSpPr>
        <p:spPr>
          <a:xfrm>
            <a:off x="640080" y="3026664"/>
            <a:ext cx="10911535" cy="621792"/>
          </a:xfrm>
          <a:prstGeom prst="rect">
            <a:avLst/>
          </a:prstGeom>
          <a:noFill/>
        </p:spPr>
        <p:txBody>
          <a:bodyPr wrap="square">
            <a:spAutoFit/>
          </a:bodyPr>
          <a:lstStyle/>
          <a:p>
            <a:r>
              <a:rPr sz="1150">
                <a:solidFill>
                  <a:srgbClr val="2E3348"/>
                </a:solidFill>
                <a:latin typeface="Calibri"/>
              </a:rPr>
              <a:t>Anwar, N., Bilodeau, G.-A., &amp; Bouachir, W. (2024). </a:t>
            </a:r>
            <a:r>
              <a:rPr sz="1150" i="1">
                <a:solidFill>
                  <a:srgbClr val="12173A"/>
                </a:solidFill>
                <a:latin typeface="Calibri"/>
              </a:rPr>
              <a:t>STF: Spatio-Temporal Fusion Module for Improving Video Object Detection. </a:t>
            </a:r>
            <a:r>
              <a:rPr sz="1150">
                <a:solidFill>
                  <a:srgbClr val="69728C"/>
                </a:solidFill>
                <a:latin typeface="Calibri"/>
              </a:rPr>
              <a:t>arXiv:2402.10752.</a:t>
            </a:r>
          </a:p>
        </p:txBody>
      </p:sp>
      <p:sp>
        <p:nvSpPr>
          <p:cNvPr id="8" name="TextBox 7"/>
          <p:cNvSpPr txBox="1"/>
          <p:nvPr/>
        </p:nvSpPr>
        <p:spPr>
          <a:xfrm>
            <a:off x="640080" y="3648456"/>
            <a:ext cx="10911535" cy="621792"/>
          </a:xfrm>
          <a:prstGeom prst="rect">
            <a:avLst/>
          </a:prstGeom>
          <a:noFill/>
        </p:spPr>
        <p:txBody>
          <a:bodyPr wrap="square">
            <a:spAutoFit/>
          </a:bodyPr>
          <a:lstStyle/>
          <a:p>
            <a:r>
              <a:rPr sz="1150">
                <a:solidFill>
                  <a:srgbClr val="2E3348"/>
                </a:solidFill>
                <a:latin typeface="Calibri"/>
              </a:rPr>
              <a:t>Cai, J., Xu, M., Li, W., Xiong, Y., Xia, W., Tu, Z., &amp; Soatto, S. (2022). </a:t>
            </a:r>
            <a:r>
              <a:rPr sz="1150" i="1">
                <a:solidFill>
                  <a:srgbClr val="12173A"/>
                </a:solidFill>
                <a:latin typeface="Calibri"/>
              </a:rPr>
              <a:t>MeMOT: Multi-Object Tracking with Memory. </a:t>
            </a:r>
            <a:r>
              <a:rPr sz="1150">
                <a:solidFill>
                  <a:srgbClr val="69728C"/>
                </a:solidFill>
                <a:latin typeface="Calibri"/>
              </a:rPr>
              <a:t>CVPR 2022, pp. 8080-8090.</a:t>
            </a:r>
          </a:p>
        </p:txBody>
      </p:sp>
      <p:sp>
        <p:nvSpPr>
          <p:cNvPr id="9" name="TextBox 8"/>
          <p:cNvSpPr txBox="1"/>
          <p:nvPr/>
        </p:nvSpPr>
        <p:spPr>
          <a:xfrm>
            <a:off x="640080" y="4270248"/>
            <a:ext cx="10911535" cy="621792"/>
          </a:xfrm>
          <a:prstGeom prst="rect">
            <a:avLst/>
          </a:prstGeom>
          <a:noFill/>
        </p:spPr>
        <p:txBody>
          <a:bodyPr wrap="square">
            <a:spAutoFit/>
          </a:bodyPr>
          <a:lstStyle/>
          <a:p>
            <a:r>
              <a:rPr sz="1150">
                <a:solidFill>
                  <a:srgbClr val="2E3348"/>
                </a:solidFill>
                <a:latin typeface="Calibri"/>
              </a:rPr>
              <a:t>Tokmakov, P., Li, J., Burgard, W., &amp; Gaidon, A. (2021). </a:t>
            </a:r>
            <a:r>
              <a:rPr sz="1150" i="1">
                <a:solidFill>
                  <a:srgbClr val="12173A"/>
                </a:solidFill>
                <a:latin typeface="Calibri"/>
              </a:rPr>
              <a:t>Learning to Track with Object Permanence. </a:t>
            </a:r>
            <a:r>
              <a:rPr sz="1150">
                <a:solidFill>
                  <a:srgbClr val="69728C"/>
                </a:solidFill>
                <a:latin typeface="Calibri"/>
              </a:rPr>
              <a:t>ICCV 2021.</a:t>
            </a:r>
          </a:p>
        </p:txBody>
      </p:sp>
      <p:sp>
        <p:nvSpPr>
          <p:cNvPr id="10" name="TextBox 9"/>
          <p:cNvSpPr txBox="1"/>
          <p:nvPr/>
        </p:nvSpPr>
        <p:spPr>
          <a:xfrm>
            <a:off x="640080" y="4892040"/>
            <a:ext cx="10911535" cy="621792"/>
          </a:xfrm>
          <a:prstGeom prst="rect">
            <a:avLst/>
          </a:prstGeom>
          <a:noFill/>
        </p:spPr>
        <p:txBody>
          <a:bodyPr wrap="square">
            <a:spAutoFit/>
          </a:bodyPr>
          <a:lstStyle/>
          <a:p>
            <a:r>
              <a:rPr sz="1150">
                <a:solidFill>
                  <a:srgbClr val="2E3348"/>
                </a:solidFill>
                <a:latin typeface="Calibri"/>
              </a:rPr>
              <a:t>Geiger, A., Lenz, P., &amp; Urtasun, R. (2012). </a:t>
            </a:r>
            <a:r>
              <a:rPr sz="1150" i="1">
                <a:solidFill>
                  <a:srgbClr val="12173A"/>
                </a:solidFill>
                <a:latin typeface="Calibri"/>
              </a:rPr>
              <a:t>Are We Ready for Autonomous Driving? The KITTI Vision Benchmark Suite. </a:t>
            </a:r>
            <a:r>
              <a:rPr sz="1150">
                <a:solidFill>
                  <a:srgbClr val="69728C"/>
                </a:solidFill>
                <a:latin typeface="Calibri"/>
              </a:rPr>
              <a:t>CVPR 2012, pp. 3354-3361.</a:t>
            </a:r>
          </a:p>
        </p:txBody>
      </p:sp>
      <p:sp>
        <p:nvSpPr>
          <p:cNvPr id="11" name="TextBox 10"/>
          <p:cNvSpPr txBox="1"/>
          <p:nvPr/>
        </p:nvSpPr>
        <p:spPr>
          <a:xfrm>
            <a:off x="640080" y="5513832"/>
            <a:ext cx="10911535" cy="621792"/>
          </a:xfrm>
          <a:prstGeom prst="rect">
            <a:avLst/>
          </a:prstGeom>
          <a:noFill/>
        </p:spPr>
        <p:txBody>
          <a:bodyPr wrap="square">
            <a:spAutoFit/>
          </a:bodyPr>
          <a:lstStyle/>
          <a:p>
            <a:r>
              <a:rPr sz="1150">
                <a:solidFill>
                  <a:srgbClr val="2E3348"/>
                </a:solidFill>
                <a:latin typeface="Calibri"/>
              </a:rPr>
              <a:t>Iftikhar, S., Zhang, Z., Asim, M., Muthanna, A., Koucheryavy, A., &amp; Abd El-Latif, A. A. (2022). </a:t>
            </a:r>
            <a:r>
              <a:rPr sz="1150" i="1">
                <a:solidFill>
                  <a:srgbClr val="12173A"/>
                </a:solidFill>
                <a:latin typeface="Calibri"/>
              </a:rPr>
              <a:t>Deep Learning-Based Pedestrian Detection in Autonomous Vehicles: Substantial Issues and Challenges. </a:t>
            </a:r>
            <a:r>
              <a:rPr sz="1150">
                <a:solidFill>
                  <a:srgbClr val="69728C"/>
                </a:solidFill>
                <a:latin typeface="Calibri"/>
              </a:rPr>
              <a:t>Electronics, 11(21), 3551.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a:extLst>
            <a:ext uri="{FF2B5EF4-FFF2-40B4-BE49-F238E27FC236}">
              <a16:creationId xmlns:a16="http://schemas.microsoft.com/office/drawing/2014/main" id="{AED06139-3367-CC57-2CDC-A4A3C8EAD1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036BED-CA42-1A8A-C818-43BB6F2F0601}"/>
              </a:ext>
            </a:extLst>
          </p:cNvPr>
          <p:cNvSpPr txBox="1"/>
          <p:nvPr/>
        </p:nvSpPr>
        <p:spPr>
          <a:xfrm>
            <a:off x="779526" y="3152001"/>
            <a:ext cx="10629900" cy="553998"/>
          </a:xfrm>
          <a:prstGeom prst="rect">
            <a:avLst/>
          </a:prstGeom>
          <a:noFill/>
        </p:spPr>
        <p:txBody>
          <a:bodyPr wrap="square">
            <a:spAutoFit/>
          </a:bodyPr>
          <a:lstStyle/>
          <a:p>
            <a:pPr algn="ctr"/>
            <a:r>
              <a:rPr lang="en-GB" sz="3000" b="1" i="0" dirty="0">
                <a:solidFill>
                  <a:srgbClr val="FFFFFF"/>
                </a:solidFill>
                <a:latin typeface="Cambria"/>
              </a:rPr>
              <a:t>Thank you!</a:t>
            </a:r>
            <a:endParaRPr sz="3000" b="1" i="0" dirty="0">
              <a:solidFill>
                <a:srgbClr val="FFFFFF"/>
              </a:solidFill>
              <a:latin typeface="Cambria"/>
            </a:endParaRPr>
          </a:p>
        </p:txBody>
      </p:sp>
      <p:sp>
        <p:nvSpPr>
          <p:cNvPr id="14" name="Rectangle 13">
            <a:extLst>
              <a:ext uri="{FF2B5EF4-FFF2-40B4-BE49-F238E27FC236}">
                <a16:creationId xmlns:a16="http://schemas.microsoft.com/office/drawing/2014/main" id="{89D4229F-B59F-17E7-FA2B-93B59AA57F0B}"/>
              </a:ext>
            </a:extLst>
          </p:cNvPr>
          <p:cNvSpPr/>
          <p:nvPr/>
        </p:nvSpPr>
        <p:spPr>
          <a:xfrm>
            <a:off x="4265676" y="3806190"/>
            <a:ext cx="3657600" cy="19050"/>
          </a:xfrm>
          <a:prstGeom prst="rect">
            <a:avLst/>
          </a:prstGeom>
          <a:solidFill>
            <a:srgbClr val="FFA63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C8887F18-0E08-9A4C-263C-FE8633C85281}"/>
              </a:ext>
            </a:extLst>
          </p:cNvPr>
          <p:cNvSpPr txBox="1"/>
          <p:nvPr/>
        </p:nvSpPr>
        <p:spPr>
          <a:xfrm>
            <a:off x="1463040" y="3825240"/>
            <a:ext cx="9262872" cy="677108"/>
          </a:xfrm>
          <a:prstGeom prst="rect">
            <a:avLst/>
          </a:prstGeom>
          <a:noFill/>
        </p:spPr>
        <p:txBody>
          <a:bodyPr wrap="square">
            <a:spAutoFit/>
          </a:bodyPr>
          <a:lstStyle/>
          <a:p>
            <a:pPr algn="ctr"/>
            <a:r>
              <a:rPr lang="en-GB" sz="1900" b="1" dirty="0">
                <a:solidFill>
                  <a:srgbClr val="FFA630"/>
                </a:solidFill>
                <a:latin typeface="Cambria"/>
              </a:rPr>
              <a:t>Q</a:t>
            </a:r>
            <a:r>
              <a:rPr sz="1900" b="1" i="0" dirty="0" err="1">
                <a:solidFill>
                  <a:srgbClr val="FFA630"/>
                </a:solidFill>
                <a:latin typeface="Cambria"/>
              </a:rPr>
              <a:t>uestions</a:t>
            </a:r>
            <a:r>
              <a:rPr lang="en-GB" sz="1900" b="1" i="0" dirty="0">
                <a:solidFill>
                  <a:srgbClr val="FFA630"/>
                </a:solidFill>
                <a:latin typeface="Cambria"/>
              </a:rPr>
              <a:t>?</a:t>
            </a:r>
          </a:p>
          <a:p>
            <a:pPr algn="ctr"/>
            <a:r>
              <a:rPr lang="en-GB" sz="1900" b="1" dirty="0">
                <a:solidFill>
                  <a:srgbClr val="FFA630"/>
                </a:solidFill>
                <a:latin typeface="Cambria"/>
              </a:rPr>
              <a:t>(pls say no)</a:t>
            </a:r>
            <a:r>
              <a:rPr lang="en-GB" sz="1900" b="1" i="0" dirty="0">
                <a:solidFill>
                  <a:srgbClr val="FFA630"/>
                </a:solidFill>
                <a:latin typeface="Cambria"/>
              </a:rPr>
              <a:t> </a:t>
            </a:r>
            <a:endParaRPr sz="1900" b="1" i="0" dirty="0">
              <a:solidFill>
                <a:srgbClr val="FFA630"/>
              </a:solidFill>
              <a:latin typeface="Cambria"/>
            </a:endParaRPr>
          </a:p>
        </p:txBody>
      </p:sp>
    </p:spTree>
    <p:extLst>
      <p:ext uri="{BB962C8B-B14F-4D97-AF65-F5344CB8AC3E}">
        <p14:creationId xmlns:p14="http://schemas.microsoft.com/office/powerpoint/2010/main" val="36306022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1232</TotalTime>
  <Words>2490</Words>
  <Application>Microsoft Office PowerPoint</Application>
  <PresentationFormat>Widescreen</PresentationFormat>
  <Paragraphs>167</Paragraphs>
  <Slides>25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basfarnoor@gmail.com</cp:lastModifiedBy>
  <cp:revision>2</cp:revision>
  <dcterms:created xsi:type="dcterms:W3CDTF">2013-01-27T09:14:16Z</dcterms:created>
  <dcterms:modified xsi:type="dcterms:W3CDTF">2026-07-30T10:58:20Z</dcterms:modified>
  <cp:category/>
</cp:coreProperties>
</file>