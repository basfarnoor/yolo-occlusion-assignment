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500" b="1">
                <a:solidFill>
                  <a:srgbClr val="1E2761"/>
                </a:solidFill>
              </a:rPr>
              <a:t>Detection rate by stage</a:t>
            </a:r>
          </a:p>
        </c:rich>
      </c:tx>
      <c:layout/>
      <c:overlay val="0"/>
    </c:title>
    <c:autoTitleDeleted val="0"/>
    <c:plotArea>
      <c:barChart>
        <c:barDir val="col"/>
        <c:grouping val="clustered"/>
        <c:ser>
          <c:idx val="0"/>
          <c:order val="0"/>
          <c:tx>
            <c:strRef>
              <c:f>Sheet1!$B$1</c:f>
              <c:strCache>
                <c:ptCount val="1"/>
                <c:pt idx="0">
                  <c:v>Detection rate</c:v>
                </c:pt>
              </c:strCache>
            </c:strRef>
          </c:tx>
          <c:spPr>
            <a:solidFill>
              <a:srgbClr val="1E2761"/>
            </a:solidFill>
          </c:spPr>
          <c:cat>
            <c:strRef>
              <c:f>Sheet1!$A$2:$A$6</c:f>
              <c:strCache>
                <c:ptCount val="5"/>
                <c:pt idx="0">
                  <c:v>No
Occlusion</c:v>
                </c:pt>
                <c:pt idx="1">
                  <c:v>First Partial
Occlusion</c:v>
                </c:pt>
                <c:pt idx="2">
                  <c:v>Full
Occlusion</c:v>
                </c:pt>
                <c:pt idx="3">
                  <c:v>First Partial
Appearance</c:v>
                </c:pt>
                <c:pt idx="4">
                  <c:v>Full
Appearance</c:v>
                </c:pt>
              </c:strCache>
            </c:strRef>
          </c:cat>
          <c:val>
            <c:numRef>
              <c:f>Sheet1!$B$2:$B$6</c:f>
              <c:numCache>
                <c:formatCode>General</c:formatCode>
                <c:ptCount val="5"/>
                <c:pt idx="0">
                  <c:v>1.0</c:v>
                </c:pt>
                <c:pt idx="1">
                  <c:v>1.0</c:v>
                </c:pt>
                <c:pt idx="2">
                  <c:v>0.125</c:v>
                </c:pt>
                <c:pt idx="3">
                  <c:v>0.5</c:v>
                </c:pt>
                <c:pt idx="4">
                  <c:v>1.0</c:v>
                </c:pt>
              </c:numCache>
            </c:numRef>
          </c:val>
        </c:ser>
        <c:dLbls>
          <c:numFmt formatCode="0%" sourceLinked="0"/>
          <c:txPr>
            <a:bodyPr/>
            <a:lstStyle/>
            <a:p>
              <a:pPr>
                <a:defRPr sz="1300" b="1">
                  <a:solidFill>
                    <a:srgbClr val="1E2761"/>
                  </a:solidFil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spPr>
          <a:ln>
            <a:solidFill>
              <a:srgbClr val="CCCCCC"/>
            </a:solidFill>
          </a:ln>
        </c:spPr>
        <c:txPr>
          <a:bodyPr/>
          <a:lstStyle/>
          <a:p>
            <a:pPr>
              <a:defRPr sz="1200">
                <a:solidFill>
                  <a:srgbClr val="444444"/>
                </a:solidFill>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500" b="1">
                <a:solidFill>
                  <a:srgbClr val="1E2761"/>
                </a:solidFill>
              </a:rPr>
              <a:t>Mean confidence by stage (0 = undetected)</a:t>
            </a:r>
          </a:p>
        </c:rich>
      </c:tx>
      <c:layout/>
      <c:overlay val="0"/>
    </c:title>
    <c:autoTitleDeleted val="0"/>
    <c:plotArea>
      <c:barChart>
        <c:barDir val="col"/>
        <c:grouping val="clustered"/>
        <c:ser>
          <c:idx val="0"/>
          <c:order val="0"/>
          <c:tx>
            <c:strRef>
              <c:f>Sheet1!$B$1</c:f>
              <c:strCache>
                <c:ptCount val="1"/>
                <c:pt idx="0">
                  <c:v>Mean confidence</c:v>
                </c:pt>
              </c:strCache>
            </c:strRef>
          </c:tx>
          <c:spPr>
            <a:solidFill>
              <a:srgbClr val="FFA630"/>
            </a:solidFill>
          </c:spPr>
          <c:cat>
            <c:strRef>
              <c:f>Sheet1!$A$2:$A$6</c:f>
              <c:strCache>
                <c:ptCount val="5"/>
                <c:pt idx="0">
                  <c:v>No
Occlusion</c:v>
                </c:pt>
                <c:pt idx="1">
                  <c:v>First Partial
Occlusion</c:v>
                </c:pt>
                <c:pt idx="2">
                  <c:v>Full
Occlusion</c:v>
                </c:pt>
                <c:pt idx="3">
                  <c:v>First Partial
Appearance</c:v>
                </c:pt>
                <c:pt idx="4">
                  <c:v>Full
Appearance</c:v>
                </c:pt>
              </c:strCache>
            </c:strRef>
          </c:cat>
          <c:val>
            <c:numRef>
              <c:f>Sheet1!$B$2:$B$6</c:f>
              <c:numCache>
                <c:formatCode>General</c:formatCode>
                <c:ptCount val="5"/>
                <c:pt idx="0">
                  <c:v>0.774</c:v>
                </c:pt>
                <c:pt idx="1">
                  <c:v>0.587</c:v>
                </c:pt>
                <c:pt idx="2">
                  <c:v>0.029</c:v>
                </c:pt>
                <c:pt idx="3">
                  <c:v>0.425</c:v>
                </c:pt>
                <c:pt idx="4">
                  <c:v>0.845</c:v>
                </c:pt>
              </c:numCache>
            </c:numRef>
          </c:val>
        </c:ser>
        <c:dLbls>
          <c:numFmt formatCode="0.00" sourceLinked="0"/>
          <c:txPr>
            <a:bodyPr/>
            <a:lstStyle/>
            <a:p>
              <a:pPr>
                <a:defRPr sz="1300" b="1">
                  <a:solidFill>
                    <a:srgbClr val="1E2761"/>
                  </a:solidFil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spPr>
          <a:ln>
            <a:solidFill>
              <a:srgbClr val="CCCCCC"/>
            </a:solidFill>
          </a:ln>
        </c:spPr>
        <c:txPr>
          <a:bodyPr/>
          <a:lstStyle/>
          <a:p>
            <a:pPr>
              <a:defRPr sz="1200">
                <a:solidFill>
                  <a:srgbClr val="444444"/>
                </a:solidFill>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project: this is about helping self-driving car cameras keep track of road users even when something briefly blocks the view. Set up that this is an active research project, not just a class exercise.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core problem with a simple analogy. Point to the callout: humans naturally remember what was there a moment ago; most detectors don't. That's the gap this project is trying to close.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the research question plainly and pause on it. This is the question the whole project is trying to answer, and the hypothesis is what we expect but haven't yet proven.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method: we didn't build anything fancy yet, just measured how a plain, off-the-shelf detector behaves as an object goes through five occlusion stages. Point out the real annotated example image.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two charts together. Detection rate stays perfect through partial occlusion then falls off a cliff at full occlusion. Confidence tells a smoother story: it erodes before detection technically fails, and recovers once the object is visible again.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Summarize the three headline numbers. The key insight: confidence decays smoothly but detection itself is almost binary. That binary drop is the opportunity for a memory-based system to smooth over.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OATM's core mechanism: it doesn't just keep every missing object alive, it explicitly classifies whether something is occluded, lost, or has exited frame, and decays confidence smoothly rather than on a fixed timer.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Position OATM against the alternatives already used in the field. The point isn't that the others are bad — it's that none of them explicitly reason about *why* an object disappeared, which is what OATM adds.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the roadmap: this baseline experiment was step one. Next comes building proper test sets, implementing OATM itself, and comparing it fairly against existing tracking methods using metrics that specifically capture occlusion handling and false-track risk.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Oval 1"/>
          <p:cNvSpPr/>
          <p:nvPr/>
        </p:nvSpPr>
        <p:spPr>
          <a:xfrm>
            <a:off x="5410047" y="868680"/>
            <a:ext cx="1371600" cy="1371600"/>
          </a:xfrm>
          <a:prstGeom prst="ellipse">
            <a:avLst/>
          </a:prstGeom>
          <a:solidFill>
            <a:srgbClr val="FFA63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4400"/>
              <a:t>👁</a:t>
            </a:r>
          </a:p>
        </p:txBody>
      </p:sp>
      <p:sp>
        <p:nvSpPr>
          <p:cNvPr id="3" name="TextBox 2"/>
          <p:cNvSpPr txBox="1"/>
          <p:nvPr/>
        </p:nvSpPr>
        <p:spPr>
          <a:xfrm>
            <a:off x="914400" y="2468880"/>
            <a:ext cx="10360152" cy="1097280"/>
          </a:xfrm>
          <a:prstGeom prst="rect">
            <a:avLst/>
          </a:prstGeom>
          <a:noFill/>
        </p:spPr>
        <p:txBody>
          <a:bodyPr wrap="square">
            <a:spAutoFit/>
          </a:bodyPr>
          <a:lstStyle/>
          <a:p>
            <a:pPr algn="ctr"/>
            <a:r>
              <a:rPr sz="4000" b="1" i="0">
                <a:solidFill>
                  <a:srgbClr val="FFFFFF"/>
                </a:solidFill>
                <a:latin typeface="Cambria"/>
              </a:rPr>
              <a:t>Occlusion-Adaptive Temporal Memory</a:t>
            </a:r>
          </a:p>
        </p:txBody>
      </p:sp>
      <p:sp>
        <p:nvSpPr>
          <p:cNvPr id="4" name="TextBox 3"/>
          <p:cNvSpPr txBox="1"/>
          <p:nvPr/>
        </p:nvSpPr>
        <p:spPr>
          <a:xfrm>
            <a:off x="1371600" y="3429000"/>
            <a:ext cx="9445752" cy="640080"/>
          </a:xfrm>
          <a:prstGeom prst="rect">
            <a:avLst/>
          </a:prstGeom>
          <a:noFill/>
        </p:spPr>
        <p:txBody>
          <a:bodyPr wrap="square">
            <a:spAutoFit/>
          </a:bodyPr>
          <a:lstStyle/>
          <a:p>
            <a:pPr algn="ctr"/>
            <a:r>
              <a:rPr sz="2000" b="0" i="1">
                <a:solidFill>
                  <a:srgbClr val="CADCFC"/>
                </a:solidFill>
                <a:latin typeface="Calibri"/>
              </a:rPr>
              <a:t>Giving self-driving cars short-term memory for hidden objects</a:t>
            </a:r>
          </a:p>
        </p:txBody>
      </p:sp>
      <p:sp>
        <p:nvSpPr>
          <p:cNvPr id="5" name="TextBox 4"/>
          <p:cNvSpPr txBox="1"/>
          <p:nvPr/>
        </p:nvSpPr>
        <p:spPr>
          <a:xfrm>
            <a:off x="1371600" y="6035040"/>
            <a:ext cx="9445752" cy="457200"/>
          </a:xfrm>
          <a:prstGeom prst="rect">
            <a:avLst/>
          </a:prstGeom>
          <a:noFill/>
        </p:spPr>
        <p:txBody>
          <a:bodyPr wrap="square">
            <a:spAutoFit/>
          </a:bodyPr>
          <a:lstStyle/>
          <a:p>
            <a:pPr algn="ctr"/>
            <a:r>
              <a:rPr sz="1400" b="0" i="0">
                <a:solidFill>
                  <a:srgbClr val="5B6B8C"/>
                </a:solidFill>
                <a:latin typeface="Calibri"/>
              </a:rPr>
              <a:t>An nuScenes-based autonomous-vehicle perception research project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7315200" cy="822960"/>
          </a:xfrm>
          <a:prstGeom prst="rect">
            <a:avLst/>
          </a:prstGeom>
          <a:noFill/>
        </p:spPr>
        <p:txBody>
          <a:bodyPr wrap="square">
            <a:spAutoFit/>
          </a:bodyPr>
          <a:lstStyle/>
          <a:p>
            <a:pPr algn="l"/>
            <a:r>
              <a:rPr sz="2800" b="1" i="0">
                <a:solidFill>
                  <a:srgbClr val="1E2761"/>
                </a:solidFill>
                <a:latin typeface="Cambria"/>
              </a:rPr>
              <a:t>Single-frame detectors forget what they can't see</a:t>
            </a:r>
          </a:p>
        </p:txBody>
      </p:sp>
      <p:sp>
        <p:nvSpPr>
          <p:cNvPr id="3" name="TextBox 2"/>
          <p:cNvSpPr txBox="1"/>
          <p:nvPr/>
        </p:nvSpPr>
        <p:spPr>
          <a:xfrm>
            <a:off x="548640" y="1554480"/>
            <a:ext cx="6035040" cy="3200400"/>
          </a:xfrm>
          <a:prstGeom prst="rect">
            <a:avLst/>
          </a:prstGeom>
          <a:noFill/>
        </p:spPr>
        <p:txBody>
          <a:bodyPr wrap="square">
            <a:spAutoFit/>
          </a:bodyPr>
          <a:lstStyle/>
          <a:p>
            <a:pPr algn="l">
              <a:spcAft>
                <a:spcPts val="1600"/>
              </a:spcAft>
            </a:pPr>
            <a:r>
              <a:rPr sz="1700">
                <a:solidFill>
                  <a:srgbClr val="444444"/>
                </a:solidFill>
                <a:latin typeface="Calibri"/>
              </a:rPr>
              <a:t>•  Most object detectors look at one camera image at a time</a:t>
            </a:r>
          </a:p>
          <a:p>
            <a:pPr algn="l">
              <a:spcAft>
                <a:spcPts val="1600"/>
              </a:spcAft>
            </a:pPr>
            <a:r>
              <a:rPr sz="1700">
                <a:solidFill>
                  <a:srgbClr val="444444"/>
                </a:solidFill>
                <a:latin typeface="Calibri"/>
              </a:rPr>
              <a:t>•  If a truck briefly blocks a pedestrian, the model treats them as gone</a:t>
            </a:r>
          </a:p>
          <a:p>
            <a:pPr algn="l">
              <a:spcAft>
                <a:spcPts val="1600"/>
              </a:spcAft>
            </a:pPr>
            <a:r>
              <a:rPr sz="1700">
                <a:solidFill>
                  <a:srgbClr val="444444"/>
                </a:solidFill>
                <a:latin typeface="Calibri"/>
              </a:rPr>
              <a:t>•  When the pedestrian reappears, it's logged as a brand-new person, not the same one</a:t>
            </a:r>
          </a:p>
        </p:txBody>
      </p:sp>
      <p:sp>
        <p:nvSpPr>
          <p:cNvPr id="4" name="Oval 3"/>
          <p:cNvSpPr/>
          <p:nvPr/>
        </p:nvSpPr>
        <p:spPr>
          <a:xfrm>
            <a:off x="9006840" y="1143000"/>
            <a:ext cx="1371600" cy="137160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4000"/>
              <a:t>❓</a:t>
            </a:r>
          </a:p>
        </p:txBody>
      </p:sp>
      <p:sp>
        <p:nvSpPr>
          <p:cNvPr id="5" name="Rounded Rectangle 4"/>
          <p:cNvSpPr/>
          <p:nvPr/>
        </p:nvSpPr>
        <p:spPr>
          <a:xfrm>
            <a:off x="7040880" y="3017520"/>
            <a:ext cx="4480560" cy="2194560"/>
          </a:xfrm>
          <a:prstGeom prst="roundRect">
            <a:avLst>
              <a:gd name="adj" fmla="val 8000"/>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320040" tIns="274320"/>
          <a:lstStyle/>
          <a:p>
            <a:pPr algn="l"/>
            <a:r>
              <a:rPr sz="1600" i="1">
                <a:solidFill>
                  <a:srgbClr val="1E2761"/>
                </a:solidFill>
                <a:latin typeface="Calibri"/>
              </a:rPr>
              <a:t>“Imagine watching someone walk behind a parked bus — you don't assume they vanished.”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914400" y="1828800"/>
            <a:ext cx="10360152" cy="457200"/>
          </a:xfrm>
          <a:prstGeom prst="rect">
            <a:avLst/>
          </a:prstGeom>
          <a:noFill/>
        </p:spPr>
        <p:txBody>
          <a:bodyPr wrap="square">
            <a:spAutoFit/>
          </a:bodyPr>
          <a:lstStyle/>
          <a:p>
            <a:pPr algn="ctr"/>
            <a:r>
              <a:rPr sz="1500" b="1" i="0">
                <a:solidFill>
                  <a:srgbClr val="FFA630"/>
                </a:solidFill>
                <a:latin typeface="Calibri"/>
              </a:rPr>
              <a:t>THE CORE RESEARCH QUESTION</a:t>
            </a:r>
          </a:p>
        </p:txBody>
      </p:sp>
      <p:sp>
        <p:nvSpPr>
          <p:cNvPr id="3" name="TextBox 2"/>
          <p:cNvSpPr txBox="1"/>
          <p:nvPr/>
        </p:nvSpPr>
        <p:spPr>
          <a:xfrm>
            <a:off x="1188720" y="2377440"/>
            <a:ext cx="9811512" cy="2011680"/>
          </a:xfrm>
          <a:prstGeom prst="rect">
            <a:avLst/>
          </a:prstGeom>
          <a:noFill/>
        </p:spPr>
        <p:txBody>
          <a:bodyPr wrap="square">
            <a:spAutoFit/>
          </a:bodyPr>
          <a:lstStyle/>
          <a:p>
            <a:pPr algn="ctr">
              <a:lnSpc>
                <a:spcPct val="115000"/>
              </a:lnSpc>
            </a:pPr>
            <a:r>
              <a:rPr sz="3000" b="1" i="0">
                <a:solidFill>
                  <a:srgbClr val="FFFFFF"/>
                </a:solidFill>
                <a:latin typeface="Cambria"/>
              </a:rPr>
              <a:t>Can short-term visual memory help a camera keep track of temporarily hidden road users — without inventing false ones?</a:t>
            </a:r>
          </a:p>
        </p:txBody>
      </p:sp>
      <p:sp>
        <p:nvSpPr>
          <p:cNvPr id="4" name="TextBox 3"/>
          <p:cNvSpPr txBox="1"/>
          <p:nvPr/>
        </p:nvSpPr>
        <p:spPr>
          <a:xfrm>
            <a:off x="1645920" y="4937760"/>
            <a:ext cx="8897112" cy="1188720"/>
          </a:xfrm>
          <a:prstGeom prst="rect">
            <a:avLst/>
          </a:prstGeom>
          <a:noFill/>
        </p:spPr>
        <p:txBody>
          <a:bodyPr wrap="square">
            <a:spAutoFit/>
          </a:bodyPr>
          <a:lstStyle/>
          <a:p>
            <a:pPr algn="ctr"/>
            <a:r>
              <a:rPr sz="1600" b="0" i="1">
                <a:solidFill>
                  <a:srgbClr val="CADCFC"/>
                </a:solidFill>
                <a:latin typeface="Calibri"/>
              </a:rPr>
              <a:t>Hypothesis: occlusion-aware temporal memory preserves more valid tracks through short occlusions than single-frame detection or conventional tracking — without creating an unacceptable number of false, ghost tracks.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7315200" cy="822960"/>
          </a:xfrm>
          <a:prstGeom prst="rect">
            <a:avLst/>
          </a:prstGeom>
          <a:noFill/>
        </p:spPr>
        <p:txBody>
          <a:bodyPr wrap="square">
            <a:spAutoFit/>
          </a:bodyPr>
          <a:lstStyle/>
          <a:p>
            <a:pPr algn="l"/>
            <a:r>
              <a:rPr sz="2800" b="1" i="0">
                <a:solidFill>
                  <a:srgbClr val="1E2761"/>
                </a:solidFill>
                <a:latin typeface="Cambria"/>
              </a:rPr>
              <a:t>Step One: Measuring the Baseline</a:t>
            </a:r>
          </a:p>
        </p:txBody>
      </p:sp>
      <p:sp>
        <p:nvSpPr>
          <p:cNvPr id="3" name="Oval 2"/>
          <p:cNvSpPr/>
          <p:nvPr/>
        </p:nvSpPr>
        <p:spPr>
          <a:xfrm>
            <a:off x="548640" y="1691640"/>
            <a:ext cx="502920" cy="50292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800"/>
              <a:t>📷</a:t>
            </a:r>
          </a:p>
        </p:txBody>
      </p:sp>
      <p:sp>
        <p:nvSpPr>
          <p:cNvPr id="4" name="TextBox 3"/>
          <p:cNvSpPr txBox="1"/>
          <p:nvPr/>
        </p:nvSpPr>
        <p:spPr>
          <a:xfrm>
            <a:off x="1280160" y="1554480"/>
            <a:ext cx="5212080" cy="777240"/>
          </a:xfrm>
          <a:prstGeom prst="rect">
            <a:avLst/>
          </a:prstGeom>
          <a:noFill/>
        </p:spPr>
        <p:txBody>
          <a:bodyPr wrap="square" anchor="ctr">
            <a:spAutoFit/>
          </a:bodyPr>
          <a:lstStyle/>
          <a:p>
            <a:r>
              <a:rPr sz="1500">
                <a:solidFill>
                  <a:srgbClr val="444444"/>
                </a:solidFill>
                <a:latin typeface="Calibri"/>
              </a:rPr>
              <a:t>Dataset: nuScenes CAM_FRONT — 8 real occlusion sequences</a:t>
            </a:r>
          </a:p>
        </p:txBody>
      </p:sp>
      <p:sp>
        <p:nvSpPr>
          <p:cNvPr id="5" name="Oval 4"/>
          <p:cNvSpPr/>
          <p:nvPr/>
        </p:nvSpPr>
        <p:spPr>
          <a:xfrm>
            <a:off x="548640" y="2651760"/>
            <a:ext cx="502920" cy="50292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800"/>
              <a:t>🧠</a:t>
            </a:r>
          </a:p>
        </p:txBody>
      </p:sp>
      <p:sp>
        <p:nvSpPr>
          <p:cNvPr id="6" name="TextBox 5"/>
          <p:cNvSpPr txBox="1"/>
          <p:nvPr/>
        </p:nvSpPr>
        <p:spPr>
          <a:xfrm>
            <a:off x="1280160" y="2514600"/>
            <a:ext cx="5212080" cy="777240"/>
          </a:xfrm>
          <a:prstGeom prst="rect">
            <a:avLst/>
          </a:prstGeom>
          <a:noFill/>
        </p:spPr>
        <p:txBody>
          <a:bodyPr wrap="square" anchor="ctr">
            <a:spAutoFit/>
          </a:bodyPr>
          <a:lstStyle/>
          <a:p>
            <a:r>
              <a:rPr sz="1500">
                <a:solidFill>
                  <a:srgbClr val="444444"/>
                </a:solidFill>
                <a:latin typeface="Calibri"/>
              </a:rPr>
              <a:t>Model: pretrained YOLO nano (yolo26n) — prediction only, no training</a:t>
            </a:r>
          </a:p>
        </p:txBody>
      </p:sp>
      <p:sp>
        <p:nvSpPr>
          <p:cNvPr id="7" name="Oval 6"/>
          <p:cNvSpPr/>
          <p:nvPr/>
        </p:nvSpPr>
        <p:spPr>
          <a:xfrm>
            <a:off x="548640" y="3611880"/>
            <a:ext cx="502920" cy="50292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800"/>
              <a:t>🖥</a:t>
            </a:r>
          </a:p>
        </p:txBody>
      </p:sp>
      <p:sp>
        <p:nvSpPr>
          <p:cNvPr id="8" name="TextBox 7"/>
          <p:cNvSpPr txBox="1"/>
          <p:nvPr/>
        </p:nvSpPr>
        <p:spPr>
          <a:xfrm>
            <a:off x="1280160" y="3474720"/>
            <a:ext cx="5212080" cy="777240"/>
          </a:xfrm>
          <a:prstGeom prst="rect">
            <a:avLst/>
          </a:prstGeom>
          <a:noFill/>
        </p:spPr>
        <p:txBody>
          <a:bodyPr wrap="square" anchor="ctr">
            <a:spAutoFit/>
          </a:bodyPr>
          <a:lstStyle/>
          <a:p>
            <a:r>
              <a:rPr sz="1500">
                <a:solidFill>
                  <a:srgbClr val="444444"/>
                </a:solidFill>
                <a:latin typeface="Calibri"/>
              </a:rPr>
              <a:t>CPU only, image size 640, confidence threshold 0.05</a:t>
            </a:r>
          </a:p>
        </p:txBody>
      </p:sp>
      <p:sp>
        <p:nvSpPr>
          <p:cNvPr id="9" name="Oval 8"/>
          <p:cNvSpPr/>
          <p:nvPr/>
        </p:nvSpPr>
        <p:spPr>
          <a:xfrm>
            <a:off x="548640" y="4572000"/>
            <a:ext cx="502920" cy="50292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800"/>
              <a:t>🔁</a:t>
            </a:r>
          </a:p>
        </p:txBody>
      </p:sp>
      <p:sp>
        <p:nvSpPr>
          <p:cNvPr id="10" name="TextBox 9"/>
          <p:cNvSpPr txBox="1"/>
          <p:nvPr/>
        </p:nvSpPr>
        <p:spPr>
          <a:xfrm>
            <a:off x="1280160" y="4434840"/>
            <a:ext cx="5212080" cy="777240"/>
          </a:xfrm>
          <a:prstGeom prst="rect">
            <a:avLst/>
          </a:prstGeom>
          <a:noFill/>
        </p:spPr>
        <p:txBody>
          <a:bodyPr wrap="square" anchor="ctr">
            <a:spAutoFit/>
          </a:bodyPr>
          <a:lstStyle/>
          <a:p>
            <a:r>
              <a:rPr sz="1500">
                <a:solidFill>
                  <a:srgbClr val="444444"/>
                </a:solidFill>
                <a:latin typeface="Calibri"/>
              </a:rPr>
              <a:t>5 stages per object: before → first partial occlusion → full occlusion → first reappearance → full appearance</a:t>
            </a:r>
          </a:p>
        </p:txBody>
      </p:sp>
      <p:sp>
        <p:nvSpPr>
          <p:cNvPr id="11" name="Rounded Rectangle 10"/>
          <p:cNvSpPr/>
          <p:nvPr/>
        </p:nvSpPr>
        <p:spPr>
          <a:xfrm>
            <a:off x="6748272" y="1444752"/>
            <a:ext cx="4974336" cy="2880360"/>
          </a:xfrm>
          <a:prstGeom prst="roundRect">
            <a:avLst>
              <a:gd name="adj" fmla="val 8000"/>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1_previous_no_occlusion.jpg"/>
          <p:cNvPicPr>
            <a:picLocks noChangeAspect="1"/>
          </p:cNvPicPr>
          <p:nvPr/>
        </p:nvPicPr>
        <p:blipFill>
          <a:blip r:embed="rId2"/>
          <a:stretch>
            <a:fillRect/>
          </a:stretch>
        </p:blipFill>
        <p:spPr>
          <a:xfrm>
            <a:off x="6858000" y="1554480"/>
            <a:ext cx="4754880" cy="2674620"/>
          </a:xfrm>
          <a:prstGeom prst="rect">
            <a:avLst/>
          </a:prstGeom>
        </p:spPr>
      </p:pic>
      <p:sp>
        <p:nvSpPr>
          <p:cNvPr id="13" name="TextBox 12"/>
          <p:cNvSpPr txBox="1"/>
          <p:nvPr/>
        </p:nvSpPr>
        <p:spPr>
          <a:xfrm>
            <a:off x="6858000" y="4434840"/>
            <a:ext cx="4754880" cy="457200"/>
          </a:xfrm>
          <a:prstGeom prst="rect">
            <a:avLst/>
          </a:prstGeom>
          <a:noFill/>
        </p:spPr>
        <p:txBody>
          <a:bodyPr wrap="square">
            <a:spAutoFit/>
          </a:bodyPr>
          <a:lstStyle/>
          <a:p>
            <a:pPr algn="ctr"/>
            <a:r>
              <a:rPr sz="1200" b="0" i="1">
                <a:solidFill>
                  <a:srgbClr val="5B6B8C"/>
                </a:solidFill>
                <a:latin typeface="Calibri"/>
              </a:rPr>
              <a:t>Real YOLO detections on a nuScenes frame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058400" cy="822960"/>
          </a:xfrm>
          <a:prstGeom prst="rect">
            <a:avLst/>
          </a:prstGeom>
          <a:noFill/>
        </p:spPr>
        <p:txBody>
          <a:bodyPr wrap="square">
            <a:spAutoFit/>
          </a:bodyPr>
          <a:lstStyle/>
          <a:p>
            <a:pPr algn="l"/>
            <a:r>
              <a:rPr sz="2800" b="1" i="0">
                <a:solidFill>
                  <a:srgbClr val="1E2761"/>
                </a:solidFill>
                <a:latin typeface="Cambria"/>
              </a:rPr>
              <a:t>Detection Collapses at Full Occlusion</a:t>
            </a:r>
          </a:p>
        </p:txBody>
      </p:sp>
      <p:graphicFrame>
        <p:nvGraphicFramePr>
          <p:cNvPr id="3" name="Chart 2"/>
          <p:cNvGraphicFramePr>
            <a:graphicFrameLocks noGrp="1"/>
          </p:cNvGraphicFramePr>
          <p:nvPr/>
        </p:nvGraphicFramePr>
        <p:xfrm>
          <a:off x="548640" y="1371600"/>
          <a:ext cx="5486400" cy="4846320"/>
        </p:xfrm>
        <a:graphic>
          <a:graphicData uri="http://schemas.openxmlformats.org/drawingml/2006/chart">
            <c:chart xmlns:c="http://schemas.openxmlformats.org/drawingml/2006/chart" r:id="rId2"/>
          </a:graphicData>
        </a:graphic>
      </p:graphicFrame>
      <p:graphicFrame>
        <p:nvGraphicFramePr>
          <p:cNvPr id="4" name="Chart 3"/>
          <p:cNvGraphicFramePr>
            <a:graphicFrameLocks noGrp="1"/>
          </p:cNvGraphicFramePr>
          <p:nvPr/>
        </p:nvGraphicFramePr>
        <p:xfrm>
          <a:off x="6309360" y="1371600"/>
          <a:ext cx="5486400" cy="4846320"/>
        </p:xfrm>
        <a:graphic>
          <a:graphicData uri="http://schemas.openxmlformats.org/drawingml/2006/chart">
            <c:chart xmlns:c="http://schemas.openxmlformats.org/drawingml/2006/chart" r:id="rId3"/>
          </a:graphicData>
        </a:graphic>
      </p:graphicFrame>
      <p:sp>
        <p:nvSpPr>
          <p:cNvPr id="5" name="TextBox 4"/>
          <p:cNvSpPr txBox="1"/>
          <p:nvPr/>
        </p:nvSpPr>
        <p:spPr>
          <a:xfrm>
            <a:off x="548640" y="6355080"/>
            <a:ext cx="11064240" cy="457200"/>
          </a:xfrm>
          <a:prstGeom prst="rect">
            <a:avLst/>
          </a:prstGeom>
          <a:noFill/>
        </p:spPr>
        <p:txBody>
          <a:bodyPr wrap="square">
            <a:spAutoFit/>
          </a:bodyPr>
          <a:lstStyle/>
          <a:p>
            <a:pPr algn="ctr"/>
            <a:r>
              <a:rPr sz="1200" b="0" i="1">
                <a:solidFill>
                  <a:srgbClr val="5B6B8C"/>
                </a:solidFill>
                <a:latin typeface="Calibri"/>
              </a:rPr>
              <a:t>Partial-occlusion and first-reappearance stages have small sample sizes (n=2-3) — interpret with caution.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914400" y="548640"/>
            <a:ext cx="10360152" cy="822960"/>
          </a:xfrm>
          <a:prstGeom prst="rect">
            <a:avLst/>
          </a:prstGeom>
          <a:noFill/>
        </p:spPr>
        <p:txBody>
          <a:bodyPr wrap="square">
            <a:spAutoFit/>
          </a:bodyPr>
          <a:lstStyle/>
          <a:p>
            <a:pPr algn="ctr"/>
            <a:r>
              <a:rPr sz="3200" b="1" i="0">
                <a:solidFill>
                  <a:srgbClr val="FFFFFF"/>
                </a:solidFill>
                <a:latin typeface="Cambria"/>
              </a:rPr>
              <a:t>What We Learned</a:t>
            </a:r>
          </a:p>
        </p:txBody>
      </p:sp>
      <p:sp>
        <p:nvSpPr>
          <p:cNvPr id="3" name="TextBox 2"/>
          <p:cNvSpPr txBox="1"/>
          <p:nvPr/>
        </p:nvSpPr>
        <p:spPr>
          <a:xfrm>
            <a:off x="609447" y="2011680"/>
            <a:ext cx="3474720" cy="1005840"/>
          </a:xfrm>
          <a:prstGeom prst="rect">
            <a:avLst/>
          </a:prstGeom>
          <a:noFill/>
        </p:spPr>
        <p:txBody>
          <a:bodyPr wrap="square">
            <a:spAutoFit/>
          </a:bodyPr>
          <a:lstStyle/>
          <a:p>
            <a:pPr algn="ctr"/>
            <a:r>
              <a:rPr sz="4200" b="1" i="0">
                <a:solidFill>
                  <a:srgbClr val="FFA630"/>
                </a:solidFill>
                <a:latin typeface="Cambria"/>
              </a:rPr>
              <a:t>100% → 12%</a:t>
            </a:r>
          </a:p>
        </p:txBody>
      </p:sp>
      <p:sp>
        <p:nvSpPr>
          <p:cNvPr id="4" name="TextBox 3"/>
          <p:cNvSpPr txBox="1"/>
          <p:nvPr/>
        </p:nvSpPr>
        <p:spPr>
          <a:xfrm>
            <a:off x="609447" y="3017520"/>
            <a:ext cx="3474720" cy="1005840"/>
          </a:xfrm>
          <a:prstGeom prst="rect">
            <a:avLst/>
          </a:prstGeom>
          <a:noFill/>
        </p:spPr>
        <p:txBody>
          <a:bodyPr wrap="square">
            <a:spAutoFit/>
          </a:bodyPr>
          <a:lstStyle/>
          <a:p>
            <a:pPr algn="ctr"/>
            <a:r>
              <a:rPr sz="1500" b="0" i="0">
                <a:solidFill>
                  <a:srgbClr val="CADCFC"/>
                </a:solidFill>
                <a:latin typeface="Calibri"/>
              </a:rPr>
              <a:t>detection rate at full occlusion</a:t>
            </a:r>
          </a:p>
        </p:txBody>
      </p:sp>
      <p:sp>
        <p:nvSpPr>
          <p:cNvPr id="5" name="TextBox 4"/>
          <p:cNvSpPr txBox="1"/>
          <p:nvPr/>
        </p:nvSpPr>
        <p:spPr>
          <a:xfrm>
            <a:off x="4358487" y="2011680"/>
            <a:ext cx="3474720" cy="1005840"/>
          </a:xfrm>
          <a:prstGeom prst="rect">
            <a:avLst/>
          </a:prstGeom>
          <a:noFill/>
        </p:spPr>
        <p:txBody>
          <a:bodyPr wrap="square">
            <a:spAutoFit/>
          </a:bodyPr>
          <a:lstStyle/>
          <a:p>
            <a:pPr algn="ctr"/>
            <a:r>
              <a:rPr sz="4200" b="1" i="0">
                <a:solidFill>
                  <a:srgbClr val="FFA630"/>
                </a:solidFill>
                <a:latin typeface="Cambria"/>
              </a:rPr>
              <a:t>0.77 → 0.03</a:t>
            </a:r>
          </a:p>
        </p:txBody>
      </p:sp>
      <p:sp>
        <p:nvSpPr>
          <p:cNvPr id="6" name="TextBox 5"/>
          <p:cNvSpPr txBox="1"/>
          <p:nvPr/>
        </p:nvSpPr>
        <p:spPr>
          <a:xfrm>
            <a:off x="4358487" y="3017520"/>
            <a:ext cx="3474720" cy="1005840"/>
          </a:xfrm>
          <a:prstGeom prst="rect">
            <a:avLst/>
          </a:prstGeom>
          <a:noFill/>
        </p:spPr>
        <p:txBody>
          <a:bodyPr wrap="square">
            <a:spAutoFit/>
          </a:bodyPr>
          <a:lstStyle/>
          <a:p>
            <a:pPr algn="ctr"/>
            <a:r>
              <a:rPr sz="1500" b="0" i="0">
                <a:solidFill>
                  <a:srgbClr val="CADCFC"/>
                </a:solidFill>
                <a:latin typeface="Calibri"/>
              </a:rPr>
              <a:t>mean confidence at full occlusion</a:t>
            </a:r>
          </a:p>
        </p:txBody>
      </p:sp>
      <p:sp>
        <p:nvSpPr>
          <p:cNvPr id="7" name="TextBox 6"/>
          <p:cNvSpPr txBox="1"/>
          <p:nvPr/>
        </p:nvSpPr>
        <p:spPr>
          <a:xfrm>
            <a:off x="8107527" y="2011680"/>
            <a:ext cx="3474720" cy="1005840"/>
          </a:xfrm>
          <a:prstGeom prst="rect">
            <a:avLst/>
          </a:prstGeom>
          <a:noFill/>
        </p:spPr>
        <p:txBody>
          <a:bodyPr wrap="square">
            <a:spAutoFit/>
          </a:bodyPr>
          <a:lstStyle/>
          <a:p>
            <a:pPr algn="ctr"/>
            <a:r>
              <a:rPr sz="4200" b="1" i="0">
                <a:solidFill>
                  <a:srgbClr val="FFA630"/>
                </a:solidFill>
                <a:latin typeface="Cambria"/>
              </a:rPr>
              <a:t>100%</a:t>
            </a:r>
          </a:p>
        </p:txBody>
      </p:sp>
      <p:sp>
        <p:nvSpPr>
          <p:cNvPr id="8" name="TextBox 7"/>
          <p:cNvSpPr txBox="1"/>
          <p:nvPr/>
        </p:nvSpPr>
        <p:spPr>
          <a:xfrm>
            <a:off x="8107527" y="3017520"/>
            <a:ext cx="3474720" cy="1005840"/>
          </a:xfrm>
          <a:prstGeom prst="rect">
            <a:avLst/>
          </a:prstGeom>
          <a:noFill/>
        </p:spPr>
        <p:txBody>
          <a:bodyPr wrap="square">
            <a:spAutoFit/>
          </a:bodyPr>
          <a:lstStyle/>
          <a:p>
            <a:pPr algn="ctr"/>
            <a:r>
              <a:rPr sz="1500" b="0" i="0">
                <a:solidFill>
                  <a:srgbClr val="CADCFC"/>
                </a:solidFill>
                <a:latin typeface="Calibri"/>
              </a:rPr>
              <a:t>correct class whenever something was detected</a:t>
            </a:r>
          </a:p>
        </p:txBody>
      </p:sp>
      <p:sp>
        <p:nvSpPr>
          <p:cNvPr id="9" name="TextBox 8"/>
          <p:cNvSpPr txBox="1"/>
          <p:nvPr/>
        </p:nvSpPr>
        <p:spPr>
          <a:xfrm>
            <a:off x="1463040" y="4846320"/>
            <a:ext cx="9262872" cy="1188720"/>
          </a:xfrm>
          <a:prstGeom prst="rect">
            <a:avLst/>
          </a:prstGeom>
          <a:noFill/>
        </p:spPr>
        <p:txBody>
          <a:bodyPr wrap="square">
            <a:spAutoFit/>
          </a:bodyPr>
          <a:lstStyle/>
          <a:p>
            <a:pPr algn="ctr">
              <a:lnSpc>
                <a:spcPct val="120000"/>
              </a:lnSpc>
            </a:pPr>
            <a:r>
              <a:rPr sz="1800" b="0" i="1">
                <a:solidFill>
                  <a:srgbClr val="FFFFFF"/>
                </a:solidFill>
                <a:latin typeface="Calibri"/>
              </a:rPr>
              <a:t>The detector doesn't fade out gradually — it's either fully seen or fully gone. That gap is exactly what temporal memory can fill.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8229600" cy="731520"/>
          </a:xfrm>
          <a:prstGeom prst="rect">
            <a:avLst/>
          </a:prstGeom>
          <a:noFill/>
        </p:spPr>
        <p:txBody>
          <a:bodyPr wrap="square">
            <a:spAutoFit/>
          </a:bodyPr>
          <a:lstStyle/>
          <a:p>
            <a:pPr algn="l"/>
            <a:r>
              <a:rPr sz="2800" b="1" i="0">
                <a:solidFill>
                  <a:srgbClr val="1E2761"/>
                </a:solidFill>
                <a:latin typeface="Cambria"/>
              </a:rPr>
              <a:t>The Proposed Fix: OATM</a:t>
            </a:r>
          </a:p>
        </p:txBody>
      </p:sp>
      <p:sp>
        <p:nvSpPr>
          <p:cNvPr id="3" name="TextBox 2"/>
          <p:cNvSpPr txBox="1"/>
          <p:nvPr/>
        </p:nvSpPr>
        <p:spPr>
          <a:xfrm>
            <a:off x="548640" y="1051560"/>
            <a:ext cx="8229600" cy="365760"/>
          </a:xfrm>
          <a:prstGeom prst="rect">
            <a:avLst/>
          </a:prstGeom>
          <a:noFill/>
        </p:spPr>
        <p:txBody>
          <a:bodyPr wrap="square">
            <a:spAutoFit/>
          </a:bodyPr>
          <a:lstStyle/>
          <a:p>
            <a:pPr algn="l"/>
            <a:r>
              <a:rPr sz="1400" b="0" i="1">
                <a:solidFill>
                  <a:srgbClr val="5B6B8C"/>
                </a:solidFill>
                <a:latin typeface="Calibri"/>
              </a:rPr>
              <a:t>Occlusion-Adaptive Temporal Memory</a:t>
            </a:r>
          </a:p>
        </p:txBody>
      </p:sp>
      <p:sp>
        <p:nvSpPr>
          <p:cNvPr id="4" name="Oval 3"/>
          <p:cNvSpPr/>
          <p:nvPr/>
        </p:nvSpPr>
        <p:spPr>
          <a:xfrm>
            <a:off x="548640" y="2057400"/>
            <a:ext cx="502920" cy="50292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800"/>
              <a:t>🧩</a:t>
            </a:r>
          </a:p>
        </p:txBody>
      </p:sp>
      <p:sp>
        <p:nvSpPr>
          <p:cNvPr id="5" name="TextBox 4"/>
          <p:cNvSpPr txBox="1"/>
          <p:nvPr/>
        </p:nvSpPr>
        <p:spPr>
          <a:xfrm>
            <a:off x="1280160" y="1828800"/>
            <a:ext cx="5303520" cy="960120"/>
          </a:xfrm>
          <a:prstGeom prst="rect">
            <a:avLst/>
          </a:prstGeom>
          <a:noFill/>
        </p:spPr>
        <p:txBody>
          <a:bodyPr wrap="square" anchor="ctr">
            <a:spAutoFit/>
          </a:bodyPr>
          <a:lstStyle/>
          <a:p>
            <a:r>
              <a:rPr sz="1450">
                <a:solidFill>
                  <a:srgbClr val="444444"/>
                </a:solidFill>
                <a:latin typeface="Calibri"/>
              </a:rPr>
              <a:t>Dual memory: appearance (last clear view) + motion (position &amp; velocity)</a:t>
            </a:r>
          </a:p>
        </p:txBody>
      </p:sp>
      <p:sp>
        <p:nvSpPr>
          <p:cNvPr id="6" name="Oval 5"/>
          <p:cNvSpPr/>
          <p:nvPr/>
        </p:nvSpPr>
        <p:spPr>
          <a:xfrm>
            <a:off x="548640" y="3108960"/>
            <a:ext cx="502920" cy="50292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800"/>
              <a:t>🚦</a:t>
            </a:r>
          </a:p>
        </p:txBody>
      </p:sp>
      <p:sp>
        <p:nvSpPr>
          <p:cNvPr id="7" name="TextBox 6"/>
          <p:cNvSpPr txBox="1"/>
          <p:nvPr/>
        </p:nvSpPr>
        <p:spPr>
          <a:xfrm>
            <a:off x="1280160" y="2880360"/>
            <a:ext cx="5303520" cy="960120"/>
          </a:xfrm>
          <a:prstGeom prst="rect">
            <a:avLst/>
          </a:prstGeom>
          <a:noFill/>
        </p:spPr>
        <p:txBody>
          <a:bodyPr wrap="square" anchor="ctr">
            <a:spAutoFit/>
          </a:bodyPr>
          <a:lstStyle/>
          <a:p>
            <a:r>
              <a:rPr sz="1450">
                <a:solidFill>
                  <a:srgbClr val="444444"/>
                </a:solidFill>
                <a:latin typeface="Calibri"/>
              </a:rPr>
              <a:t>Occlusion classifier: VISIBLE / OCCLUDED / LOST / EXITED</a:t>
            </a:r>
          </a:p>
        </p:txBody>
      </p:sp>
      <p:sp>
        <p:nvSpPr>
          <p:cNvPr id="8" name="Oval 7"/>
          <p:cNvSpPr/>
          <p:nvPr/>
        </p:nvSpPr>
        <p:spPr>
          <a:xfrm>
            <a:off x="548640" y="4160520"/>
            <a:ext cx="502920" cy="50292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800"/>
              <a:t>⏳</a:t>
            </a:r>
          </a:p>
        </p:txBody>
      </p:sp>
      <p:sp>
        <p:nvSpPr>
          <p:cNvPr id="9" name="TextBox 8"/>
          <p:cNvSpPr txBox="1"/>
          <p:nvPr/>
        </p:nvSpPr>
        <p:spPr>
          <a:xfrm>
            <a:off x="1280160" y="3931920"/>
            <a:ext cx="5303520" cy="960120"/>
          </a:xfrm>
          <a:prstGeom prst="rect">
            <a:avLst/>
          </a:prstGeom>
          <a:noFill/>
        </p:spPr>
        <p:txBody>
          <a:bodyPr wrap="square" anchor="ctr">
            <a:spAutoFit/>
          </a:bodyPr>
          <a:lstStyle/>
          <a:p>
            <a:r>
              <a:rPr sz="1450">
                <a:solidFill>
                  <a:srgbClr val="444444"/>
                </a:solidFill>
                <a:latin typeface="Calibri"/>
              </a:rPr>
              <a:t>Confidence decays smoothly over time — not a fixed countdown</a:t>
            </a:r>
          </a:p>
        </p:txBody>
      </p:sp>
      <p:sp>
        <p:nvSpPr>
          <p:cNvPr id="10" name="Oval 9"/>
          <p:cNvSpPr/>
          <p:nvPr/>
        </p:nvSpPr>
        <p:spPr>
          <a:xfrm>
            <a:off x="548640" y="5212080"/>
            <a:ext cx="502920" cy="50292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800"/>
              <a:t>🚫</a:t>
            </a:r>
          </a:p>
        </p:txBody>
      </p:sp>
      <p:sp>
        <p:nvSpPr>
          <p:cNvPr id="11" name="TextBox 10"/>
          <p:cNvSpPr txBox="1"/>
          <p:nvPr/>
        </p:nvSpPr>
        <p:spPr>
          <a:xfrm>
            <a:off x="1280160" y="4983480"/>
            <a:ext cx="5303520" cy="960120"/>
          </a:xfrm>
          <a:prstGeom prst="rect">
            <a:avLst/>
          </a:prstGeom>
          <a:noFill/>
        </p:spPr>
        <p:txBody>
          <a:bodyPr wrap="square" anchor="ctr">
            <a:spAutoFit/>
          </a:bodyPr>
          <a:lstStyle/>
          <a:p>
            <a:r>
              <a:rPr sz="1450">
                <a:solidFill>
                  <a:srgbClr val="444444"/>
                </a:solidFill>
                <a:latin typeface="Calibri"/>
              </a:rPr>
              <a:t>Anti-ghost termination stops phantom tracks from lingering</a:t>
            </a:r>
          </a:p>
        </p:txBody>
      </p:sp>
      <p:sp>
        <p:nvSpPr>
          <p:cNvPr id="12" name="Rounded Rectangle 11"/>
          <p:cNvSpPr/>
          <p:nvPr/>
        </p:nvSpPr>
        <p:spPr>
          <a:xfrm>
            <a:off x="7406640" y="1920240"/>
            <a:ext cx="2103120" cy="640080"/>
          </a:xfrm>
          <a:prstGeom prst="roundRect">
            <a:avLst>
              <a:gd name="adj" fmla="val 15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Calibri"/>
              </a:rPr>
              <a:t>VISIBLE</a:t>
            </a:r>
          </a:p>
        </p:txBody>
      </p:sp>
      <p:sp>
        <p:nvSpPr>
          <p:cNvPr id="13" name="Rounded Rectangle 12"/>
          <p:cNvSpPr/>
          <p:nvPr/>
        </p:nvSpPr>
        <p:spPr>
          <a:xfrm>
            <a:off x="7406640" y="3200400"/>
            <a:ext cx="2103120" cy="640080"/>
          </a:xfrm>
          <a:prstGeom prst="roundRect">
            <a:avLst>
              <a:gd name="adj" fmla="val 15000"/>
            </a:avLst>
          </a:prstGeom>
          <a:solidFill>
            <a:srgbClr val="FFA6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Calibri"/>
              </a:rPr>
              <a:t>OCCLUDED</a:t>
            </a:r>
          </a:p>
        </p:txBody>
      </p:sp>
      <p:sp>
        <p:nvSpPr>
          <p:cNvPr id="14" name="Rounded Rectangle 13"/>
          <p:cNvSpPr/>
          <p:nvPr/>
        </p:nvSpPr>
        <p:spPr>
          <a:xfrm>
            <a:off x="7406640" y="4480560"/>
            <a:ext cx="2103120" cy="640080"/>
          </a:xfrm>
          <a:prstGeom prst="roundRect">
            <a:avLst>
              <a:gd name="adj" fmla="val 15000"/>
            </a:avLst>
          </a:prstGeom>
          <a:solidFill>
            <a:srgbClr val="5B6B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Calibri"/>
              </a:rPr>
              <a:t>LOST / EXITED</a:t>
            </a:r>
          </a:p>
        </p:txBody>
      </p:sp>
      <p:cxnSp>
        <p:nvCxnSpPr>
          <p:cNvPr id="15" name="Connector 14"/>
          <p:cNvCxnSpPr/>
          <p:nvPr/>
        </p:nvCxnSpPr>
        <p:spPr>
          <a:xfrm>
            <a:off x="8458200" y="2560320"/>
            <a:ext cx="0" cy="640080"/>
          </a:xfrm>
          <a:prstGeom prst="line">
            <a:avLst/>
          </a:prstGeom>
          <a:ln w="25400">
            <a:solidFill>
              <a:srgbClr val="444444"/>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458200" y="3840480"/>
            <a:ext cx="0" cy="640080"/>
          </a:xfrm>
          <a:prstGeom prst="line">
            <a:avLst/>
          </a:prstGeom>
          <a:ln w="25400">
            <a:solidFill>
              <a:srgbClr val="444444"/>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406640" y="5257800"/>
            <a:ext cx="2103120" cy="822960"/>
          </a:xfrm>
          <a:prstGeom prst="rect">
            <a:avLst/>
          </a:prstGeom>
          <a:noFill/>
        </p:spPr>
        <p:txBody>
          <a:bodyPr wrap="square">
            <a:spAutoFit/>
          </a:bodyPr>
          <a:lstStyle/>
          <a:p>
            <a:pPr algn="ctr"/>
            <a:r>
              <a:rPr sz="1100" b="0" i="1">
                <a:solidFill>
                  <a:srgbClr val="5B6B8C"/>
                </a:solidFill>
                <a:latin typeface="Calibri"/>
              </a:rPr>
              <a:t>reappearance → back to VISIBLE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8229600" cy="731520"/>
          </a:xfrm>
          <a:prstGeom prst="rect">
            <a:avLst/>
          </a:prstGeom>
          <a:noFill/>
        </p:spPr>
        <p:txBody>
          <a:bodyPr wrap="square">
            <a:spAutoFit/>
          </a:bodyPr>
          <a:lstStyle/>
          <a:p>
            <a:pPr algn="l"/>
            <a:r>
              <a:rPr sz="2800" b="1" i="0">
                <a:solidFill>
                  <a:srgbClr val="1E2761"/>
                </a:solidFill>
                <a:latin typeface="Cambria"/>
              </a:rPr>
              <a:t>How OATM Compares</a:t>
            </a:r>
          </a:p>
        </p:txBody>
      </p:sp>
      <p:graphicFrame>
        <p:nvGraphicFramePr>
          <p:cNvPr id="3" name="Table 2"/>
          <p:cNvGraphicFramePr>
            <a:graphicFrameLocks noGrp="1"/>
          </p:cNvGraphicFramePr>
          <p:nvPr/>
        </p:nvGraphicFramePr>
        <p:xfrm>
          <a:off x="548640" y="1371600"/>
          <a:ext cx="11064240" cy="4754880"/>
        </p:xfrm>
        <a:graphic>
          <a:graphicData uri="http://schemas.openxmlformats.org/drawingml/2006/table">
            <a:tbl>
              <a:tblPr firstRow="1" bandRow="1">
                <a:tableStyleId>{5C22544A-7EE6-4342-B048-85BDC9FD1C3A}</a:tableStyleId>
              </a:tblPr>
              <a:tblGrid>
                <a:gridCol w="2743200"/>
                <a:gridCol w="4846320"/>
                <a:gridCol w="3474720"/>
              </a:tblGrid>
              <a:tr h="792480">
                <a:tc>
                  <a:txBody>
                    <a:bodyPr/>
                    <a:lstStyle/>
                    <a:p>
                      <a:r>
                        <a:rPr b="1" sz="1400">
                          <a:solidFill>
                            <a:srgbClr val="FFFFFF"/>
                          </a:solidFill>
                          <a:latin typeface="Calibri"/>
                        </a:rPr>
                        <a:t>Method</a:t>
                      </a:r>
                    </a:p>
                  </a:txBody>
                  <a:tcPr marL="137160" marR="137160" anchor="ctr">
                    <a:solidFill>
                      <a:srgbClr val="1E2761"/>
                    </a:solidFill>
                  </a:tcPr>
                </a:tc>
                <a:tc>
                  <a:txBody>
                    <a:bodyPr/>
                    <a:lstStyle/>
                    <a:p>
                      <a:r>
                        <a:rPr b="1" sz="1400">
                          <a:solidFill>
                            <a:srgbClr val="FFFFFF"/>
                          </a:solidFill>
                          <a:latin typeface="Calibri"/>
                        </a:rPr>
                        <a:t>How it works</a:t>
                      </a:r>
                    </a:p>
                  </a:txBody>
                  <a:tcPr marL="137160" marR="137160" anchor="ctr">
                    <a:solidFill>
                      <a:srgbClr val="1E2761"/>
                    </a:solidFill>
                  </a:tcPr>
                </a:tc>
                <a:tc>
                  <a:txBody>
                    <a:bodyPr/>
                    <a:lstStyle/>
                    <a:p>
                      <a:r>
                        <a:rPr b="1" sz="1400">
                          <a:solidFill>
                            <a:srgbClr val="FFFFFF"/>
                          </a:solidFill>
                          <a:latin typeface="Calibri"/>
                        </a:rPr>
                        <a:t>Main weakness</a:t>
                      </a:r>
                    </a:p>
                  </a:txBody>
                  <a:tcPr marL="137160" marR="137160" anchor="ctr">
                    <a:solidFill>
                      <a:srgbClr val="1E2761"/>
                    </a:solidFill>
                  </a:tcPr>
                </a:tc>
              </a:tr>
              <a:tr h="792480">
                <a:tc>
                  <a:txBody>
                    <a:bodyPr/>
                    <a:lstStyle/>
                    <a:p>
                      <a:r>
                        <a:rPr sz="1300">
                          <a:solidFill>
                            <a:srgbClr val="444444"/>
                          </a:solidFill>
                          <a:latin typeface="Calibri"/>
                        </a:rPr>
                        <a:t>Single-frame detection</a:t>
                      </a:r>
                    </a:p>
                  </a:txBody>
                  <a:tcPr marL="137160" marR="137160" anchor="ctr">
                    <a:solidFill>
                      <a:srgbClr val="FFFFFF"/>
                    </a:solidFill>
                  </a:tcPr>
                </a:tc>
                <a:tc>
                  <a:txBody>
                    <a:bodyPr/>
                    <a:lstStyle/>
                    <a:p>
                      <a:r>
                        <a:rPr sz="1300">
                          <a:solidFill>
                            <a:srgbClr val="444444"/>
                          </a:solidFill>
                          <a:latin typeface="Calibri"/>
                        </a:rPr>
                        <a:t>Looks only at the current image</a:t>
                      </a:r>
                    </a:p>
                  </a:txBody>
                  <a:tcPr marL="137160" marR="137160" anchor="ctr">
                    <a:solidFill>
                      <a:srgbClr val="FFFFFF"/>
                    </a:solidFill>
                  </a:tcPr>
                </a:tc>
                <a:tc>
                  <a:txBody>
                    <a:bodyPr/>
                    <a:lstStyle/>
                    <a:p>
                      <a:r>
                        <a:rPr sz="1300">
                          <a:solidFill>
                            <a:srgbClr val="444444"/>
                          </a:solidFill>
                          <a:latin typeface="Calibri"/>
                        </a:rPr>
                        <a:t>Hidden object instantly disappears</a:t>
                      </a:r>
                    </a:p>
                  </a:txBody>
                  <a:tcPr marL="137160" marR="137160" anchor="ctr">
                    <a:solidFill>
                      <a:srgbClr val="FFFFFF"/>
                    </a:solidFill>
                  </a:tcPr>
                </a:tc>
              </a:tr>
              <a:tr h="792480">
                <a:tc>
                  <a:txBody>
                    <a:bodyPr/>
                    <a:lstStyle/>
                    <a:p>
                      <a:r>
                        <a:rPr sz="1300">
                          <a:solidFill>
                            <a:srgbClr val="444444"/>
                          </a:solidFill>
                          <a:latin typeface="Calibri"/>
                        </a:rPr>
                        <a:t>SORT</a:t>
                      </a:r>
                    </a:p>
                  </a:txBody>
                  <a:tcPr marL="137160" marR="137160" anchor="ctr">
                    <a:solidFill>
                      <a:srgbClr val="FFFFFF"/>
                    </a:solidFill>
                  </a:tcPr>
                </a:tc>
                <a:tc>
                  <a:txBody>
                    <a:bodyPr/>
                    <a:lstStyle/>
                    <a:p>
                      <a:r>
                        <a:rPr sz="1300">
                          <a:solidFill>
                            <a:srgbClr val="444444"/>
                          </a:solidFill>
                          <a:latin typeface="Calibri"/>
                        </a:rPr>
                        <a:t>Predicts motion from recent pattern</a:t>
                      </a:r>
                    </a:p>
                  </a:txBody>
                  <a:tcPr marL="137160" marR="137160" anchor="ctr">
                    <a:solidFill>
                      <a:srgbClr val="FFFFFF"/>
                    </a:solidFill>
                  </a:tcPr>
                </a:tc>
                <a:tc>
                  <a:txBody>
                    <a:bodyPr/>
                    <a:lstStyle/>
                    <a:p>
                      <a:r>
                        <a:rPr sz="1300">
                          <a:solidFill>
                            <a:srgbClr val="444444"/>
                          </a:solidFill>
                          <a:latin typeface="Calibri"/>
                        </a:rPr>
                        <a:t>Struggles with turns or ego-motion</a:t>
                      </a:r>
                    </a:p>
                  </a:txBody>
                  <a:tcPr marL="137160" marR="137160" anchor="ctr">
                    <a:solidFill>
                      <a:srgbClr val="FFFFFF"/>
                    </a:solidFill>
                  </a:tcPr>
                </a:tc>
              </a:tr>
              <a:tr h="792480">
                <a:tc>
                  <a:txBody>
                    <a:bodyPr/>
                    <a:lstStyle/>
                    <a:p>
                      <a:r>
                        <a:rPr sz="1300">
                          <a:solidFill>
                            <a:srgbClr val="444444"/>
                          </a:solidFill>
                          <a:latin typeface="Calibri"/>
                        </a:rPr>
                        <a:t>ByteTrack</a:t>
                      </a:r>
                    </a:p>
                  </a:txBody>
                  <a:tcPr marL="137160" marR="137160" anchor="ctr">
                    <a:solidFill>
                      <a:srgbClr val="FFFFFF"/>
                    </a:solidFill>
                  </a:tcPr>
                </a:tc>
                <a:tc>
                  <a:txBody>
                    <a:bodyPr/>
                    <a:lstStyle/>
                    <a:p>
                      <a:r>
                        <a:rPr sz="1300">
                          <a:solidFill>
                            <a:srgbClr val="444444"/>
                          </a:solidFill>
                          <a:latin typeface="Calibri"/>
                        </a:rPr>
                        <a:t>Links strong and weak detections</a:t>
                      </a:r>
                    </a:p>
                  </a:txBody>
                  <a:tcPr marL="137160" marR="137160" anchor="ctr">
                    <a:solidFill>
                      <a:srgbClr val="FFFFFF"/>
                    </a:solidFill>
                  </a:tcPr>
                </a:tc>
                <a:tc>
                  <a:txBody>
                    <a:bodyPr/>
                    <a:lstStyle/>
                    <a:p>
                      <a:r>
                        <a:rPr sz="1300">
                          <a:solidFill>
                            <a:srgbClr val="444444"/>
                          </a:solidFill>
                          <a:latin typeface="Calibri"/>
                        </a:rPr>
                        <a:t>Still needs some visible evidence</a:t>
                      </a:r>
                    </a:p>
                  </a:txBody>
                  <a:tcPr marL="137160" marR="137160" anchor="ctr">
                    <a:solidFill>
                      <a:srgbClr val="FFFFFF"/>
                    </a:solidFill>
                  </a:tcPr>
                </a:tc>
              </a:tr>
              <a:tr h="792480">
                <a:tc>
                  <a:txBody>
                    <a:bodyPr/>
                    <a:lstStyle/>
                    <a:p>
                      <a:r>
                        <a:rPr sz="1300">
                          <a:solidFill>
                            <a:srgbClr val="444444"/>
                          </a:solidFill>
                          <a:latin typeface="Calibri"/>
                        </a:rPr>
                        <a:t>Fixed temporal memory</a:t>
                      </a:r>
                    </a:p>
                  </a:txBody>
                  <a:tcPr marL="137160" marR="137160" anchor="ctr">
                    <a:solidFill>
                      <a:srgbClr val="FFFFFF"/>
                    </a:solidFill>
                  </a:tcPr>
                </a:tc>
                <a:tc>
                  <a:txBody>
                    <a:bodyPr/>
                    <a:lstStyle/>
                    <a:p>
                      <a:r>
                        <a:rPr sz="1300">
                          <a:solidFill>
                            <a:srgbClr val="444444"/>
                          </a:solidFill>
                          <a:latin typeface="Calibri"/>
                        </a:rPr>
                        <a:t>Keeps missing objects for N frames</a:t>
                      </a:r>
                    </a:p>
                  </a:txBody>
                  <a:tcPr marL="137160" marR="137160" anchor="ctr">
                    <a:solidFill>
                      <a:srgbClr val="FFFFFF"/>
                    </a:solidFill>
                  </a:tcPr>
                </a:tc>
                <a:tc>
                  <a:txBody>
                    <a:bodyPr/>
                    <a:lstStyle/>
                    <a:p>
                      <a:r>
                        <a:rPr sz="1300">
                          <a:solidFill>
                            <a:srgbClr val="444444"/>
                          </a:solidFill>
                          <a:latin typeface="Calibri"/>
                        </a:rPr>
                        <a:t>May forget early or keep ghosts too long</a:t>
                      </a:r>
                    </a:p>
                  </a:txBody>
                  <a:tcPr marL="137160" marR="137160" anchor="ctr">
                    <a:solidFill>
                      <a:srgbClr val="FFFFFF"/>
                    </a:solidFill>
                  </a:tcPr>
                </a:tc>
              </a:tr>
              <a:tr h="792480">
                <a:tc>
                  <a:txBody>
                    <a:bodyPr/>
                    <a:lstStyle/>
                    <a:p>
                      <a:r>
                        <a:rPr sz="1300" b="1">
                          <a:solidFill>
                            <a:srgbClr val="1E2761"/>
                          </a:solidFill>
                          <a:latin typeface="Calibri"/>
                        </a:rPr>
                        <a:t>OATM (proposed)</a:t>
                      </a:r>
                    </a:p>
                  </a:txBody>
                  <a:tcPr marL="137160" marR="137160" anchor="ctr">
                    <a:solidFill>
                      <a:srgbClr val="FFF3E0"/>
                    </a:solidFill>
                  </a:tcPr>
                </a:tc>
                <a:tc>
                  <a:txBody>
                    <a:bodyPr/>
                    <a:lstStyle/>
                    <a:p>
                      <a:r>
                        <a:rPr sz="1300" b="1">
                          <a:solidFill>
                            <a:srgbClr val="1E2761"/>
                          </a:solidFill>
                          <a:latin typeface="Calibri"/>
                        </a:rPr>
                        <a:t>Appearance + motion + occlusion-aware decay</a:t>
                      </a:r>
                    </a:p>
                  </a:txBody>
                  <a:tcPr marL="137160" marR="137160" anchor="ctr">
                    <a:solidFill>
                      <a:srgbClr val="FFF3E0"/>
                    </a:solidFill>
                  </a:tcPr>
                </a:tc>
                <a:tc>
                  <a:txBody>
                    <a:bodyPr/>
                    <a:lstStyle/>
                    <a:p>
                      <a:r>
                        <a:rPr sz="1300" b="1">
                          <a:solidFill>
                            <a:srgbClr val="1E2761"/>
                          </a:solidFill>
                          <a:latin typeface="Calibri"/>
                        </a:rPr>
                        <a:t>More complex; needs careful tuning</a:t>
                      </a:r>
                    </a:p>
                  </a:txBody>
                  <a:tcPr marL="137160" marR="137160" anchor="ctr">
                    <a:solidFill>
                      <a:srgbClr val="FFF3E0"/>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914400" y="548640"/>
            <a:ext cx="10360152" cy="731520"/>
          </a:xfrm>
          <a:prstGeom prst="rect">
            <a:avLst/>
          </a:prstGeom>
          <a:noFill/>
        </p:spPr>
        <p:txBody>
          <a:bodyPr wrap="square">
            <a:spAutoFit/>
          </a:bodyPr>
          <a:lstStyle/>
          <a:p>
            <a:pPr algn="ctr"/>
            <a:r>
              <a:rPr sz="3200" b="1" i="0">
                <a:solidFill>
                  <a:srgbClr val="FFFFFF"/>
                </a:solidFill>
                <a:latin typeface="Cambria"/>
              </a:rPr>
              <a:t>What's Next</a:t>
            </a:r>
          </a:p>
        </p:txBody>
      </p:sp>
      <p:sp>
        <p:nvSpPr>
          <p:cNvPr id="3" name="Oval 2"/>
          <p:cNvSpPr/>
          <p:nvPr/>
        </p:nvSpPr>
        <p:spPr>
          <a:xfrm>
            <a:off x="1463040" y="1920240"/>
            <a:ext cx="502920" cy="502920"/>
          </a:xfrm>
          <a:prstGeom prst="ellipse">
            <a:avLst/>
          </a:prstGeom>
          <a:solidFill>
            <a:srgbClr val="FFA63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800"/>
              <a:t>🧪</a:t>
            </a:r>
          </a:p>
        </p:txBody>
      </p:sp>
      <p:sp>
        <p:nvSpPr>
          <p:cNvPr id="4" name="TextBox 3"/>
          <p:cNvSpPr txBox="1"/>
          <p:nvPr/>
        </p:nvSpPr>
        <p:spPr>
          <a:xfrm>
            <a:off x="2194560" y="1737360"/>
            <a:ext cx="8503920" cy="868680"/>
          </a:xfrm>
          <a:prstGeom prst="rect">
            <a:avLst/>
          </a:prstGeom>
          <a:noFill/>
        </p:spPr>
        <p:txBody>
          <a:bodyPr wrap="square" anchor="ctr">
            <a:spAutoFit/>
          </a:bodyPr>
          <a:lstStyle/>
          <a:p>
            <a:r>
              <a:rPr sz="1600">
                <a:solidFill>
                  <a:srgbClr val="FFFFFF"/>
                </a:solidFill>
                <a:latin typeface="Calibri"/>
              </a:rPr>
              <a:t>Build natural + controlled occlusion test sets from nuScenes</a:t>
            </a:r>
          </a:p>
        </p:txBody>
      </p:sp>
      <p:sp>
        <p:nvSpPr>
          <p:cNvPr id="5" name="Oval 4"/>
          <p:cNvSpPr/>
          <p:nvPr/>
        </p:nvSpPr>
        <p:spPr>
          <a:xfrm>
            <a:off x="1463040" y="2880360"/>
            <a:ext cx="502920" cy="502920"/>
          </a:xfrm>
          <a:prstGeom prst="ellipse">
            <a:avLst/>
          </a:prstGeom>
          <a:solidFill>
            <a:srgbClr val="FFA63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800"/>
              <a:t>📊</a:t>
            </a:r>
          </a:p>
        </p:txBody>
      </p:sp>
      <p:sp>
        <p:nvSpPr>
          <p:cNvPr id="6" name="TextBox 5"/>
          <p:cNvSpPr txBox="1"/>
          <p:nvPr/>
        </p:nvSpPr>
        <p:spPr>
          <a:xfrm>
            <a:off x="2194560" y="2697480"/>
            <a:ext cx="8503920" cy="868680"/>
          </a:xfrm>
          <a:prstGeom prst="rect">
            <a:avLst/>
          </a:prstGeom>
          <a:noFill/>
        </p:spPr>
        <p:txBody>
          <a:bodyPr wrap="square" anchor="ctr">
            <a:spAutoFit/>
          </a:bodyPr>
          <a:lstStyle/>
          <a:p>
            <a:r>
              <a:rPr sz="1600">
                <a:solidFill>
                  <a:srgbClr val="FFFFFF"/>
                </a:solidFill>
                <a:latin typeface="Calibri"/>
              </a:rPr>
              <a:t>Compare 5 systems: single-frame, SORT, ByteTrack, fixed memory, OATM</a:t>
            </a:r>
          </a:p>
        </p:txBody>
      </p:sp>
      <p:sp>
        <p:nvSpPr>
          <p:cNvPr id="7" name="Oval 6"/>
          <p:cNvSpPr/>
          <p:nvPr/>
        </p:nvSpPr>
        <p:spPr>
          <a:xfrm>
            <a:off x="1463040" y="3840480"/>
            <a:ext cx="502920" cy="502920"/>
          </a:xfrm>
          <a:prstGeom prst="ellipse">
            <a:avLst/>
          </a:prstGeom>
          <a:solidFill>
            <a:srgbClr val="FFA63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800"/>
              <a:t>📏</a:t>
            </a:r>
          </a:p>
        </p:txBody>
      </p:sp>
      <p:sp>
        <p:nvSpPr>
          <p:cNvPr id="8" name="TextBox 7"/>
          <p:cNvSpPr txBox="1"/>
          <p:nvPr/>
        </p:nvSpPr>
        <p:spPr>
          <a:xfrm>
            <a:off x="2194560" y="3657600"/>
            <a:ext cx="8503920" cy="868680"/>
          </a:xfrm>
          <a:prstGeom prst="rect">
            <a:avLst/>
          </a:prstGeom>
          <a:noFill/>
        </p:spPr>
        <p:txBody>
          <a:bodyPr wrap="square" anchor="ctr">
            <a:spAutoFit/>
          </a:bodyPr>
          <a:lstStyle/>
          <a:p>
            <a:r>
              <a:rPr sz="1600">
                <a:solidFill>
                  <a:srgbClr val="FFFFFF"/>
                </a:solidFill>
                <a:latin typeface="Calibri"/>
              </a:rPr>
              <a:t>Metrics: occluded-object recall, identity preservation, ghost-track rate, recovery time</a:t>
            </a:r>
          </a:p>
        </p:txBody>
      </p:sp>
      <p:sp>
        <p:nvSpPr>
          <p:cNvPr id="9" name="Oval 8"/>
          <p:cNvSpPr/>
          <p:nvPr/>
        </p:nvSpPr>
        <p:spPr>
          <a:xfrm>
            <a:off x="1463040" y="4800600"/>
            <a:ext cx="502920" cy="502920"/>
          </a:xfrm>
          <a:prstGeom prst="ellipse">
            <a:avLst/>
          </a:prstGeom>
          <a:solidFill>
            <a:srgbClr val="FFA63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800"/>
              <a:t>🎬</a:t>
            </a:r>
          </a:p>
        </p:txBody>
      </p:sp>
      <p:sp>
        <p:nvSpPr>
          <p:cNvPr id="10" name="TextBox 9"/>
          <p:cNvSpPr txBox="1"/>
          <p:nvPr/>
        </p:nvSpPr>
        <p:spPr>
          <a:xfrm>
            <a:off x="2194560" y="4617720"/>
            <a:ext cx="8503920" cy="868680"/>
          </a:xfrm>
          <a:prstGeom prst="rect">
            <a:avLst/>
          </a:prstGeom>
          <a:noFill/>
        </p:spPr>
        <p:txBody>
          <a:bodyPr wrap="square" anchor="ctr">
            <a:spAutoFit/>
          </a:bodyPr>
          <a:lstStyle/>
          <a:p>
            <a:r>
              <a:rPr sz="1600">
                <a:solidFill>
                  <a:srgbClr val="FFFFFF"/>
                </a:solidFill>
                <a:latin typeface="Calibri"/>
              </a:rPr>
              <a:t>Split train / validation / test by scene, not by frame, to avoid leakage</a:t>
            </a:r>
          </a:p>
        </p:txBody>
      </p:sp>
      <p:sp>
        <p:nvSpPr>
          <p:cNvPr id="11" name="TextBox 10"/>
          <p:cNvSpPr txBox="1"/>
          <p:nvPr/>
        </p:nvSpPr>
        <p:spPr>
          <a:xfrm>
            <a:off x="1463040" y="5943600"/>
            <a:ext cx="9262872" cy="640080"/>
          </a:xfrm>
          <a:prstGeom prst="rect">
            <a:avLst/>
          </a:prstGeom>
          <a:noFill/>
        </p:spPr>
        <p:txBody>
          <a:bodyPr wrap="square">
            <a:spAutoFit/>
          </a:bodyPr>
          <a:lstStyle/>
          <a:p>
            <a:pPr algn="ctr"/>
            <a:r>
              <a:rPr sz="2000" b="1" i="0">
                <a:solidFill>
                  <a:srgbClr val="FFA630"/>
                </a:solidFill>
                <a:latin typeface="Cambria"/>
              </a:rPr>
              <a:t>Thank you — questions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