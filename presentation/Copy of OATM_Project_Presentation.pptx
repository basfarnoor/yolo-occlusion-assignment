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82" r:id="rId6"/>
    <p:sldId id="260" r:id="rId7"/>
    <p:sldId id="261" r:id="rId8"/>
    <p:sldId id="283" r:id="rId9"/>
    <p:sldId id="262" r:id="rId10"/>
    <p:sldId id="281" r:id="rId11"/>
    <p:sldId id="263" r:id="rId12"/>
    <p:sldId id="264" r:id="rId13"/>
    <p:sldId id="265" r:id="rId14"/>
    <p:sldId id="266" r:id="rId15"/>
    <p:sldId id="267" r:id="rId16"/>
    <p:sldId id="268" r:id="rId17"/>
    <p:sldId id="269"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576" autoAdjust="0"/>
    <p:restoredTop sz="94660"/>
  </p:normalViewPr>
  <p:slideViewPr>
    <p:cSldViewPr snapToGrid="0" snapToObjects="1">
      <p:cViewPr varScale="1">
        <p:scale>
          <a:sx n="45" d="100"/>
          <a:sy n="45" d="100"/>
        </p:scale>
        <p:origin x="1228" y="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GB" sz="1350" b="1">
                <a:solidFill>
                  <a:srgbClr val="12173A"/>
                </a:solidFill>
              </a:rPr>
              <a:t>Detection rate by stage</a:t>
            </a:r>
          </a:p>
        </c:rich>
      </c:tx>
      <c:overlay val="0"/>
    </c:title>
    <c:autoTitleDeleted val="0"/>
    <c:plotArea>
      <c:layout/>
      <c:barChart>
        <c:barDir val="col"/>
        <c:grouping val="clustered"/>
        <c:varyColors val="1"/>
        <c:ser>
          <c:idx val="0"/>
          <c:order val="0"/>
          <c:tx>
            <c:strRef>
              <c:f>Sheet1!$B$1</c:f>
              <c:strCache>
                <c:ptCount val="1"/>
                <c:pt idx="0">
                  <c:v>Detection rate</c:v>
                </c:pt>
              </c:strCache>
            </c:strRef>
          </c:tx>
          <c:spPr>
            <a:solidFill>
              <a:srgbClr val="1E2761"/>
            </a:solidFill>
          </c:spPr>
          <c:invertIfNegative val="1"/>
          <c:dLbls>
            <c:numFmt formatCode="0%" sourceLinked="0"/>
            <c:spPr>
              <a:noFill/>
              <a:ln>
                <a:noFill/>
              </a:ln>
              <a:effectLst/>
            </c:spPr>
            <c:txPr>
              <a:bodyPr/>
              <a:lstStyle/>
              <a:p>
                <a:pPr>
                  <a:defRPr sz="1250" b="1">
                    <a:solidFill>
                      <a:srgbClr val="12173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No
Occlusion</c:v>
                </c:pt>
                <c:pt idx="1">
                  <c:v>First Partial
Occlusion</c:v>
                </c:pt>
                <c:pt idx="2">
                  <c:v>Full
Occlusion</c:v>
                </c:pt>
                <c:pt idx="3">
                  <c:v>First Partial
Appearance</c:v>
                </c:pt>
                <c:pt idx="4">
                  <c:v>Full
Appearance</c:v>
                </c:pt>
              </c:strCache>
            </c:strRef>
          </c:cat>
          <c:val>
            <c:numRef>
              <c:f>Sheet1!$B$2:$B$6</c:f>
              <c:numCache>
                <c:formatCode>General</c:formatCode>
                <c:ptCount val="5"/>
                <c:pt idx="0">
                  <c:v>1</c:v>
                </c:pt>
                <c:pt idx="1">
                  <c:v>1</c:v>
                </c:pt>
                <c:pt idx="2">
                  <c:v>0.125</c:v>
                </c:pt>
                <c:pt idx="3">
                  <c:v>0.5</c:v>
                </c:pt>
                <c:pt idx="4">
                  <c:v>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3552-4E68-A8CF-E42B63AD37F8}"/>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DE2F0"/>
            </a:solidFill>
          </a:ln>
        </c:spPr>
        <c:txPr>
          <a:bodyPr/>
          <a:lstStyle/>
          <a:p>
            <a:pPr>
              <a:defRPr sz="1150">
                <a:solidFill>
                  <a:srgbClr val="2E3348"/>
                </a:solidFill>
              </a:defRPr>
            </a:pPr>
            <a:endParaRPr lang="en-US"/>
          </a:p>
        </c:txPr>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GB" sz="1350" b="1">
                <a:solidFill>
                  <a:srgbClr val="12173A"/>
                </a:solidFill>
              </a:rPr>
              <a:t>Mean confidence by stage (0 = undetected)</a:t>
            </a:r>
          </a:p>
        </c:rich>
      </c:tx>
      <c:overlay val="0"/>
    </c:title>
    <c:autoTitleDeleted val="0"/>
    <c:plotArea>
      <c:layout/>
      <c:barChart>
        <c:barDir val="col"/>
        <c:grouping val="clustered"/>
        <c:varyColors val="1"/>
        <c:ser>
          <c:idx val="0"/>
          <c:order val="0"/>
          <c:tx>
            <c:strRef>
              <c:f>Sheet1!$B$1</c:f>
              <c:strCache>
                <c:ptCount val="1"/>
                <c:pt idx="0">
                  <c:v>Mean confidence</c:v>
                </c:pt>
              </c:strCache>
            </c:strRef>
          </c:tx>
          <c:spPr>
            <a:solidFill>
              <a:srgbClr val="FFA630"/>
            </a:solidFill>
          </c:spPr>
          <c:invertIfNegative val="1"/>
          <c:dLbls>
            <c:numFmt formatCode="0.00" sourceLinked="0"/>
            <c:spPr>
              <a:noFill/>
              <a:ln>
                <a:noFill/>
              </a:ln>
              <a:effectLst/>
            </c:spPr>
            <c:txPr>
              <a:bodyPr/>
              <a:lstStyle/>
              <a:p>
                <a:pPr>
                  <a:defRPr sz="1250" b="1">
                    <a:solidFill>
                      <a:srgbClr val="12173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No
Occlusion</c:v>
                </c:pt>
                <c:pt idx="1">
                  <c:v>First Partial
Occlusion</c:v>
                </c:pt>
                <c:pt idx="2">
                  <c:v>Full
Occlusion</c:v>
                </c:pt>
                <c:pt idx="3">
                  <c:v>First Partial
Appearance</c:v>
                </c:pt>
                <c:pt idx="4">
                  <c:v>Full
Appearance</c:v>
                </c:pt>
              </c:strCache>
            </c:strRef>
          </c:cat>
          <c:val>
            <c:numRef>
              <c:f>Sheet1!$B$2:$B$6</c:f>
              <c:numCache>
                <c:formatCode>General</c:formatCode>
                <c:ptCount val="5"/>
                <c:pt idx="0">
                  <c:v>0.77400000000000002</c:v>
                </c:pt>
                <c:pt idx="1">
                  <c:v>0.58699999999999997</c:v>
                </c:pt>
                <c:pt idx="2">
                  <c:v>2.9000000000000001E-2</c:v>
                </c:pt>
                <c:pt idx="3">
                  <c:v>0.42499999999999999</c:v>
                </c:pt>
                <c:pt idx="4">
                  <c:v>0.84499999999999997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B5F0-4CB3-BD03-6E770DBB5F9B}"/>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DE2F0"/>
            </a:solidFill>
          </a:ln>
        </c:spPr>
        <c:txPr>
          <a:bodyPr/>
          <a:lstStyle/>
          <a:p>
            <a:pPr>
              <a:defRPr sz="1150">
                <a:solidFill>
                  <a:srgbClr val="2E3348"/>
                </a:solidFill>
              </a:defRPr>
            </a:pPr>
            <a:endParaRPr lang="en-US"/>
          </a:p>
        </c:txPr>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GB" sz="1350" b="1">
                <a:solidFill>
                  <a:srgbClr val="12173A"/>
                </a:solidFill>
              </a:rPr>
              <a:t>Center error by gap length (px)</a:t>
            </a:r>
          </a:p>
        </c:rich>
      </c:tx>
      <c:overlay val="0"/>
    </c:title>
    <c:autoTitleDeleted val="0"/>
    <c:plotArea>
      <c:layout/>
      <c:barChart>
        <c:barDir val="col"/>
        <c:grouping val="clustered"/>
        <c:varyColors val="1"/>
        <c:ser>
          <c:idx val="0"/>
          <c:order val="0"/>
          <c:tx>
            <c:strRef>
              <c:f>Sheet1!$B$1</c:f>
              <c:strCache>
                <c:ptCount val="1"/>
                <c:pt idx="0">
                  <c:v>Static memory</c:v>
                </c:pt>
              </c:strCache>
            </c:strRef>
          </c:tx>
          <c:spPr>
            <a:solidFill>
              <a:srgbClr val="69728C"/>
            </a:solidFill>
          </c:spPr>
          <c:invertIfNegative val="1"/>
          <c:cat>
            <c:strRef>
              <c:f>Sheet1!$A$2:$A$7</c:f>
              <c:strCache>
                <c:ptCount val="6"/>
                <c:pt idx="0">
                  <c:v>1</c:v>
                </c:pt>
                <c:pt idx="1">
                  <c:v>2</c:v>
                </c:pt>
                <c:pt idx="2">
                  <c:v>3</c:v>
                </c:pt>
                <c:pt idx="3">
                  <c:v>5</c:v>
                </c:pt>
                <c:pt idx="4">
                  <c:v>8</c:v>
                </c:pt>
                <c:pt idx="5">
                  <c:v>10</c:v>
                </c:pt>
              </c:strCache>
            </c:strRef>
          </c:cat>
          <c:val>
            <c:numRef>
              <c:f>Sheet1!$B$2:$B$7</c:f>
              <c:numCache>
                <c:formatCode>General</c:formatCode>
                <c:ptCount val="6"/>
                <c:pt idx="0">
                  <c:v>12.778</c:v>
                </c:pt>
                <c:pt idx="1">
                  <c:v>16.152000000000001</c:v>
                </c:pt>
                <c:pt idx="2">
                  <c:v>22.286000000000001</c:v>
                </c:pt>
                <c:pt idx="3">
                  <c:v>34.21</c:v>
                </c:pt>
                <c:pt idx="4">
                  <c:v>51.616</c:v>
                </c:pt>
                <c:pt idx="5">
                  <c:v>64.484999999999999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9AF-4218-8836-6A2C76606210}"/>
            </c:ext>
          </c:extLst>
        </c:ser>
        <c:ser>
          <c:idx val="1"/>
          <c:order val="1"/>
          <c:tx>
            <c:strRef>
              <c:f>Sheet1!$C$1</c:f>
              <c:strCache>
                <c:ptCount val="1"/>
                <c:pt idx="0">
                  <c:v>SORT motion</c:v>
                </c:pt>
              </c:strCache>
            </c:strRef>
          </c:tx>
          <c:spPr>
            <a:solidFill>
              <a:srgbClr val="FFA630"/>
            </a:solidFill>
          </c:spPr>
          <c:invertIfNegative val="1"/>
          <c:cat>
            <c:strRef>
              <c:f>Sheet1!$A$2:$A$7</c:f>
              <c:strCache>
                <c:ptCount val="6"/>
                <c:pt idx="0">
                  <c:v>1</c:v>
                </c:pt>
                <c:pt idx="1">
                  <c:v>2</c:v>
                </c:pt>
                <c:pt idx="2">
                  <c:v>3</c:v>
                </c:pt>
                <c:pt idx="3">
                  <c:v>5</c:v>
                </c:pt>
                <c:pt idx="4">
                  <c:v>8</c:v>
                </c:pt>
                <c:pt idx="5">
                  <c:v>10</c:v>
                </c:pt>
              </c:strCache>
            </c:strRef>
          </c:cat>
          <c:val>
            <c:numRef>
              <c:f>Sheet1!$C$2:$C$7</c:f>
              <c:numCache>
                <c:formatCode>General</c:formatCode>
                <c:ptCount val="6"/>
                <c:pt idx="0">
                  <c:v>3.472</c:v>
                </c:pt>
                <c:pt idx="1">
                  <c:v>3.3</c:v>
                </c:pt>
                <c:pt idx="2">
                  <c:v>4.5880000000000001</c:v>
                </c:pt>
                <c:pt idx="3">
                  <c:v>6.5030000000000001</c:v>
                </c:pt>
                <c:pt idx="4">
                  <c:v>14.295</c:v>
                </c:pt>
                <c:pt idx="5">
                  <c:v>31.329000000000001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F9AF-4218-8836-6A2C76606210}"/>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DE2F0"/>
            </a:solidFill>
          </a:ln>
        </c:spPr>
        <c:txPr>
          <a:bodyPr/>
          <a:lstStyle/>
          <a:p>
            <a:pPr>
              <a:defRPr sz="1050">
                <a:solidFill>
                  <a:srgbClr val="2E3348"/>
                </a:solidFill>
              </a:defRPr>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extTo"/>
        <c:txPr>
          <a:bodyPr/>
          <a:lstStyle/>
          <a:p>
            <a:pPr>
              <a:defRPr sz="950"/>
            </a:pPr>
            <a:endParaRPr lang="en-US"/>
          </a:p>
        </c:txPr>
        <c:crossAx val="-2068027336"/>
        <c:crosses val="autoZero"/>
        <c:crossBetween val="between"/>
      </c:valAx>
    </c:plotArea>
    <c:legend>
      <c:legendPos val="b"/>
      <c:overlay val="0"/>
      <c:txPr>
        <a:bodyPr/>
        <a:lstStyle/>
        <a:p>
          <a:pPr>
            <a:defRPr sz="1050"/>
          </a:pPr>
          <a:endParaRPr lang="en-US"/>
        </a:p>
      </c:txPr>
    </c:legend>
    <c:plotVisOnly val="1"/>
    <c:dispBlanksAs val="gap"/>
    <c:showDLblsOverMax val="1"/>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GB" sz="1350" b="1">
                <a:solidFill>
                  <a:srgbClr val="12173A"/>
                </a:solidFill>
              </a:rPr>
              <a:t>Mean IoU by gap length</a:t>
            </a:r>
          </a:p>
        </c:rich>
      </c:tx>
      <c:overlay val="0"/>
    </c:title>
    <c:autoTitleDeleted val="0"/>
    <c:plotArea>
      <c:layout/>
      <c:barChart>
        <c:barDir val="col"/>
        <c:grouping val="clustered"/>
        <c:varyColors val="1"/>
        <c:ser>
          <c:idx val="0"/>
          <c:order val="0"/>
          <c:tx>
            <c:strRef>
              <c:f>Sheet1!$B$1</c:f>
              <c:strCache>
                <c:ptCount val="1"/>
                <c:pt idx="0">
                  <c:v>Static memory</c:v>
                </c:pt>
              </c:strCache>
            </c:strRef>
          </c:tx>
          <c:spPr>
            <a:solidFill>
              <a:srgbClr val="69728C"/>
            </a:solidFill>
          </c:spPr>
          <c:invertIfNegative val="1"/>
          <c:cat>
            <c:strRef>
              <c:f>Sheet1!$A$2:$A$7</c:f>
              <c:strCache>
                <c:ptCount val="6"/>
                <c:pt idx="0">
                  <c:v>1</c:v>
                </c:pt>
                <c:pt idx="1">
                  <c:v>2</c:v>
                </c:pt>
                <c:pt idx="2">
                  <c:v>3</c:v>
                </c:pt>
                <c:pt idx="3">
                  <c:v>5</c:v>
                </c:pt>
                <c:pt idx="4">
                  <c:v>8</c:v>
                </c:pt>
                <c:pt idx="5">
                  <c:v>10</c:v>
                </c:pt>
              </c:strCache>
            </c:strRef>
          </c:cat>
          <c:val>
            <c:numRef>
              <c:f>Sheet1!$B$2:$B$7</c:f>
              <c:numCache>
                <c:formatCode>General</c:formatCode>
                <c:ptCount val="6"/>
                <c:pt idx="0">
                  <c:v>0.88700000000000001</c:v>
                </c:pt>
                <c:pt idx="1">
                  <c:v>0.86</c:v>
                </c:pt>
                <c:pt idx="2">
                  <c:v>0.81699999999999995</c:v>
                </c:pt>
                <c:pt idx="3">
                  <c:v>0.73699999999999999</c:v>
                </c:pt>
                <c:pt idx="4">
                  <c:v>0.628</c:v>
                </c:pt>
                <c:pt idx="5">
                  <c:v>0.57499999999999996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52C3-4D31-879B-C11B8300A7F5}"/>
            </c:ext>
          </c:extLst>
        </c:ser>
        <c:ser>
          <c:idx val="1"/>
          <c:order val="1"/>
          <c:tx>
            <c:strRef>
              <c:f>Sheet1!$C$1</c:f>
              <c:strCache>
                <c:ptCount val="1"/>
                <c:pt idx="0">
                  <c:v>SORT motion</c:v>
                </c:pt>
              </c:strCache>
            </c:strRef>
          </c:tx>
          <c:spPr>
            <a:solidFill>
              <a:srgbClr val="FFA630"/>
            </a:solidFill>
          </c:spPr>
          <c:invertIfNegative val="1"/>
          <c:cat>
            <c:strRef>
              <c:f>Sheet1!$A$2:$A$7</c:f>
              <c:strCache>
                <c:ptCount val="6"/>
                <c:pt idx="0">
                  <c:v>1</c:v>
                </c:pt>
                <c:pt idx="1">
                  <c:v>2</c:v>
                </c:pt>
                <c:pt idx="2">
                  <c:v>3</c:v>
                </c:pt>
                <c:pt idx="3">
                  <c:v>5</c:v>
                </c:pt>
                <c:pt idx="4">
                  <c:v>8</c:v>
                </c:pt>
                <c:pt idx="5">
                  <c:v>10</c:v>
                </c:pt>
              </c:strCache>
            </c:strRef>
          </c:cat>
          <c:val>
            <c:numRef>
              <c:f>Sheet1!$C$2:$C$7</c:f>
              <c:numCache>
                <c:formatCode>General</c:formatCode>
                <c:ptCount val="6"/>
                <c:pt idx="0">
                  <c:v>0.92100000000000004</c:v>
                </c:pt>
                <c:pt idx="1">
                  <c:v>0.90500000000000003</c:v>
                </c:pt>
                <c:pt idx="2">
                  <c:v>0.88200000000000001</c:v>
                </c:pt>
                <c:pt idx="3">
                  <c:v>0.83799999999999997</c:v>
                </c:pt>
                <c:pt idx="4">
                  <c:v>0.70199999999999996</c:v>
                </c:pt>
                <c:pt idx="5">
                  <c:v>0.56999999999999995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52C3-4D31-879B-C11B8300A7F5}"/>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DE2F0"/>
            </a:solidFill>
          </a:ln>
        </c:spPr>
        <c:txPr>
          <a:bodyPr/>
          <a:lstStyle/>
          <a:p>
            <a:pPr>
              <a:defRPr sz="1050">
                <a:solidFill>
                  <a:srgbClr val="2E3348"/>
                </a:solidFill>
              </a:defRPr>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extTo"/>
        <c:txPr>
          <a:bodyPr/>
          <a:lstStyle/>
          <a:p>
            <a:pPr>
              <a:defRPr sz="950"/>
            </a:pPr>
            <a:endParaRPr lang="en-US"/>
          </a:p>
        </c:txPr>
        <c:crossAx val="-2068027336"/>
        <c:crosses val="autoZero"/>
        <c:crossBetween val="between"/>
      </c:valAx>
    </c:plotArea>
    <c:legend>
      <c:legendPos val="b"/>
      <c:overlay val="0"/>
      <c:txPr>
        <a:bodyPr/>
        <a:lstStyle/>
        <a:p>
          <a:pPr>
            <a:defRPr sz="1050"/>
          </a:pPr>
          <a:endParaRPr lang="en-US"/>
        </a:p>
      </c:txPr>
    </c:legend>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1901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follows straight after your hook - it's the reveal of what the project actually is. Introduce the project over the real dashcam frame: this is about helping self-driving car cameras keep track of road users even when something briefly blocks the view.</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this one real example frame by frame: the car is visible, then fully hidden behind other traffic, then reappears further down the road. Point out that most detectors process the middle frame in total isolation - to them, the car simply doesn't exist for that instant. That's the core problem this whole project is about.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 upfront about scope before going further: this is nuScenes, and specifically only the forward-facing camera - no LiDAR, no side/rear cameras, no sensor fusion feeding the detector. That's a deliberate simplification to keep the study laptop-scale and focused purely on the occlusion-memory question. The payoff comes later - nuScenes' LiDAR and 3D annotations aren't part of detection, but they become the independent ground truth used to evaluate OATM, which is the next thing after the design slide.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State the research question plainly and pause on it. This is the question the whole project is trying to answer, and the hypothesis is what we expect but haven't yet proven.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Baseline setup: a plain, off-the-shelf YOLO detector, no memory at all. Point at the photo - that's the actual failure, a real frame where the detector produced zero boxes for the hidden target, not a simulated one. Detection rate stays perfect through partial occlusion then falls off a cliff at full occlusion. Confidence erodes before detection technically fails, and recovers once visible again.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naive fix: just freeze the last box while the target is hidden. Orange is the frozen memory box, green is the real detection once the object reappears. Best case they nearly line up; worst case the frozen box is nowhere near the real car. Not cherry-picked - all 5 valid samples follow the same pattern, mean error 331px, 3 of 5 with zero overlap at all.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Motion prediction beats a frozen box clearly - 46px down to 17px, IoU up from 0.673 to 0.720. But say the catch out loud: almost the whole win comes from 2 of 9 tracks, the reference boxes aren't fully independent, and long gaps bypass the tracker's own expiry rule. A real result, not yet a fully validated one.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pivot of the whole talk. First state the diagnosis: naive memory fails because it ignores motion, and even real motion prediction (as just shown) only helps partially. Then name the gap in every existing lightweight method - none of them combine occlusion-causality reasoning, motion prediction, and confidence decay. That's the bridge into the OATM design on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OATM's core mechanism, and be specific about the motion half since that's the part judges will probe: it's not a vague promise, it's the same predict-observe-correct Kalman loop already built and tested in Evidence 3 - just corrected to use an independent reference box and to actually enforce track-expiry, the two flaws that experiment exposed. Appearance memory (last clear crop) handles re-identification; motion memory (position + velocity) handles where to look. The occlusion classifier decides how much to trust the motion prediction at any moment, and confidence decays smoothly rather than on a fixed timer. Be clear this is the proposed design - it has not been implemented or benchmarked yet, that's the next phase.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answer to 'how will you actually know OATM is right.' The key move: ground truth comes from LiDAR and the 3D box annotations, not from another camera-derived tracker - so it isn't circular the way the SORT experiment's evaluation was. The front camera is blind during occlusion by design; LiDAR isn't, so it gives an independent check on whether OATM's predicted position is actually correct, not just self-consistent.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Position OATM against the alternatives already used in the field. The point isn't that the others are bad - it's that none of them explicitly reason about *why* an object disappeared, which is what OATM adds. Reiterate that this row is a design claim to be tested, not a measured result.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with the roadmap: this baseline experiment was step one, the frozen-memory experiment was step two, the SORT test was step three. Next comes fixing the SORT experiment's methodology, building proper test sets, implementing OATM itself, and comparing it fairly against existing tracking methods. Also flag scope: everything so far has been vehicles - pedestrians and other vulnerable road users are the next class to extend to, since that's arguably the higher-stakes case. Open the floor for questions.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for Q&amp;A - full reading list behind the project. One caveat for your own awareness: the author list for the first entry (the dual-appearance / DADA-Track paper) came from a secondary search result rather than a directly verified page, since the publisher page blocked direct access - worth a quick manual check against the actual journal listing before you present this, just to be safe. Everything else was verified against the source page or a well-corroborated listing.</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07A7F-9385-9E45-C99E-FFE580A371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73258E-C9F5-91E9-0CD7-E96423BC21E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36CFA14-58A3-CBBC-79A0-78AF0BE1F844}"/>
              </a:ext>
            </a:extLst>
          </p:cNvPr>
          <p:cNvSpPr>
            <a:spLocks noGrp="1"/>
          </p:cNvSpPr>
          <p:nvPr>
            <p:ph type="body" sz="quarter" idx="3"/>
          </p:nvPr>
        </p:nvSpPr>
        <p:spPr/>
        <p:txBody>
          <a:bodyPr/>
          <a:lstStyle/>
          <a:p>
            <a:r>
              <a:t>Close with the roadmap: this baseline experiment was step one, the frozen-memory experiment was step two, the SORT test was step three. Next comes fixing the SORT experiment's methodology, building proper test sets, implementing OATM itself, and comparing it fairly against existing tracking methods. Also flag scope: everything so far has been vehicles - pedestrians and other vulnerable road users are the next class to extend to, since that's arguably the higher-stakes case. Open the floor for questions.</a:t>
            </a:r>
          </a:p>
        </p:txBody>
      </p:sp>
      <p:sp>
        <p:nvSpPr>
          <p:cNvPr id="4" name="Slide Number Placeholder 3">
            <a:extLst>
              <a:ext uri="{FF2B5EF4-FFF2-40B4-BE49-F238E27FC236}">
                <a16:creationId xmlns:a16="http://schemas.microsoft.com/office/drawing/2014/main" id="{C9973212-7C3E-E335-A130-82616FF944E8}"/>
              </a:ext>
            </a:extLst>
          </p:cNvPr>
          <p:cNvSpPr>
            <a:spLocks noGrp="1"/>
          </p:cNvSpPr>
          <p:nvPr>
            <p:ph type="sldNum" sz="quarter" idx="5"/>
          </p:nvPr>
        </p:nvSpPr>
        <p:spPr/>
      </p:sp>
    </p:spTree>
    <p:extLst>
      <p:ext uri="{BB962C8B-B14F-4D97-AF65-F5344CB8AC3E}">
        <p14:creationId xmlns:p14="http://schemas.microsoft.com/office/powerpoint/2010/main" val="587597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2.jpg"/><Relationship Id="rId5"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image" Target="../media/image6.jpg"/><Relationship Id="rId6" Type="http://schemas.openxmlformats.org/officeDocument/2006/relationships/image" Target="../media/image7.jpg"/><Relationship Id="rId7"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0.jpg"/><Relationship Id="rId4" Type="http://schemas.openxmlformats.org/officeDocument/2006/relationships/image" Target="../media/image1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3.xml"/><Relationship Id="rId4" Type="http://schemas.openxmlformats.org/officeDocument/2006/relationships/chart" Target="../charts/char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173A"/>
        </a:solidFill>
        <a:effectLst/>
      </p:bgPr>
    </p:bg>
    <p:spTree>
      <p:nvGrpSpPr>
        <p:cNvPr id="1" name=""/>
        <p:cNvGrpSpPr/>
        <p:nvPr/>
      </p:nvGrpSpPr>
      <p:grpSpPr>
        <a:xfrm>
          <a:off x="0" y="0"/>
          <a:ext cx="0" cy="0"/>
          <a:chOff x="0" y="0"/>
          <a:chExt cx="0" cy="0"/>
        </a:xfrm>
      </p:grpSpPr>
      <p:pic>
        <p:nvPicPr>
          <p:cNvPr id="2" name="Picture 1" descr="1_previous_no_occlusion.jpg"/>
          <p:cNvPicPr>
            <a:picLocks noChangeAspect="1"/>
          </p:cNvPicPr>
          <p:nvPr/>
        </p:nvPicPr>
        <p:blipFill>
          <a:blip r:embed="rId3"/>
          <a:stretch>
            <a:fillRect/>
          </a:stretch>
        </p:blipFill>
        <p:spPr>
          <a:xfrm>
            <a:off x="0" y="0"/>
            <a:ext cx="12191695" cy="6858000"/>
          </a:xfrm>
          <a:prstGeom prst="rect">
            <a:avLst/>
          </a:prstGeom>
          <a:ln w="9525">
            <a:solidFill>
              <a:srgbClr val="DDE2F0"/>
            </a:solidFill>
          </a:ln>
        </p:spPr>
      </p:pic>
      <p:sp>
        <p:nvSpPr>
          <p:cNvPr id="3" name="Rectangle 2"/>
          <p:cNvSpPr/>
          <p:nvPr/>
        </p:nvSpPr>
        <p:spPr>
          <a:xfrm>
            <a:off x="0" y="0"/>
            <a:ext cx="12191695" cy="6858000"/>
          </a:xfrm>
          <a:prstGeom prst="rect">
            <a:avLst/>
          </a:prstGeom>
          <a:solidFill>
            <a:srgbClr val="12173A">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3291840"/>
            <a:ext cx="12191695" cy="3566160"/>
          </a:xfrm>
          <a:prstGeom prst="rect">
            <a:avLst/>
          </a:prstGeom>
          <a:solidFill>
            <a:srgbClr val="12173A">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502920"/>
            <a:ext cx="7315200" cy="320040"/>
          </a:xfrm>
          <a:prstGeom prst="rect">
            <a:avLst/>
          </a:prstGeom>
          <a:noFill/>
        </p:spPr>
        <p:txBody>
          <a:bodyPr wrap="square">
            <a:spAutoFit/>
          </a:bodyPr>
          <a:lstStyle/>
          <a:p>
            <a:pPr algn="l"/>
            <a:r>
              <a:rPr sz="1400" b="1" i="0">
                <a:solidFill>
                  <a:srgbClr val="FFA630"/>
                </a:solidFill>
                <a:latin typeface="Calibri"/>
              </a:rPr>
              <a:t>SRSI RESEARCH PROJECT</a:t>
            </a:r>
          </a:p>
        </p:txBody>
      </p:sp>
      <p:sp>
        <p:nvSpPr>
          <p:cNvPr id="6" name="Rectangle 5"/>
          <p:cNvSpPr/>
          <p:nvPr/>
        </p:nvSpPr>
        <p:spPr>
          <a:xfrm>
            <a:off x="914400" y="3794760"/>
            <a:ext cx="64008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3977639"/>
            <a:ext cx="10360152" cy="1005840"/>
          </a:xfrm>
          <a:prstGeom prst="rect">
            <a:avLst/>
          </a:prstGeom>
          <a:noFill/>
        </p:spPr>
        <p:txBody>
          <a:bodyPr wrap="square">
            <a:spAutoFit/>
          </a:bodyPr>
          <a:lstStyle/>
          <a:p>
            <a:pPr algn="l"/>
            <a:r>
              <a:rPr sz="4000" b="1" i="0">
                <a:solidFill>
                  <a:srgbClr val="FFFFFF"/>
                </a:solidFill>
                <a:latin typeface="Cambria"/>
              </a:rPr>
              <a:t>Occlusion-Adaptive Temporal Memory</a:t>
            </a:r>
          </a:p>
        </p:txBody>
      </p:sp>
      <p:sp>
        <p:nvSpPr>
          <p:cNvPr id="8" name="TextBox 7"/>
          <p:cNvSpPr txBox="1"/>
          <p:nvPr/>
        </p:nvSpPr>
        <p:spPr>
          <a:xfrm>
            <a:off x="914400" y="4892040"/>
            <a:ext cx="9445752" cy="548640"/>
          </a:xfrm>
          <a:prstGeom prst="rect">
            <a:avLst/>
          </a:prstGeom>
          <a:noFill/>
        </p:spPr>
        <p:txBody>
          <a:bodyPr wrap="square">
            <a:spAutoFit/>
          </a:bodyPr>
          <a:lstStyle/>
          <a:p>
            <a:pPr algn="l"/>
            <a:r>
              <a:rPr sz="1900" b="0" i="1">
                <a:solidFill>
                  <a:srgbClr val="CADCFC"/>
                </a:solidFill>
                <a:latin typeface="Calibri"/>
              </a:rPr>
              <a:t>A temporal video understanding framework for occlusion reasoning in autonomous vehicle perception</a:t>
            </a:r>
          </a:p>
        </p:txBody>
      </p:sp>
      <p:sp>
        <p:nvSpPr>
          <p:cNvPr id="9" name="TextBox 8"/>
          <p:cNvSpPr txBox="1"/>
          <p:nvPr/>
        </p:nvSpPr>
        <p:spPr>
          <a:xfrm>
            <a:off x="914400" y="6029747"/>
            <a:ext cx="8702802" cy="307777"/>
          </a:xfrm>
          <a:prstGeom prst="rect">
            <a:avLst/>
          </a:prstGeom>
          <a:noFill/>
        </p:spPr>
        <p:txBody>
          <a:bodyPr wrap="square">
            <a:spAutoFit/>
          </a:bodyPr>
          <a:lstStyle/>
          <a:p>
            <a:pPr algn="l"/>
            <a:r>
              <a:rPr lang="en-GB" sz="1400" b="0" i="0" dirty="0">
                <a:solidFill>
                  <a:srgbClr val="69728C"/>
                </a:solidFill>
                <a:latin typeface="Calibri"/>
              </a:rPr>
              <a:t>Noor </a:t>
            </a:r>
            <a:r>
              <a:rPr lang="en-GB" sz="1400" b="0" i="0" dirty="0" err="1">
                <a:solidFill>
                  <a:srgbClr val="69728C"/>
                </a:solidFill>
                <a:latin typeface="Calibri"/>
              </a:rPr>
              <a:t>Basfar</a:t>
            </a:r>
            <a:r>
              <a:rPr lang="en-GB" sz="1400" b="0" i="0" dirty="0">
                <a:solidFill>
                  <a:srgbClr val="69728C"/>
                </a:solidFill>
                <a:latin typeface="Calibri"/>
              </a:rPr>
              <a:t> </a:t>
            </a:r>
            <a:endParaRPr sz="1400" b="0" i="0" dirty="0">
              <a:solidFill>
                <a:srgbClr val="69728C"/>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573025"/>
            <a:ext cx="7315200" cy="320040"/>
          </a:xfrm>
          <a:prstGeom prst="rect">
            <a:avLst/>
          </a:prstGeom>
          <a:noFill/>
        </p:spPr>
        <p:txBody>
          <a:bodyPr wrap="square">
            <a:spAutoFit/>
          </a:bodyPr>
          <a:lstStyle/>
          <a:p>
            <a:pPr algn="l"/>
            <a:r>
              <a:rPr sz="1300" b="1" i="0" dirty="0">
                <a:solidFill>
                  <a:srgbClr val="FFA630"/>
                </a:solidFill>
                <a:latin typeface="Calibri"/>
              </a:rPr>
              <a:t>THE PROBLEM IN AUTONOMOUS DRIVING</a:t>
            </a:r>
          </a:p>
        </p:txBody>
      </p:sp>
      <p:sp>
        <p:nvSpPr>
          <p:cNvPr id="3" name="TextBox 2"/>
          <p:cNvSpPr txBox="1"/>
          <p:nvPr/>
        </p:nvSpPr>
        <p:spPr>
          <a:xfrm>
            <a:off x="685800" y="893254"/>
            <a:ext cx="10881360" cy="640080"/>
          </a:xfrm>
          <a:prstGeom prst="rect">
            <a:avLst/>
          </a:prstGeom>
          <a:noFill/>
        </p:spPr>
        <p:txBody>
          <a:bodyPr wrap="square">
            <a:spAutoFit/>
          </a:bodyPr>
          <a:lstStyle/>
          <a:p>
            <a:pPr algn="l"/>
            <a:r>
              <a:rPr sz="2600" b="1" i="0" dirty="0">
                <a:solidFill>
                  <a:srgbClr val="12173A"/>
                </a:solidFill>
                <a:latin typeface="Cambria"/>
              </a:rPr>
              <a:t>Single-Frame Detection Lacks Temporal Understanding</a:t>
            </a:r>
          </a:p>
        </p:txBody>
      </p:sp>
      <p:sp>
        <p:nvSpPr>
          <p:cNvPr id="4" name="Rectangle 3"/>
          <p:cNvSpPr/>
          <p:nvPr/>
        </p:nvSpPr>
        <p:spPr>
          <a:xfrm>
            <a:off x="640080" y="1573547"/>
            <a:ext cx="50292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1_previous_no_occlusion.jpg"/>
          <p:cNvPicPr>
            <a:picLocks noChangeAspect="1"/>
          </p:cNvPicPr>
          <p:nvPr/>
        </p:nvPicPr>
        <p:blipFill>
          <a:blip r:embed="rId3"/>
          <a:stretch>
            <a:fillRect/>
          </a:stretch>
        </p:blipFill>
        <p:spPr>
          <a:xfrm>
            <a:off x="640080" y="2244137"/>
            <a:ext cx="3429000" cy="1928812"/>
          </a:xfrm>
          <a:prstGeom prst="rect">
            <a:avLst/>
          </a:prstGeom>
          <a:ln w="9525">
            <a:solidFill>
              <a:srgbClr val="DDE2F0"/>
            </a:solidFill>
          </a:ln>
          <a:effectLst>
            <a:outerShdw blurRad="177800" dist="50800" dir="2700000" rotWithShape="0">
              <a:srgbClr val="12173A">
                <a:alpha val="32000"/>
              </a:srgbClr>
            </a:outerShdw>
          </a:effectLst>
        </p:spPr>
      </p:pic>
      <p:sp>
        <p:nvSpPr>
          <p:cNvPr id="6" name="Rounded Rectangle 5"/>
          <p:cNvSpPr/>
          <p:nvPr/>
        </p:nvSpPr>
        <p:spPr>
          <a:xfrm>
            <a:off x="1623060" y="1837229"/>
            <a:ext cx="1463040" cy="384048"/>
          </a:xfrm>
          <a:prstGeom prst="roundRect">
            <a:avLst>
              <a:gd name="adj" fmla="val 50000"/>
            </a:avLst>
          </a:prstGeom>
          <a:solidFill>
            <a:srgbClr val="12173A"/>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100" b="1">
                <a:solidFill>
                  <a:srgbClr val="FFFFFF"/>
                </a:solidFill>
                <a:latin typeface="Calibri"/>
              </a:rPr>
              <a:t>BEFORE</a:t>
            </a:r>
          </a:p>
        </p:txBody>
      </p:sp>
      <p:sp>
        <p:nvSpPr>
          <p:cNvPr id="7" name="TextBox 6"/>
          <p:cNvSpPr txBox="1"/>
          <p:nvPr/>
        </p:nvSpPr>
        <p:spPr>
          <a:xfrm>
            <a:off x="640080" y="4282677"/>
            <a:ext cx="3429000" cy="365760"/>
          </a:xfrm>
          <a:prstGeom prst="rect">
            <a:avLst/>
          </a:prstGeom>
          <a:noFill/>
        </p:spPr>
        <p:txBody>
          <a:bodyPr wrap="square">
            <a:spAutoFit/>
          </a:bodyPr>
          <a:lstStyle/>
          <a:p>
            <a:pPr algn="ctr"/>
            <a:r>
              <a:rPr sz="1300" b="0" i="0">
                <a:solidFill>
                  <a:srgbClr val="69728C"/>
                </a:solidFill>
                <a:latin typeface="Calibri"/>
              </a:rPr>
              <a:t>Car clearly visible</a:t>
            </a:r>
          </a:p>
        </p:txBody>
      </p:sp>
      <p:pic>
        <p:nvPicPr>
          <p:cNvPr id="8" name="Picture 7" descr="3_full_occlusion.jpg"/>
          <p:cNvPicPr>
            <a:picLocks noChangeAspect="1"/>
          </p:cNvPicPr>
          <p:nvPr/>
        </p:nvPicPr>
        <p:blipFill>
          <a:blip r:embed="rId4"/>
          <a:stretch>
            <a:fillRect/>
          </a:stretch>
        </p:blipFill>
        <p:spPr>
          <a:xfrm>
            <a:off x="4389120" y="2244137"/>
            <a:ext cx="3429000" cy="1928812"/>
          </a:xfrm>
          <a:prstGeom prst="rect">
            <a:avLst/>
          </a:prstGeom>
          <a:ln w="9525">
            <a:solidFill>
              <a:srgbClr val="DDE2F0"/>
            </a:solidFill>
          </a:ln>
          <a:effectLst>
            <a:outerShdw blurRad="177800" dist="50800" dir="2700000" rotWithShape="0">
              <a:srgbClr val="12173A">
                <a:alpha val="32000"/>
              </a:srgbClr>
            </a:outerShdw>
          </a:effectLst>
        </p:spPr>
      </p:pic>
      <p:sp>
        <p:nvSpPr>
          <p:cNvPr id="9" name="Rounded Rectangle 8"/>
          <p:cNvSpPr/>
          <p:nvPr/>
        </p:nvSpPr>
        <p:spPr>
          <a:xfrm>
            <a:off x="5332095" y="1850944"/>
            <a:ext cx="1463040" cy="384048"/>
          </a:xfrm>
          <a:prstGeom prst="roundRect">
            <a:avLst>
              <a:gd name="adj" fmla="val 50000"/>
            </a:avLst>
          </a:prstGeom>
          <a:solidFill>
            <a:srgbClr val="E0841C"/>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100" b="1">
                <a:solidFill>
                  <a:srgbClr val="FFFFFF"/>
                </a:solidFill>
                <a:latin typeface="Calibri"/>
              </a:rPr>
              <a:t>OCCLUDED</a:t>
            </a:r>
          </a:p>
        </p:txBody>
      </p:sp>
      <p:sp>
        <p:nvSpPr>
          <p:cNvPr id="10" name="TextBox 9"/>
          <p:cNvSpPr txBox="1"/>
          <p:nvPr/>
        </p:nvSpPr>
        <p:spPr>
          <a:xfrm>
            <a:off x="4389120" y="4282677"/>
            <a:ext cx="3429000" cy="365760"/>
          </a:xfrm>
          <a:prstGeom prst="rect">
            <a:avLst/>
          </a:prstGeom>
          <a:noFill/>
        </p:spPr>
        <p:txBody>
          <a:bodyPr wrap="square">
            <a:spAutoFit/>
          </a:bodyPr>
          <a:lstStyle/>
          <a:p>
            <a:pPr algn="ctr"/>
            <a:r>
              <a:rPr sz="1300" b="0" i="0">
                <a:solidFill>
                  <a:srgbClr val="69728C"/>
                </a:solidFill>
                <a:latin typeface="Calibri"/>
              </a:rPr>
              <a:t>Fully hidden from view</a:t>
            </a:r>
          </a:p>
        </p:txBody>
      </p:sp>
      <p:pic>
        <p:nvPicPr>
          <p:cNvPr id="11" name="Picture 10" descr="5_full_appearance.jpg"/>
          <p:cNvPicPr>
            <a:picLocks noChangeAspect="1"/>
          </p:cNvPicPr>
          <p:nvPr/>
        </p:nvPicPr>
        <p:blipFill>
          <a:blip r:embed="rId5"/>
          <a:stretch>
            <a:fillRect/>
          </a:stretch>
        </p:blipFill>
        <p:spPr>
          <a:xfrm>
            <a:off x="8138160" y="2244137"/>
            <a:ext cx="3429000" cy="1928812"/>
          </a:xfrm>
          <a:prstGeom prst="rect">
            <a:avLst/>
          </a:prstGeom>
          <a:ln w="9525">
            <a:solidFill>
              <a:srgbClr val="DDE2F0"/>
            </a:solidFill>
          </a:ln>
          <a:effectLst>
            <a:outerShdw blurRad="177800" dist="50800" dir="2700000" rotWithShape="0">
              <a:srgbClr val="12173A">
                <a:alpha val="32000"/>
              </a:srgbClr>
            </a:outerShdw>
          </a:effectLst>
        </p:spPr>
      </p:pic>
      <p:sp>
        <p:nvSpPr>
          <p:cNvPr id="12" name="Rounded Rectangle 11"/>
          <p:cNvSpPr/>
          <p:nvPr/>
        </p:nvSpPr>
        <p:spPr>
          <a:xfrm>
            <a:off x="9105900" y="1837229"/>
            <a:ext cx="1463040" cy="384048"/>
          </a:xfrm>
          <a:prstGeom prst="roundRect">
            <a:avLst>
              <a:gd name="adj" fmla="val 50000"/>
            </a:avLst>
          </a:prstGeom>
          <a:solidFill>
            <a:srgbClr val="12173A"/>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100" b="1">
                <a:solidFill>
                  <a:srgbClr val="FFFFFF"/>
                </a:solidFill>
                <a:latin typeface="Calibri"/>
              </a:rPr>
              <a:t>AFTER</a:t>
            </a:r>
          </a:p>
        </p:txBody>
      </p:sp>
      <p:sp>
        <p:nvSpPr>
          <p:cNvPr id="13" name="TextBox 12"/>
          <p:cNvSpPr txBox="1"/>
          <p:nvPr/>
        </p:nvSpPr>
        <p:spPr>
          <a:xfrm>
            <a:off x="8138160" y="4282677"/>
            <a:ext cx="3429000" cy="365760"/>
          </a:xfrm>
          <a:prstGeom prst="rect">
            <a:avLst/>
          </a:prstGeom>
          <a:noFill/>
        </p:spPr>
        <p:txBody>
          <a:bodyPr wrap="square">
            <a:spAutoFit/>
          </a:bodyPr>
          <a:lstStyle/>
          <a:p>
            <a:pPr algn="ctr"/>
            <a:r>
              <a:rPr sz="1300" b="0" i="0">
                <a:solidFill>
                  <a:srgbClr val="69728C"/>
                </a:solidFill>
                <a:latin typeface="Calibri"/>
              </a:rPr>
              <a:t>Reappears down the road</a:t>
            </a:r>
          </a:p>
        </p:txBody>
      </p:sp>
      <p:sp>
        <p:nvSpPr>
          <p:cNvPr id="14" name="TextBox 13"/>
          <p:cNvSpPr txBox="1"/>
          <p:nvPr/>
        </p:nvSpPr>
        <p:spPr>
          <a:xfrm>
            <a:off x="4069080" y="3025663"/>
            <a:ext cx="320040" cy="365760"/>
          </a:xfrm>
          <a:prstGeom prst="rect">
            <a:avLst/>
          </a:prstGeom>
          <a:noFill/>
        </p:spPr>
        <p:txBody>
          <a:bodyPr wrap="square">
            <a:spAutoFit/>
          </a:bodyPr>
          <a:lstStyle/>
          <a:p>
            <a:pPr algn="ctr"/>
            <a:r>
              <a:rPr sz="2200" b="1" i="0">
                <a:solidFill>
                  <a:srgbClr val="69728C"/>
                </a:solidFill>
                <a:latin typeface="Calibri"/>
              </a:rPr>
              <a:t>→</a:t>
            </a:r>
          </a:p>
        </p:txBody>
      </p:sp>
      <p:sp>
        <p:nvSpPr>
          <p:cNvPr id="15" name="TextBox 14"/>
          <p:cNvSpPr txBox="1"/>
          <p:nvPr/>
        </p:nvSpPr>
        <p:spPr>
          <a:xfrm>
            <a:off x="7818120" y="3025663"/>
            <a:ext cx="320040" cy="365760"/>
          </a:xfrm>
          <a:prstGeom prst="rect">
            <a:avLst/>
          </a:prstGeom>
          <a:noFill/>
        </p:spPr>
        <p:txBody>
          <a:bodyPr wrap="square">
            <a:spAutoFit/>
          </a:bodyPr>
          <a:lstStyle/>
          <a:p>
            <a:pPr algn="ctr"/>
            <a:r>
              <a:rPr sz="2200" b="1" i="0">
                <a:solidFill>
                  <a:srgbClr val="69728C"/>
                </a:solidFill>
                <a:latin typeface="Calibri"/>
              </a:rPr>
              <a:t>→</a:t>
            </a:r>
          </a:p>
        </p:txBody>
      </p:sp>
      <p:sp>
        <p:nvSpPr>
          <p:cNvPr id="16" name="TextBox 15"/>
          <p:cNvSpPr txBox="1"/>
          <p:nvPr/>
        </p:nvSpPr>
        <p:spPr>
          <a:xfrm>
            <a:off x="640080" y="5074920"/>
            <a:ext cx="10911535" cy="502920"/>
          </a:xfrm>
          <a:prstGeom prst="rect">
            <a:avLst/>
          </a:prstGeom>
          <a:noFill/>
        </p:spPr>
        <p:txBody>
          <a:bodyPr wrap="square">
            <a:spAutoFit/>
          </a:bodyPr>
          <a:lstStyle/>
          <a:p>
            <a:pPr algn="ctr"/>
            <a:r>
              <a:rPr sz="1800" b="1" i="0">
                <a:solidFill>
                  <a:srgbClr val="2E3348"/>
                </a:solidFill>
                <a:latin typeface="Calibri"/>
              </a:rPr>
              <a:t>A detector that processes each frame in isolation cannot determine that the vehicle is still present during occlusion — it has no mechanism for reasoning across time.</a:t>
            </a:r>
          </a:p>
        </p:txBody>
      </p:sp>
      <p:sp>
        <p:nvSpPr>
          <p:cNvPr id="17" name="TextBox 16"/>
          <p:cNvSpPr txBox="1"/>
          <p:nvPr/>
        </p:nvSpPr>
        <p:spPr>
          <a:xfrm>
            <a:off x="640080" y="5623560"/>
            <a:ext cx="10911535" cy="457200"/>
          </a:xfrm>
          <a:prstGeom prst="rect">
            <a:avLst/>
          </a:prstGeom>
          <a:noFill/>
        </p:spPr>
        <p:txBody>
          <a:bodyPr wrap="square">
            <a:spAutoFit/>
          </a:bodyPr>
          <a:lstStyle/>
          <a:p>
            <a:pPr algn="ctr"/>
            <a:r>
              <a:rPr sz="1400" b="0" i="1">
                <a:solidFill>
                  <a:srgbClr val="69728C"/>
                </a:solidFill>
                <a:latin typeface="Calibri"/>
              </a:rPr>
              <a:t>“Like watching someone walk behind a parked bus — you don't assume they vanished.”</a:t>
            </a:r>
          </a:p>
        </p:txBody>
      </p:sp>
      <p:sp>
        <p:nvSpPr>
          <p:cNvPr id="18" name="Oval 17"/>
          <p:cNvSpPr/>
          <p:nvPr/>
        </p:nvSpPr>
        <p:spPr>
          <a:xfrm>
            <a:off x="1394460" y="3227831"/>
            <a:ext cx="480060" cy="231457"/>
          </a:xfrm>
          <a:prstGeom prst="ellipse">
            <a:avLst/>
          </a:prstGeom>
          <a:noFill/>
          <a:ln w="34925">
            <a:solidFill>
              <a:srgbClr val="FFA6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20140" y="3486720"/>
            <a:ext cx="1028700" cy="274320"/>
          </a:xfrm>
          <a:prstGeom prst="rect">
            <a:avLst/>
          </a:prstGeom>
          <a:noFill/>
        </p:spPr>
        <p:txBody>
          <a:bodyPr wrap="square">
            <a:spAutoFit/>
          </a:bodyPr>
          <a:lstStyle/>
          <a:p>
            <a:pPr algn="ctr"/>
            <a:r>
              <a:rPr sz="1050" b="1" i="0">
                <a:solidFill>
                  <a:srgbClr val="E0841C"/>
                </a:solidFill>
                <a:latin typeface="Calibri"/>
              </a:rPr>
              <a:t>Target vehicle</a:t>
            </a:r>
          </a:p>
        </p:txBody>
      </p:sp>
      <p:sp>
        <p:nvSpPr>
          <p:cNvPr id="20" name="Oval 19"/>
          <p:cNvSpPr/>
          <p:nvPr/>
        </p:nvSpPr>
        <p:spPr>
          <a:xfrm>
            <a:off x="4869180" y="3131390"/>
            <a:ext cx="925830" cy="385762"/>
          </a:xfrm>
          <a:prstGeom prst="ellipse">
            <a:avLst/>
          </a:prstGeom>
          <a:noFill/>
          <a:ln w="34925">
            <a:solidFill>
              <a:srgbClr val="FFA63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94860" y="3544584"/>
            <a:ext cx="1474470" cy="274320"/>
          </a:xfrm>
          <a:prstGeom prst="rect">
            <a:avLst/>
          </a:prstGeom>
          <a:noFill/>
        </p:spPr>
        <p:txBody>
          <a:bodyPr wrap="square">
            <a:spAutoFit/>
          </a:bodyPr>
          <a:lstStyle/>
          <a:p>
            <a:pPr algn="ctr"/>
            <a:r>
              <a:rPr sz="1050" b="1" i="0">
                <a:solidFill>
                  <a:srgbClr val="E0841C"/>
                </a:solidFill>
                <a:latin typeface="Calibri"/>
              </a:rPr>
              <a:t>Target hidden behind occluder</a:t>
            </a:r>
          </a:p>
        </p:txBody>
      </p:sp>
      <p:sp>
        <p:nvSpPr>
          <p:cNvPr id="22" name="Oval 21"/>
          <p:cNvSpPr/>
          <p:nvPr/>
        </p:nvSpPr>
        <p:spPr>
          <a:xfrm>
            <a:off x="8549640" y="3227831"/>
            <a:ext cx="822960" cy="250745"/>
          </a:xfrm>
          <a:prstGeom prst="ellipse">
            <a:avLst/>
          </a:prstGeom>
          <a:noFill/>
          <a:ln w="34925">
            <a:solidFill>
              <a:srgbClr val="FFA6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75320" y="3506008"/>
            <a:ext cx="1371600" cy="274320"/>
          </a:xfrm>
          <a:prstGeom prst="rect">
            <a:avLst/>
          </a:prstGeom>
          <a:noFill/>
        </p:spPr>
        <p:txBody>
          <a:bodyPr wrap="square">
            <a:spAutoFit/>
          </a:bodyPr>
          <a:lstStyle/>
          <a:p>
            <a:pPr algn="ctr"/>
            <a:r>
              <a:rPr sz="1050" b="1" i="0">
                <a:solidFill>
                  <a:srgbClr val="E0841C"/>
                </a:solidFill>
                <a:latin typeface="Calibri"/>
              </a:rPr>
              <a:t>Target vehicle (reappeared)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57784" y="427197"/>
            <a:ext cx="7315200" cy="320040"/>
          </a:xfrm>
          <a:prstGeom prst="rect">
            <a:avLst/>
          </a:prstGeom>
          <a:noFill/>
        </p:spPr>
        <p:txBody>
          <a:bodyPr wrap="square">
            <a:spAutoFit/>
          </a:bodyPr>
          <a:lstStyle/>
          <a:p>
            <a:pPr algn="l"/>
            <a:r>
              <a:rPr sz="1300" b="1" i="0">
                <a:solidFill>
                  <a:srgbClr val="FFA630"/>
                </a:solidFill>
                <a:latin typeface="Calibri"/>
              </a:rPr>
              <a:t>THE DATASET</a:t>
            </a:r>
          </a:p>
        </p:txBody>
      </p:sp>
      <p:sp>
        <p:nvSpPr>
          <p:cNvPr id="3" name="TextBox 2"/>
          <p:cNvSpPr txBox="1"/>
          <p:nvPr/>
        </p:nvSpPr>
        <p:spPr>
          <a:xfrm>
            <a:off x="557784" y="709168"/>
            <a:ext cx="5852160" cy="822960"/>
          </a:xfrm>
          <a:prstGeom prst="rect">
            <a:avLst/>
          </a:prstGeom>
          <a:noFill/>
        </p:spPr>
        <p:txBody>
          <a:bodyPr wrap="square">
            <a:spAutoFit/>
          </a:bodyPr>
          <a:lstStyle/>
          <a:p>
            <a:pPr algn="l"/>
            <a:r>
              <a:rPr sz="2500" b="1" i="0">
                <a:solidFill>
                  <a:srgbClr val="12173A"/>
                </a:solidFill>
                <a:latin typeface="Cambria"/>
              </a:rPr>
              <a:t>nuScenes — Front Camera Only</a:t>
            </a:r>
          </a:p>
        </p:txBody>
      </p:sp>
      <p:sp>
        <p:nvSpPr>
          <p:cNvPr id="4" name="Rectangle 3"/>
          <p:cNvSpPr/>
          <p:nvPr/>
        </p:nvSpPr>
        <p:spPr>
          <a:xfrm>
            <a:off x="557784" y="1321816"/>
            <a:ext cx="50292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84048" y="1829308"/>
            <a:ext cx="457200" cy="457200"/>
          </a:xfrm>
          <a:prstGeom prst="roundRect">
            <a:avLst>
              <a:gd name="adj" fmla="val 30000"/>
            </a:avLst>
          </a:prstGeom>
          <a:solidFill>
            <a:srgbClr val="1217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FFFFFF"/>
                </a:solidFill>
                <a:latin typeface="Calibri"/>
              </a:rPr>
              <a:t>1</a:t>
            </a:r>
          </a:p>
        </p:txBody>
      </p:sp>
      <p:sp>
        <p:nvSpPr>
          <p:cNvPr id="6" name="TextBox 5"/>
          <p:cNvSpPr txBox="1"/>
          <p:nvPr/>
        </p:nvSpPr>
        <p:spPr>
          <a:xfrm>
            <a:off x="1097280" y="1532128"/>
            <a:ext cx="5230368" cy="1051560"/>
          </a:xfrm>
          <a:prstGeom prst="rect">
            <a:avLst/>
          </a:prstGeom>
          <a:noFill/>
        </p:spPr>
        <p:txBody>
          <a:bodyPr wrap="square" anchor="ctr">
            <a:spAutoFit/>
          </a:bodyPr>
          <a:lstStyle/>
          <a:p>
            <a:r>
              <a:rPr sz="1350" dirty="0" err="1">
                <a:solidFill>
                  <a:srgbClr val="2E3348"/>
                </a:solidFill>
                <a:latin typeface="Calibri"/>
              </a:rPr>
              <a:t>nuScenes</a:t>
            </a:r>
            <a:r>
              <a:rPr sz="1350" dirty="0">
                <a:solidFill>
                  <a:srgbClr val="2E3348"/>
                </a:solidFill>
                <a:latin typeface="Calibri"/>
              </a:rPr>
              <a:t>: a large-scale AV dataset with synchronized cameras, LiDAR, radar, and 3D box annotations that include a per-object visibility rating</a:t>
            </a:r>
          </a:p>
        </p:txBody>
      </p:sp>
      <p:sp>
        <p:nvSpPr>
          <p:cNvPr id="7" name="Rounded Rectangle 6"/>
          <p:cNvSpPr/>
          <p:nvPr/>
        </p:nvSpPr>
        <p:spPr>
          <a:xfrm>
            <a:off x="384048" y="2972308"/>
            <a:ext cx="457200" cy="457200"/>
          </a:xfrm>
          <a:prstGeom prst="roundRect">
            <a:avLst>
              <a:gd name="adj" fmla="val 30000"/>
            </a:avLst>
          </a:prstGeom>
          <a:solidFill>
            <a:srgbClr val="1217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FFFFFF"/>
                </a:solidFill>
                <a:latin typeface="Calibri"/>
              </a:rPr>
              <a:t>2</a:t>
            </a:r>
          </a:p>
        </p:txBody>
      </p:sp>
      <p:sp>
        <p:nvSpPr>
          <p:cNvPr id="8" name="TextBox 7"/>
          <p:cNvSpPr txBox="1"/>
          <p:nvPr/>
        </p:nvSpPr>
        <p:spPr>
          <a:xfrm>
            <a:off x="1097280" y="2675128"/>
            <a:ext cx="5230368" cy="1051560"/>
          </a:xfrm>
          <a:prstGeom prst="rect">
            <a:avLst/>
          </a:prstGeom>
          <a:noFill/>
        </p:spPr>
        <p:txBody>
          <a:bodyPr wrap="square" anchor="ctr">
            <a:spAutoFit/>
          </a:bodyPr>
          <a:lstStyle/>
          <a:p>
            <a:r>
              <a:rPr sz="1350">
                <a:solidFill>
                  <a:srgbClr val="2E3348"/>
                </a:solidFill>
                <a:latin typeface="Calibri"/>
              </a:rPr>
              <a:t>This project uses only CAM_FRONT — one monocular camera, no LiDAR or other views feeding detection itself</a:t>
            </a:r>
          </a:p>
        </p:txBody>
      </p:sp>
      <p:sp>
        <p:nvSpPr>
          <p:cNvPr id="9" name="Rounded Rectangle 8"/>
          <p:cNvSpPr/>
          <p:nvPr/>
        </p:nvSpPr>
        <p:spPr>
          <a:xfrm>
            <a:off x="384048" y="4115308"/>
            <a:ext cx="457200" cy="457200"/>
          </a:xfrm>
          <a:prstGeom prst="roundRect">
            <a:avLst>
              <a:gd name="adj" fmla="val 30000"/>
            </a:avLst>
          </a:prstGeom>
          <a:solidFill>
            <a:srgbClr val="1217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FFFFFF"/>
                </a:solidFill>
                <a:latin typeface="Calibri"/>
              </a:rPr>
              <a:t>3</a:t>
            </a:r>
          </a:p>
        </p:txBody>
      </p:sp>
      <p:sp>
        <p:nvSpPr>
          <p:cNvPr id="10" name="TextBox 9"/>
          <p:cNvSpPr txBox="1"/>
          <p:nvPr/>
        </p:nvSpPr>
        <p:spPr>
          <a:xfrm>
            <a:off x="1097280" y="3818128"/>
            <a:ext cx="5230368" cy="1051560"/>
          </a:xfrm>
          <a:prstGeom prst="rect">
            <a:avLst/>
          </a:prstGeom>
          <a:noFill/>
        </p:spPr>
        <p:txBody>
          <a:bodyPr wrap="square" anchor="ctr">
            <a:spAutoFit/>
          </a:bodyPr>
          <a:lstStyle/>
          <a:p>
            <a:r>
              <a:rPr sz="1350">
                <a:solidFill>
                  <a:srgbClr val="2E3348"/>
                </a:solidFill>
                <a:latin typeface="Calibri"/>
              </a:rPr>
              <a:t>Front-only keeps the pipeline laptop-scale and isolates the occlusion-memory problem, instead of mixing in multi-camera fusion</a:t>
            </a:r>
          </a:p>
        </p:txBody>
      </p:sp>
      <p:sp>
        <p:nvSpPr>
          <p:cNvPr id="11" name="Rounded Rectangle 10"/>
          <p:cNvSpPr/>
          <p:nvPr/>
        </p:nvSpPr>
        <p:spPr>
          <a:xfrm>
            <a:off x="384048" y="5258308"/>
            <a:ext cx="457200" cy="457200"/>
          </a:xfrm>
          <a:prstGeom prst="roundRect">
            <a:avLst>
              <a:gd name="adj" fmla="val 30000"/>
            </a:avLst>
          </a:prstGeom>
          <a:solidFill>
            <a:srgbClr val="1217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FFFFFF"/>
                </a:solidFill>
                <a:latin typeface="Calibri"/>
              </a:rPr>
              <a:t>4</a:t>
            </a:r>
          </a:p>
        </p:txBody>
      </p:sp>
      <p:sp>
        <p:nvSpPr>
          <p:cNvPr id="12" name="TextBox 11"/>
          <p:cNvSpPr txBox="1"/>
          <p:nvPr/>
        </p:nvSpPr>
        <p:spPr>
          <a:xfrm>
            <a:off x="1097280" y="5015420"/>
            <a:ext cx="5230368" cy="1051560"/>
          </a:xfrm>
          <a:prstGeom prst="rect">
            <a:avLst/>
          </a:prstGeom>
          <a:noFill/>
        </p:spPr>
        <p:txBody>
          <a:bodyPr wrap="square" anchor="ctr">
            <a:spAutoFit/>
          </a:bodyPr>
          <a:lstStyle/>
          <a:p>
            <a:r>
              <a:rPr sz="1350" dirty="0">
                <a:solidFill>
                  <a:srgbClr val="2E3348"/>
                </a:solidFill>
                <a:latin typeface="Calibri"/>
              </a:rPr>
              <a:t>LiDAR and the 3D annotations aren't wasted, though — they come back as independent ground truth for evaluating OATM (next: Evaluation Methodology)</a:t>
            </a:r>
          </a:p>
        </p:txBody>
      </p:sp>
      <p:pic>
        <p:nvPicPr>
          <p:cNvPr id="13" name="Picture 12" descr="1_previous_no_occlusion.jpg"/>
          <p:cNvPicPr>
            <a:picLocks noChangeAspect="1"/>
          </p:cNvPicPr>
          <p:nvPr/>
        </p:nvPicPr>
        <p:blipFill>
          <a:blip r:embed="rId3"/>
          <a:stretch>
            <a:fillRect/>
          </a:stretch>
        </p:blipFill>
        <p:spPr>
          <a:xfrm>
            <a:off x="6949440" y="1213581"/>
            <a:ext cx="4709160" cy="2648902"/>
          </a:xfrm>
          <a:prstGeom prst="rect">
            <a:avLst/>
          </a:prstGeom>
          <a:ln w="9525">
            <a:solidFill>
              <a:srgbClr val="DDE2F0"/>
            </a:solidFill>
          </a:ln>
          <a:effectLst>
            <a:outerShdw blurRad="177800" dist="50800" dir="2700000" rotWithShape="0">
              <a:srgbClr val="12173A">
                <a:alpha val="32000"/>
              </a:srgbClr>
            </a:outerShdw>
          </a:effectLst>
        </p:spPr>
      </p:pic>
      <p:sp>
        <p:nvSpPr>
          <p:cNvPr id="14" name="TextBox 13"/>
          <p:cNvSpPr txBox="1"/>
          <p:nvPr/>
        </p:nvSpPr>
        <p:spPr>
          <a:xfrm>
            <a:off x="7363777" y="3858768"/>
            <a:ext cx="4709160" cy="457200"/>
          </a:xfrm>
          <a:prstGeom prst="rect">
            <a:avLst/>
          </a:prstGeom>
          <a:noFill/>
        </p:spPr>
        <p:txBody>
          <a:bodyPr wrap="square">
            <a:spAutoFit/>
          </a:bodyPr>
          <a:lstStyle/>
          <a:p>
            <a:pPr algn="ctr"/>
            <a:r>
              <a:rPr sz="1250" b="0" i="1" dirty="0">
                <a:solidFill>
                  <a:srgbClr val="69728C"/>
                </a:solidFill>
                <a:latin typeface="Calibri"/>
              </a:rPr>
              <a:t>CAM_FRONT — the only view this project detects from</a:t>
            </a:r>
          </a:p>
        </p:txBody>
      </p:sp>
      <p:sp>
        <p:nvSpPr>
          <p:cNvPr id="15" name="TextBox 14"/>
          <p:cNvSpPr txBox="1"/>
          <p:nvPr/>
        </p:nvSpPr>
        <p:spPr>
          <a:xfrm>
            <a:off x="6665976" y="4466844"/>
            <a:ext cx="4709160" cy="256032"/>
          </a:xfrm>
          <a:prstGeom prst="rect">
            <a:avLst/>
          </a:prstGeom>
          <a:noFill/>
        </p:spPr>
        <p:txBody>
          <a:bodyPr wrap="square">
            <a:spAutoFit/>
          </a:bodyPr>
          <a:lstStyle/>
          <a:p>
            <a:pPr algn="l"/>
            <a:r>
              <a:rPr sz="1100" b="0" i="1">
                <a:solidFill>
                  <a:srgbClr val="69728C"/>
                </a:solidFill>
                <a:latin typeface="Calibri"/>
              </a:rPr>
              <a:t>nuScenes sensor pipeline</a:t>
            </a:r>
          </a:p>
        </p:txBody>
      </p:sp>
      <p:sp>
        <p:nvSpPr>
          <p:cNvPr id="16" name="Rectangle 15"/>
          <p:cNvSpPr/>
          <p:nvPr/>
        </p:nvSpPr>
        <p:spPr>
          <a:xfrm>
            <a:off x="6665976" y="4759452"/>
            <a:ext cx="1572768" cy="502920"/>
          </a:xfrm>
          <a:prstGeom prst="rect">
            <a:avLst/>
          </a:prstGeom>
          <a:solidFill>
            <a:srgbClr val="FFFFFF"/>
          </a:solidFill>
          <a:ln w="15875">
            <a:solidFill>
              <a:srgbClr val="12173A"/>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950" b="0">
                <a:solidFill>
                  <a:srgbClr val="12173A"/>
                </a:solidFill>
                <a:latin typeface="Calibri"/>
              </a:rPr>
              <a:t>Camera + LiDAR + Radar</a:t>
            </a:r>
          </a:p>
        </p:txBody>
      </p:sp>
      <p:sp>
        <p:nvSpPr>
          <p:cNvPr id="17" name="Rectangle 16"/>
          <p:cNvSpPr/>
          <p:nvPr/>
        </p:nvSpPr>
        <p:spPr>
          <a:xfrm>
            <a:off x="8403336" y="4759452"/>
            <a:ext cx="1572768" cy="502920"/>
          </a:xfrm>
          <a:prstGeom prst="rect">
            <a:avLst/>
          </a:prstGeom>
          <a:solidFill>
            <a:srgbClr val="FFFFFF"/>
          </a:solidFill>
          <a:ln w="15875">
            <a:solidFill>
              <a:srgbClr val="12173A"/>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950" b="1">
                <a:solidFill>
                  <a:srgbClr val="E0841C"/>
                </a:solidFill>
                <a:latin typeface="Calibri"/>
              </a:rPr>
              <a:t>CAM_FRONT selected</a:t>
            </a:r>
          </a:p>
        </p:txBody>
      </p:sp>
      <p:sp>
        <p:nvSpPr>
          <p:cNvPr id="18" name="Rectangle 17"/>
          <p:cNvSpPr/>
          <p:nvPr/>
        </p:nvSpPr>
        <p:spPr>
          <a:xfrm>
            <a:off x="10140696" y="4759452"/>
            <a:ext cx="1572768" cy="502920"/>
          </a:xfrm>
          <a:prstGeom prst="rect">
            <a:avLst/>
          </a:prstGeom>
          <a:solidFill>
            <a:srgbClr val="FFFFFF"/>
          </a:solidFill>
          <a:ln w="15875">
            <a:solidFill>
              <a:srgbClr val="12173A"/>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950" b="0">
                <a:solidFill>
                  <a:srgbClr val="12173A"/>
                </a:solidFill>
                <a:latin typeface="Calibri"/>
              </a:rPr>
              <a:t>Detection input (YOLO)</a:t>
            </a:r>
          </a:p>
        </p:txBody>
      </p:sp>
      <p:sp>
        <p:nvSpPr>
          <p:cNvPr id="19" name="TextBox 18"/>
          <p:cNvSpPr txBox="1"/>
          <p:nvPr/>
        </p:nvSpPr>
        <p:spPr>
          <a:xfrm>
            <a:off x="8238744" y="4928616"/>
            <a:ext cx="164592" cy="182880"/>
          </a:xfrm>
          <a:prstGeom prst="rect">
            <a:avLst/>
          </a:prstGeom>
          <a:noFill/>
        </p:spPr>
        <p:txBody>
          <a:bodyPr wrap="square">
            <a:spAutoFit/>
          </a:bodyPr>
          <a:lstStyle/>
          <a:p>
            <a:pPr algn="ctr"/>
            <a:r>
              <a:rPr sz="1200" b="1" i="0">
                <a:solidFill>
                  <a:srgbClr val="8A93AD"/>
                </a:solidFill>
                <a:latin typeface="Calibri"/>
              </a:rPr>
              <a:t>→</a:t>
            </a:r>
          </a:p>
        </p:txBody>
      </p:sp>
      <p:sp>
        <p:nvSpPr>
          <p:cNvPr id="20" name="TextBox 19"/>
          <p:cNvSpPr txBox="1"/>
          <p:nvPr/>
        </p:nvSpPr>
        <p:spPr>
          <a:xfrm>
            <a:off x="9976104" y="4928616"/>
            <a:ext cx="164592" cy="182880"/>
          </a:xfrm>
          <a:prstGeom prst="rect">
            <a:avLst/>
          </a:prstGeom>
          <a:noFill/>
        </p:spPr>
        <p:txBody>
          <a:bodyPr wrap="square">
            <a:spAutoFit/>
          </a:bodyPr>
          <a:lstStyle/>
          <a:p>
            <a:pPr algn="ctr"/>
            <a:r>
              <a:rPr sz="1200" b="1" i="0">
                <a:solidFill>
                  <a:srgbClr val="8A93AD"/>
                </a:solidFill>
                <a:latin typeface="Calibri"/>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2173A"/>
        </a:solidFill>
        <a:effectLst/>
      </p:bgPr>
    </p:bg>
    <p:spTree>
      <p:nvGrpSpPr>
        <p:cNvPr id="1" name=""/>
        <p:cNvGrpSpPr/>
        <p:nvPr/>
      </p:nvGrpSpPr>
      <p:grpSpPr>
        <a:xfrm>
          <a:off x="0" y="0"/>
          <a:ext cx="0" cy="0"/>
          <a:chOff x="0" y="0"/>
          <a:chExt cx="0" cy="0"/>
        </a:xfrm>
      </p:grpSpPr>
      <p:sp>
        <p:nvSpPr>
          <p:cNvPr id="2" name="TextBox 1"/>
          <p:cNvSpPr txBox="1"/>
          <p:nvPr/>
        </p:nvSpPr>
        <p:spPr>
          <a:xfrm>
            <a:off x="0" y="662940"/>
            <a:ext cx="12191695" cy="320040"/>
          </a:xfrm>
          <a:prstGeom prst="rect">
            <a:avLst/>
          </a:prstGeom>
          <a:noFill/>
        </p:spPr>
        <p:txBody>
          <a:bodyPr wrap="square">
            <a:spAutoFit/>
          </a:bodyPr>
          <a:lstStyle/>
          <a:p>
            <a:pPr algn="ctr"/>
            <a:r>
              <a:rPr sz="1300" b="1" i="0">
                <a:solidFill>
                  <a:srgbClr val="FFA630"/>
                </a:solidFill>
                <a:latin typeface="Calibri"/>
              </a:rPr>
              <a:t>THE CORE RESEARCH QUESTION</a:t>
            </a:r>
          </a:p>
        </p:txBody>
      </p:sp>
      <p:sp>
        <p:nvSpPr>
          <p:cNvPr id="3" name="Rectangle 2"/>
          <p:cNvSpPr/>
          <p:nvPr/>
        </p:nvSpPr>
        <p:spPr>
          <a:xfrm>
            <a:off x="5769520" y="997267"/>
            <a:ext cx="64008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83804" y="1716246"/>
            <a:ext cx="9811512" cy="1920240"/>
          </a:xfrm>
          <a:prstGeom prst="rect">
            <a:avLst/>
          </a:prstGeom>
          <a:noFill/>
        </p:spPr>
        <p:txBody>
          <a:bodyPr wrap="square">
            <a:spAutoFit/>
          </a:bodyPr>
          <a:lstStyle/>
          <a:p>
            <a:pPr algn="ctr">
              <a:lnSpc>
                <a:spcPct val="115000"/>
              </a:lnSpc>
            </a:pPr>
            <a:r>
              <a:rPr sz="2900" b="1" i="0" dirty="0">
                <a:solidFill>
                  <a:srgbClr val="FFFFFF"/>
                </a:solidFill>
                <a:latin typeface="Cambria"/>
              </a:rPr>
              <a:t>Can temporal video understanding enable a camera to maintain reliable tracks of temporarily occluded road users, without introducing false detections?</a:t>
            </a:r>
          </a:p>
        </p:txBody>
      </p:sp>
      <p:sp>
        <p:nvSpPr>
          <p:cNvPr id="5" name="Rounded Rectangle 4"/>
          <p:cNvSpPr/>
          <p:nvPr/>
        </p:nvSpPr>
        <p:spPr>
          <a:xfrm>
            <a:off x="1732444" y="4120515"/>
            <a:ext cx="8714232" cy="1600200"/>
          </a:xfrm>
          <a:prstGeom prst="roundRect">
            <a:avLst>
              <a:gd name="adj" fmla="val 12000"/>
            </a:avLst>
          </a:prstGeom>
          <a:solidFill>
            <a:srgbClr val="1E2761"/>
          </a:solidFill>
          <a:ln>
            <a:noFill/>
          </a:ln>
          <a:effectLst>
            <a:outerShdw blurRad="203200" dist="63500" dir="2700000" rotWithShape="0">
              <a:srgbClr val="12173A">
                <a:alpha val="38000"/>
              </a:srgbClr>
            </a:outerShdw>
          </a:effectLst>
        </p:spPr>
        <p:style>
          <a:lnRef idx="1">
            <a:schemeClr val="accent1"/>
          </a:lnRef>
          <a:fillRef idx="3">
            <a:schemeClr val="accent1"/>
          </a:fillRef>
          <a:effectRef idx="2">
            <a:schemeClr val="accent1"/>
          </a:effectRef>
          <a:fontRef idx="minor">
            <a:schemeClr val="lt1"/>
          </a:fontRef>
        </p:style>
        <p:txBody>
          <a:bodyPr wrap="square" lIns="365760" tIns="201168" rIns="365760" rtlCol="0" anchor="ctr"/>
          <a:lstStyle/>
          <a:p>
            <a:pPr algn="ctr"/>
            <a:r>
              <a:rPr sz="1300" b="1">
                <a:solidFill>
                  <a:srgbClr val="FFA630"/>
                </a:solidFill>
                <a:latin typeface="Calibri"/>
              </a:rPr>
              <a:t>Hypothesis</a:t>
            </a:r>
          </a:p>
          <a:p>
            <a:pPr algn="ctr">
              <a:spcBef>
                <a:spcPts val="600"/>
              </a:spcBef>
            </a:pPr>
            <a:r>
              <a:rPr sz="1550" i="1">
                <a:solidFill>
                  <a:srgbClr val="CADCFC"/>
                </a:solidFill>
                <a:latin typeface="Calibri"/>
              </a:rPr>
              <a:t>By incorporating temporal video understanding rather than relying on single-frame detection, occlusion-aware memory is expected to preserve more valid object tracks through short occlusions than conventional tracking methods, without producing an unacceptable number of false (ghost) tracks.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7326" y="1143000"/>
            <a:ext cx="7315200" cy="320040"/>
          </a:xfrm>
          <a:prstGeom prst="rect">
            <a:avLst/>
          </a:prstGeom>
          <a:noFill/>
        </p:spPr>
        <p:txBody>
          <a:bodyPr wrap="square">
            <a:spAutoFit/>
          </a:bodyPr>
          <a:lstStyle/>
          <a:p>
            <a:pPr algn="l"/>
            <a:r>
              <a:rPr sz="1300" b="1" i="0">
                <a:solidFill>
                  <a:srgbClr val="FFA630"/>
                </a:solidFill>
                <a:latin typeface="Calibri"/>
              </a:rPr>
              <a:t>METHODOLOGY</a:t>
            </a:r>
          </a:p>
        </p:txBody>
      </p:sp>
      <p:sp>
        <p:nvSpPr>
          <p:cNvPr id="3" name="TextBox 2"/>
          <p:cNvSpPr txBox="1"/>
          <p:nvPr/>
        </p:nvSpPr>
        <p:spPr>
          <a:xfrm>
            <a:off x="687326" y="1481328"/>
            <a:ext cx="10515600" cy="640080"/>
          </a:xfrm>
          <a:prstGeom prst="rect">
            <a:avLst/>
          </a:prstGeom>
          <a:noFill/>
        </p:spPr>
        <p:txBody>
          <a:bodyPr wrap="square">
            <a:spAutoFit/>
          </a:bodyPr>
          <a:lstStyle/>
          <a:p>
            <a:pPr algn="l"/>
            <a:r>
              <a:rPr sz="2500" b="1" i="0">
                <a:solidFill>
                  <a:srgbClr val="12173A"/>
                </a:solidFill>
                <a:latin typeface="Cambria"/>
              </a:rPr>
              <a:t>Manual Occlusion Staging</a:t>
            </a:r>
          </a:p>
        </p:txBody>
      </p:sp>
      <p:sp>
        <p:nvSpPr>
          <p:cNvPr id="4" name="Rectangle 3"/>
          <p:cNvSpPr/>
          <p:nvPr/>
        </p:nvSpPr>
        <p:spPr>
          <a:xfrm>
            <a:off x="687326" y="2057400"/>
            <a:ext cx="50292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7326" y="2167128"/>
            <a:ext cx="10911840" cy="502920"/>
          </a:xfrm>
          <a:prstGeom prst="rect">
            <a:avLst/>
          </a:prstGeom>
          <a:noFill/>
        </p:spPr>
        <p:txBody>
          <a:bodyPr wrap="square">
            <a:spAutoFit/>
          </a:bodyPr>
          <a:lstStyle/>
          <a:p>
            <a:pPr algn="l"/>
            <a:r>
              <a:rPr sz="1350" b="0" i="0">
                <a:solidFill>
                  <a:srgbClr val="2E3348"/>
                </a:solidFill>
                <a:latin typeface="Calibri"/>
              </a:rPr>
              <a:t>No automated tool identifies the precise moment an object becomes occluded or reappears. Each occlusion sequence in this study was therefore manually reviewed, frame by frame, and divided into five stages before any detector was run.</a:t>
            </a:r>
          </a:p>
        </p:txBody>
      </p:sp>
      <p:sp>
        <p:nvSpPr>
          <p:cNvPr id="16" name="TextBox 15"/>
          <p:cNvSpPr txBox="1"/>
          <p:nvPr/>
        </p:nvSpPr>
        <p:spPr>
          <a:xfrm>
            <a:off x="687326" y="5032056"/>
            <a:ext cx="10911840" cy="365760"/>
          </a:xfrm>
          <a:prstGeom prst="rect">
            <a:avLst/>
          </a:prstGeom>
          <a:noFill/>
        </p:spPr>
        <p:txBody>
          <a:bodyPr wrap="square">
            <a:spAutoFit/>
          </a:bodyPr>
          <a:lstStyle/>
          <a:p>
            <a:pPr algn="ctr"/>
            <a:r>
              <a:rPr sz="1150" b="0" i="1">
                <a:solidFill>
                  <a:srgbClr val="69728C"/>
                </a:solidFill>
                <a:latin typeface="Calibri"/>
              </a:rPr>
              <a:t>This manual staging is what makes the stage-by-stage detection results on the next slide meaningful — each stage boundary reflects a human judgment, not an automatic threshold.</a:t>
            </a:r>
          </a:p>
        </p:txBody>
      </p:sp>
      <p:pic>
        <p:nvPicPr>
          <p:cNvPr id="17" name="Picture 16" descr="1_previous_no_occlusion.jpg"/>
          <p:cNvPicPr>
            <a:picLocks noChangeAspect="1"/>
          </p:cNvPicPr>
          <p:nvPr/>
        </p:nvPicPr>
        <p:blipFill>
          <a:blip r:embed="rId3"/>
          <a:stretch>
            <a:fillRect/>
          </a:stretch>
        </p:blipFill>
        <p:spPr>
          <a:xfrm>
            <a:off x="871732" y="3017520"/>
            <a:ext cx="1874519" cy="1054416"/>
          </a:xfrm>
          <a:prstGeom prst="rect">
            <a:avLst/>
          </a:prstGeom>
          <a:ln w="9525">
            <a:solidFill>
              <a:srgbClr val="DDE2F0"/>
            </a:solidFill>
          </a:ln>
          <a:effectLst>
            <a:outerShdw blurRad="177800" dist="50800" dir="2700000" rotWithShape="0">
              <a:srgbClr val="12173A">
                <a:alpha val="32000"/>
              </a:srgbClr>
            </a:outerShdw>
          </a:effectLst>
        </p:spPr>
      </p:pic>
      <p:sp>
        <p:nvSpPr>
          <p:cNvPr id="18" name="TextBox 17"/>
          <p:cNvSpPr txBox="1"/>
          <p:nvPr/>
        </p:nvSpPr>
        <p:spPr>
          <a:xfrm>
            <a:off x="734572" y="4163376"/>
            <a:ext cx="2148839" cy="274320"/>
          </a:xfrm>
          <a:prstGeom prst="rect">
            <a:avLst/>
          </a:prstGeom>
          <a:noFill/>
        </p:spPr>
        <p:txBody>
          <a:bodyPr wrap="square">
            <a:spAutoFit/>
          </a:bodyPr>
          <a:lstStyle/>
          <a:p>
            <a:pPr algn="ctr"/>
            <a:r>
              <a:rPr sz="1200" b="1" i="0">
                <a:solidFill>
                  <a:srgbClr val="12173A"/>
                </a:solidFill>
                <a:latin typeface="Calibri"/>
              </a:rPr>
              <a:t>1. No Occlusion</a:t>
            </a:r>
          </a:p>
        </p:txBody>
      </p:sp>
      <p:sp>
        <p:nvSpPr>
          <p:cNvPr id="19" name="TextBox 18"/>
          <p:cNvSpPr txBox="1"/>
          <p:nvPr/>
        </p:nvSpPr>
        <p:spPr>
          <a:xfrm>
            <a:off x="734572" y="4455984"/>
            <a:ext cx="2148839" cy="411480"/>
          </a:xfrm>
          <a:prstGeom prst="rect">
            <a:avLst/>
          </a:prstGeom>
          <a:noFill/>
        </p:spPr>
        <p:txBody>
          <a:bodyPr wrap="square">
            <a:spAutoFit/>
          </a:bodyPr>
          <a:lstStyle/>
          <a:p>
            <a:pPr algn="ctr">
              <a:lnSpc>
                <a:spcPct val="100000"/>
              </a:lnSpc>
            </a:pPr>
            <a:r>
              <a:rPr sz="1000" b="0" i="0">
                <a:solidFill>
                  <a:srgbClr val="69728C"/>
                </a:solidFill>
                <a:latin typeface="Calibri"/>
              </a:rPr>
              <a:t>Target fully visible</a:t>
            </a:r>
          </a:p>
        </p:txBody>
      </p:sp>
      <p:pic>
        <p:nvPicPr>
          <p:cNvPr id="20" name="Picture 19" descr="2_first_partial_occlusion.jpg"/>
          <p:cNvPicPr>
            <a:picLocks noChangeAspect="1"/>
          </p:cNvPicPr>
          <p:nvPr/>
        </p:nvPicPr>
        <p:blipFill>
          <a:blip r:embed="rId4"/>
          <a:stretch>
            <a:fillRect/>
          </a:stretch>
        </p:blipFill>
        <p:spPr>
          <a:xfrm>
            <a:off x="3038859" y="3017520"/>
            <a:ext cx="1874519" cy="1054416"/>
          </a:xfrm>
          <a:prstGeom prst="rect">
            <a:avLst/>
          </a:prstGeom>
          <a:ln w="9525">
            <a:solidFill>
              <a:srgbClr val="DDE2F0"/>
            </a:solidFill>
          </a:ln>
          <a:effectLst>
            <a:outerShdw blurRad="177800" dist="50800" dir="2700000" rotWithShape="0">
              <a:srgbClr val="12173A">
                <a:alpha val="32000"/>
              </a:srgbClr>
            </a:outerShdw>
          </a:effectLst>
        </p:spPr>
      </p:pic>
      <p:sp>
        <p:nvSpPr>
          <p:cNvPr id="21" name="TextBox 20"/>
          <p:cNvSpPr txBox="1"/>
          <p:nvPr/>
        </p:nvSpPr>
        <p:spPr>
          <a:xfrm>
            <a:off x="2746251" y="3407568"/>
            <a:ext cx="292608" cy="274320"/>
          </a:xfrm>
          <a:prstGeom prst="rect">
            <a:avLst/>
          </a:prstGeom>
          <a:noFill/>
        </p:spPr>
        <p:txBody>
          <a:bodyPr wrap="square">
            <a:spAutoFit/>
          </a:bodyPr>
          <a:lstStyle/>
          <a:p>
            <a:pPr algn="ctr"/>
            <a:r>
              <a:rPr sz="1800" b="1" i="0">
                <a:solidFill>
                  <a:srgbClr val="69728C"/>
                </a:solidFill>
                <a:latin typeface="Calibri"/>
              </a:rPr>
              <a:t>→</a:t>
            </a:r>
          </a:p>
        </p:txBody>
      </p:sp>
      <p:sp>
        <p:nvSpPr>
          <p:cNvPr id="22" name="TextBox 21"/>
          <p:cNvSpPr txBox="1"/>
          <p:nvPr/>
        </p:nvSpPr>
        <p:spPr>
          <a:xfrm>
            <a:off x="2901699" y="4163376"/>
            <a:ext cx="2148839" cy="274320"/>
          </a:xfrm>
          <a:prstGeom prst="rect">
            <a:avLst/>
          </a:prstGeom>
          <a:noFill/>
        </p:spPr>
        <p:txBody>
          <a:bodyPr wrap="square">
            <a:spAutoFit/>
          </a:bodyPr>
          <a:lstStyle/>
          <a:p>
            <a:pPr algn="ctr"/>
            <a:r>
              <a:rPr sz="1200" b="1" i="0">
                <a:solidFill>
                  <a:srgbClr val="12173A"/>
                </a:solidFill>
                <a:latin typeface="Calibri"/>
              </a:rPr>
              <a:t>2. First Partial</a:t>
            </a:r>
          </a:p>
        </p:txBody>
      </p:sp>
      <p:sp>
        <p:nvSpPr>
          <p:cNvPr id="23" name="TextBox 22"/>
          <p:cNvSpPr txBox="1"/>
          <p:nvPr/>
        </p:nvSpPr>
        <p:spPr>
          <a:xfrm>
            <a:off x="2901699" y="4455984"/>
            <a:ext cx="2148839" cy="411480"/>
          </a:xfrm>
          <a:prstGeom prst="rect">
            <a:avLst/>
          </a:prstGeom>
          <a:noFill/>
        </p:spPr>
        <p:txBody>
          <a:bodyPr wrap="square">
            <a:spAutoFit/>
          </a:bodyPr>
          <a:lstStyle/>
          <a:p>
            <a:pPr algn="ctr">
              <a:lnSpc>
                <a:spcPct val="100000"/>
              </a:lnSpc>
            </a:pPr>
            <a:r>
              <a:rPr sz="1000" b="0" i="0">
                <a:solidFill>
                  <a:srgbClr val="69728C"/>
                </a:solidFill>
                <a:latin typeface="Calibri"/>
              </a:rPr>
              <a:t>Occluder begins covering</a:t>
            </a:r>
          </a:p>
        </p:txBody>
      </p:sp>
      <p:pic>
        <p:nvPicPr>
          <p:cNvPr id="24" name="Picture 23" descr="3_full_occlusion.jpg"/>
          <p:cNvPicPr>
            <a:picLocks noChangeAspect="1"/>
          </p:cNvPicPr>
          <p:nvPr/>
        </p:nvPicPr>
        <p:blipFill>
          <a:blip r:embed="rId5"/>
          <a:stretch>
            <a:fillRect/>
          </a:stretch>
        </p:blipFill>
        <p:spPr>
          <a:xfrm>
            <a:off x="5205986" y="3017520"/>
            <a:ext cx="1874519" cy="1054416"/>
          </a:xfrm>
          <a:prstGeom prst="rect">
            <a:avLst/>
          </a:prstGeom>
          <a:ln w="9525">
            <a:solidFill>
              <a:srgbClr val="DDE2F0"/>
            </a:solidFill>
          </a:ln>
          <a:effectLst>
            <a:outerShdw blurRad="177800" dist="50800" dir="2700000" rotWithShape="0">
              <a:srgbClr val="12173A">
                <a:alpha val="32000"/>
              </a:srgbClr>
            </a:outerShdw>
          </a:effectLst>
        </p:spPr>
      </p:pic>
      <p:sp>
        <p:nvSpPr>
          <p:cNvPr id="25" name="TextBox 24"/>
          <p:cNvSpPr txBox="1"/>
          <p:nvPr/>
        </p:nvSpPr>
        <p:spPr>
          <a:xfrm>
            <a:off x="4913378" y="3407568"/>
            <a:ext cx="292608" cy="274320"/>
          </a:xfrm>
          <a:prstGeom prst="rect">
            <a:avLst/>
          </a:prstGeom>
          <a:noFill/>
        </p:spPr>
        <p:txBody>
          <a:bodyPr wrap="square">
            <a:spAutoFit/>
          </a:bodyPr>
          <a:lstStyle/>
          <a:p>
            <a:pPr algn="ctr"/>
            <a:r>
              <a:rPr sz="1800" b="1" i="0">
                <a:solidFill>
                  <a:srgbClr val="69728C"/>
                </a:solidFill>
                <a:latin typeface="Calibri"/>
              </a:rPr>
              <a:t>→</a:t>
            </a:r>
          </a:p>
        </p:txBody>
      </p:sp>
      <p:sp>
        <p:nvSpPr>
          <p:cNvPr id="26" name="TextBox 25"/>
          <p:cNvSpPr txBox="1"/>
          <p:nvPr/>
        </p:nvSpPr>
        <p:spPr>
          <a:xfrm>
            <a:off x="5068826" y="4163376"/>
            <a:ext cx="2148839" cy="274320"/>
          </a:xfrm>
          <a:prstGeom prst="rect">
            <a:avLst/>
          </a:prstGeom>
          <a:noFill/>
        </p:spPr>
        <p:txBody>
          <a:bodyPr wrap="square">
            <a:spAutoFit/>
          </a:bodyPr>
          <a:lstStyle/>
          <a:p>
            <a:pPr algn="ctr"/>
            <a:r>
              <a:rPr sz="1200" b="1" i="0">
                <a:solidFill>
                  <a:srgbClr val="12173A"/>
                </a:solidFill>
                <a:latin typeface="Calibri"/>
              </a:rPr>
              <a:t>3. Full Occlusion</a:t>
            </a:r>
          </a:p>
        </p:txBody>
      </p:sp>
      <p:sp>
        <p:nvSpPr>
          <p:cNvPr id="27" name="TextBox 26"/>
          <p:cNvSpPr txBox="1"/>
          <p:nvPr/>
        </p:nvSpPr>
        <p:spPr>
          <a:xfrm>
            <a:off x="5068826" y="4455984"/>
            <a:ext cx="2148839" cy="411480"/>
          </a:xfrm>
          <a:prstGeom prst="rect">
            <a:avLst/>
          </a:prstGeom>
          <a:noFill/>
        </p:spPr>
        <p:txBody>
          <a:bodyPr wrap="square">
            <a:spAutoFit/>
          </a:bodyPr>
          <a:lstStyle/>
          <a:p>
            <a:pPr algn="ctr">
              <a:lnSpc>
                <a:spcPct val="100000"/>
              </a:lnSpc>
            </a:pPr>
            <a:r>
              <a:rPr sz="1000" b="0" i="0">
                <a:solidFill>
                  <a:srgbClr val="69728C"/>
                </a:solidFill>
                <a:latin typeface="Calibri"/>
              </a:rPr>
              <a:t>Target entirely blocked</a:t>
            </a:r>
          </a:p>
        </p:txBody>
      </p:sp>
      <p:pic>
        <p:nvPicPr>
          <p:cNvPr id="28" name="Picture 27" descr="4_first_partial_appearance.jpg"/>
          <p:cNvPicPr>
            <a:picLocks noChangeAspect="1"/>
          </p:cNvPicPr>
          <p:nvPr/>
        </p:nvPicPr>
        <p:blipFill>
          <a:blip r:embed="rId6"/>
          <a:stretch>
            <a:fillRect/>
          </a:stretch>
        </p:blipFill>
        <p:spPr>
          <a:xfrm>
            <a:off x="7373113" y="3017520"/>
            <a:ext cx="1874519" cy="1054416"/>
          </a:xfrm>
          <a:prstGeom prst="rect">
            <a:avLst/>
          </a:prstGeom>
          <a:ln w="9525">
            <a:solidFill>
              <a:srgbClr val="DDE2F0"/>
            </a:solidFill>
          </a:ln>
          <a:effectLst>
            <a:outerShdw blurRad="177800" dist="50800" dir="2700000" rotWithShape="0">
              <a:srgbClr val="12173A">
                <a:alpha val="32000"/>
              </a:srgbClr>
            </a:outerShdw>
          </a:effectLst>
        </p:spPr>
      </p:pic>
      <p:sp>
        <p:nvSpPr>
          <p:cNvPr id="29" name="TextBox 28"/>
          <p:cNvSpPr txBox="1"/>
          <p:nvPr/>
        </p:nvSpPr>
        <p:spPr>
          <a:xfrm>
            <a:off x="7080505" y="3407568"/>
            <a:ext cx="292608" cy="274320"/>
          </a:xfrm>
          <a:prstGeom prst="rect">
            <a:avLst/>
          </a:prstGeom>
          <a:noFill/>
        </p:spPr>
        <p:txBody>
          <a:bodyPr wrap="square">
            <a:spAutoFit/>
          </a:bodyPr>
          <a:lstStyle/>
          <a:p>
            <a:pPr algn="ctr"/>
            <a:r>
              <a:rPr sz="1800" b="1" i="0">
                <a:solidFill>
                  <a:srgbClr val="69728C"/>
                </a:solidFill>
                <a:latin typeface="Calibri"/>
              </a:rPr>
              <a:t>→</a:t>
            </a:r>
          </a:p>
        </p:txBody>
      </p:sp>
      <p:sp>
        <p:nvSpPr>
          <p:cNvPr id="30" name="TextBox 29"/>
          <p:cNvSpPr txBox="1"/>
          <p:nvPr/>
        </p:nvSpPr>
        <p:spPr>
          <a:xfrm>
            <a:off x="7235953" y="4163376"/>
            <a:ext cx="2148839" cy="274320"/>
          </a:xfrm>
          <a:prstGeom prst="rect">
            <a:avLst/>
          </a:prstGeom>
          <a:noFill/>
        </p:spPr>
        <p:txBody>
          <a:bodyPr wrap="square">
            <a:spAutoFit/>
          </a:bodyPr>
          <a:lstStyle/>
          <a:p>
            <a:pPr algn="ctr"/>
            <a:r>
              <a:rPr sz="1200" b="1" i="0">
                <a:solidFill>
                  <a:srgbClr val="12173A"/>
                </a:solidFill>
                <a:latin typeface="Calibri"/>
              </a:rPr>
              <a:t>4. First Reappearance</a:t>
            </a:r>
          </a:p>
        </p:txBody>
      </p:sp>
      <p:sp>
        <p:nvSpPr>
          <p:cNvPr id="31" name="TextBox 30"/>
          <p:cNvSpPr txBox="1"/>
          <p:nvPr/>
        </p:nvSpPr>
        <p:spPr>
          <a:xfrm>
            <a:off x="7235953" y="4455984"/>
            <a:ext cx="2148839" cy="411480"/>
          </a:xfrm>
          <a:prstGeom prst="rect">
            <a:avLst/>
          </a:prstGeom>
          <a:noFill/>
        </p:spPr>
        <p:txBody>
          <a:bodyPr wrap="square">
            <a:spAutoFit/>
          </a:bodyPr>
          <a:lstStyle/>
          <a:p>
            <a:pPr algn="ctr">
              <a:lnSpc>
                <a:spcPct val="100000"/>
              </a:lnSpc>
            </a:pPr>
            <a:r>
              <a:rPr sz="1000" b="0" i="0">
                <a:solidFill>
                  <a:srgbClr val="69728C"/>
                </a:solidFill>
                <a:latin typeface="Calibri"/>
              </a:rPr>
              <a:t>Target partially visible</a:t>
            </a:r>
          </a:p>
        </p:txBody>
      </p:sp>
      <p:pic>
        <p:nvPicPr>
          <p:cNvPr id="32" name="Picture 31" descr="5_full_appearance.jpg"/>
          <p:cNvPicPr>
            <a:picLocks noChangeAspect="1"/>
          </p:cNvPicPr>
          <p:nvPr/>
        </p:nvPicPr>
        <p:blipFill>
          <a:blip r:embed="rId7"/>
          <a:stretch>
            <a:fillRect/>
          </a:stretch>
        </p:blipFill>
        <p:spPr>
          <a:xfrm>
            <a:off x="9540240" y="3017520"/>
            <a:ext cx="1874519" cy="1054416"/>
          </a:xfrm>
          <a:prstGeom prst="rect">
            <a:avLst/>
          </a:prstGeom>
          <a:ln w="9525">
            <a:solidFill>
              <a:srgbClr val="DDE2F0"/>
            </a:solidFill>
          </a:ln>
          <a:effectLst>
            <a:outerShdw blurRad="177800" dist="50800" dir="2700000" rotWithShape="0">
              <a:srgbClr val="12173A">
                <a:alpha val="32000"/>
              </a:srgbClr>
            </a:outerShdw>
          </a:effectLst>
        </p:spPr>
      </p:pic>
      <p:sp>
        <p:nvSpPr>
          <p:cNvPr id="33" name="TextBox 32"/>
          <p:cNvSpPr txBox="1"/>
          <p:nvPr/>
        </p:nvSpPr>
        <p:spPr>
          <a:xfrm>
            <a:off x="9247632" y="3407568"/>
            <a:ext cx="292608" cy="274320"/>
          </a:xfrm>
          <a:prstGeom prst="rect">
            <a:avLst/>
          </a:prstGeom>
          <a:noFill/>
        </p:spPr>
        <p:txBody>
          <a:bodyPr wrap="square">
            <a:spAutoFit/>
          </a:bodyPr>
          <a:lstStyle/>
          <a:p>
            <a:pPr algn="ctr"/>
            <a:r>
              <a:rPr sz="1800" b="1" i="0">
                <a:solidFill>
                  <a:srgbClr val="69728C"/>
                </a:solidFill>
                <a:latin typeface="Calibri"/>
              </a:rPr>
              <a:t>→</a:t>
            </a:r>
          </a:p>
        </p:txBody>
      </p:sp>
      <p:sp>
        <p:nvSpPr>
          <p:cNvPr id="34" name="TextBox 33"/>
          <p:cNvSpPr txBox="1"/>
          <p:nvPr/>
        </p:nvSpPr>
        <p:spPr>
          <a:xfrm>
            <a:off x="9403080" y="4163376"/>
            <a:ext cx="2148839" cy="274320"/>
          </a:xfrm>
          <a:prstGeom prst="rect">
            <a:avLst/>
          </a:prstGeom>
          <a:noFill/>
        </p:spPr>
        <p:txBody>
          <a:bodyPr wrap="square">
            <a:spAutoFit/>
          </a:bodyPr>
          <a:lstStyle/>
          <a:p>
            <a:pPr algn="ctr"/>
            <a:r>
              <a:rPr sz="1200" b="1" i="0">
                <a:solidFill>
                  <a:srgbClr val="12173A"/>
                </a:solidFill>
                <a:latin typeface="Calibri"/>
              </a:rPr>
              <a:t>5. Full Appearance</a:t>
            </a:r>
          </a:p>
        </p:txBody>
      </p:sp>
      <p:sp>
        <p:nvSpPr>
          <p:cNvPr id="35" name="TextBox 34"/>
          <p:cNvSpPr txBox="1"/>
          <p:nvPr/>
        </p:nvSpPr>
        <p:spPr>
          <a:xfrm>
            <a:off x="9403080" y="4455984"/>
            <a:ext cx="2148839" cy="411480"/>
          </a:xfrm>
          <a:prstGeom prst="rect">
            <a:avLst/>
          </a:prstGeom>
          <a:noFill/>
        </p:spPr>
        <p:txBody>
          <a:bodyPr wrap="square">
            <a:spAutoFit/>
          </a:bodyPr>
          <a:lstStyle/>
          <a:p>
            <a:pPr algn="ctr">
              <a:lnSpc>
                <a:spcPct val="100000"/>
              </a:lnSpc>
            </a:pPr>
            <a:r>
              <a:rPr sz="1000" b="0" i="0">
                <a:solidFill>
                  <a:srgbClr val="69728C"/>
                </a:solidFill>
                <a:latin typeface="Calibri"/>
              </a:rPr>
              <a:t>Target fully visible again</a:t>
            </a:r>
          </a:p>
        </p:txBody>
      </p:sp>
      <p:sp>
        <p:nvSpPr>
          <p:cNvPr id="7" name="Rectangle 6">
            <a:extLst>
              <a:ext uri="{FF2B5EF4-FFF2-40B4-BE49-F238E27FC236}">
                <a16:creationId xmlns:a16="http://schemas.microsoft.com/office/drawing/2014/main" id="{DBBEC2CC-E5B9-ADA9-B917-D77FF61C7198}"/>
              </a:ext>
            </a:extLst>
          </p:cNvPr>
          <p:cNvSpPr/>
          <p:nvPr/>
        </p:nvSpPr>
        <p:spPr>
          <a:xfrm>
            <a:off x="1" y="6288436"/>
            <a:ext cx="12192000" cy="569564"/>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7315200" cy="320040"/>
          </a:xfrm>
          <a:prstGeom prst="rect">
            <a:avLst/>
          </a:prstGeom>
          <a:noFill/>
        </p:spPr>
        <p:txBody>
          <a:bodyPr wrap="square">
            <a:spAutoFit/>
          </a:bodyPr>
          <a:lstStyle/>
          <a:p>
            <a:pPr algn="l"/>
            <a:r>
              <a:rPr sz="1300" b="1" i="0">
                <a:solidFill>
                  <a:srgbClr val="FFA630"/>
                </a:solidFill>
                <a:latin typeface="Calibri"/>
              </a:rPr>
              <a:t>EVIDENCE 1 · BASELINE</a:t>
            </a:r>
          </a:p>
        </p:txBody>
      </p:sp>
      <p:sp>
        <p:nvSpPr>
          <p:cNvPr id="3" name="TextBox 2"/>
          <p:cNvSpPr txBox="1"/>
          <p:nvPr/>
        </p:nvSpPr>
        <p:spPr>
          <a:xfrm>
            <a:off x="640080" y="749808"/>
            <a:ext cx="10881360" cy="548640"/>
          </a:xfrm>
          <a:prstGeom prst="rect">
            <a:avLst/>
          </a:prstGeom>
          <a:noFill/>
        </p:spPr>
        <p:txBody>
          <a:bodyPr wrap="square">
            <a:spAutoFit/>
          </a:bodyPr>
          <a:lstStyle/>
          <a:p>
            <a:pPr algn="l"/>
            <a:r>
              <a:rPr sz="2500" b="1" i="0">
                <a:solidFill>
                  <a:srgbClr val="12173A"/>
                </a:solidFill>
                <a:latin typeface="Cambria"/>
              </a:rPr>
              <a:t>Detection Performance Across Occlusion Stages</a:t>
            </a:r>
          </a:p>
        </p:txBody>
      </p:sp>
      <p:sp>
        <p:nvSpPr>
          <p:cNvPr id="4" name="Rectangle 3"/>
          <p:cNvSpPr/>
          <p:nvPr/>
        </p:nvSpPr>
        <p:spPr>
          <a:xfrm>
            <a:off x="640080" y="1298448"/>
            <a:ext cx="50292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17320"/>
            <a:ext cx="10911535" cy="365760"/>
          </a:xfrm>
          <a:prstGeom prst="rect">
            <a:avLst/>
          </a:prstGeom>
          <a:noFill/>
        </p:spPr>
        <p:txBody>
          <a:bodyPr wrap="square">
            <a:spAutoFit/>
          </a:bodyPr>
          <a:lstStyle/>
          <a:p>
            <a:pPr algn="l"/>
            <a:r>
              <a:rPr sz="1350" b="0" i="0">
                <a:solidFill>
                  <a:srgbClr val="2E3348"/>
                </a:solidFill>
                <a:latin typeface="Calibri"/>
              </a:rPr>
              <a:t>Pretrained YOLO nano, CPU-only, on 8 real nuScenes occlusion sequences — tracked through 5 stages, from clearly visible to fully hidden and back.</a:t>
            </a:r>
          </a:p>
        </p:txBody>
      </p:sp>
      <p:graphicFrame>
        <p:nvGraphicFramePr>
          <p:cNvPr id="6" name="Chart 5"/>
          <p:cNvGraphicFramePr>
            <a:graphicFrameLocks noGrp="1"/>
          </p:cNvGraphicFramePr>
          <p:nvPr/>
        </p:nvGraphicFramePr>
        <p:xfrm>
          <a:off x="640080" y="1783080"/>
          <a:ext cx="5349240" cy="2286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p:cNvGraphicFramePr>
            <a:graphicFrameLocks noGrp="1"/>
          </p:cNvGraphicFramePr>
          <p:nvPr/>
        </p:nvGraphicFramePr>
        <p:xfrm>
          <a:off x="6263640" y="1783080"/>
          <a:ext cx="5349240" cy="2286000"/>
        </p:xfrm>
        <a:graphic>
          <a:graphicData uri="http://schemas.openxmlformats.org/drawingml/2006/chart">
            <c:chart xmlns:c="http://schemas.openxmlformats.org/drawingml/2006/chart" xmlns:r="http://schemas.openxmlformats.org/officeDocument/2006/relationships" r:id="rId4"/>
          </a:graphicData>
        </a:graphic>
      </p:graphicFrame>
      <p:pic>
        <p:nvPicPr>
          <p:cNvPr id="8" name="Picture 7" descr="assets_yolo_only_crop_sample_003.jpg"/>
          <p:cNvPicPr>
            <a:picLocks noChangeAspect="1"/>
          </p:cNvPicPr>
          <p:nvPr/>
        </p:nvPicPr>
        <p:blipFill>
          <a:blip r:embed="rId5"/>
          <a:stretch>
            <a:fillRect/>
          </a:stretch>
        </p:blipFill>
        <p:spPr>
          <a:xfrm>
            <a:off x="640080" y="4206240"/>
            <a:ext cx="3017520" cy="1697355"/>
          </a:xfrm>
          <a:prstGeom prst="rect">
            <a:avLst/>
          </a:prstGeom>
          <a:ln w="9525">
            <a:solidFill>
              <a:srgbClr val="DDE2F0"/>
            </a:solidFill>
          </a:ln>
          <a:effectLst>
            <a:outerShdw blurRad="177800" dist="50800" dir="2700000" rotWithShape="0">
              <a:srgbClr val="12173A">
                <a:alpha val="32000"/>
              </a:srgbClr>
            </a:outerShdw>
          </a:effectLst>
        </p:spPr>
      </p:pic>
      <p:sp>
        <p:nvSpPr>
          <p:cNvPr id="9" name="TextBox 8"/>
          <p:cNvSpPr txBox="1"/>
          <p:nvPr/>
        </p:nvSpPr>
        <p:spPr>
          <a:xfrm>
            <a:off x="640080" y="5958459"/>
            <a:ext cx="3017520" cy="548640"/>
          </a:xfrm>
          <a:prstGeom prst="rect">
            <a:avLst/>
          </a:prstGeom>
          <a:noFill/>
        </p:spPr>
        <p:txBody>
          <a:bodyPr wrap="square">
            <a:spAutoFit/>
          </a:bodyPr>
          <a:lstStyle/>
          <a:p>
            <a:pPr algn="ctr"/>
            <a:r>
              <a:rPr sz="1050" b="0" i="1">
                <a:solidFill>
                  <a:srgbClr val="69728C"/>
                </a:solidFill>
                <a:latin typeface="Calibri"/>
              </a:rPr>
              <a:t>Full occlusion, sample_003: the detector produces no bounding box for the target. This reflects a missed detection, not a misclassification.</a:t>
            </a:r>
          </a:p>
        </p:txBody>
      </p:sp>
      <p:sp>
        <p:nvSpPr>
          <p:cNvPr id="10" name="Rounded Rectangle 9"/>
          <p:cNvSpPr/>
          <p:nvPr/>
        </p:nvSpPr>
        <p:spPr>
          <a:xfrm>
            <a:off x="3931920" y="4206240"/>
            <a:ext cx="7619695" cy="1188720"/>
          </a:xfrm>
          <a:prstGeom prst="roundRect">
            <a:avLst>
              <a:gd name="adj" fmla="val 10000"/>
            </a:avLst>
          </a:prstGeom>
          <a:solidFill>
            <a:srgbClr val="1E2761"/>
          </a:solidFill>
          <a:ln>
            <a:noFill/>
          </a:ln>
          <a:effectLst>
            <a:outerShdw blurRad="203200" dist="63500" dir="2700000" rotWithShape="0">
              <a:srgbClr val="12173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931920" y="4370832"/>
            <a:ext cx="2539898" cy="430887"/>
          </a:xfrm>
          <a:prstGeom prst="rect">
            <a:avLst/>
          </a:prstGeom>
          <a:noFill/>
        </p:spPr>
        <p:txBody>
          <a:bodyPr wrap="square">
            <a:spAutoFit/>
          </a:bodyPr>
          <a:lstStyle/>
          <a:p>
            <a:pPr algn="ctr"/>
            <a:r>
              <a:rPr sz="2200" b="1" i="0" dirty="0">
                <a:solidFill>
                  <a:srgbClr val="FFA630"/>
                </a:solidFill>
                <a:latin typeface="Cambria"/>
              </a:rPr>
              <a:t>100% → 1</a:t>
            </a:r>
            <a:r>
              <a:rPr lang="en-GB" sz="2200" b="1" i="0" dirty="0">
                <a:solidFill>
                  <a:srgbClr val="FFA630"/>
                </a:solidFill>
                <a:latin typeface="Cambria"/>
              </a:rPr>
              <a:t>3</a:t>
            </a:r>
            <a:r>
              <a:rPr sz="2200" b="1" i="0" dirty="0">
                <a:solidFill>
                  <a:srgbClr val="FFA630"/>
                </a:solidFill>
                <a:latin typeface="Cambria"/>
              </a:rPr>
              <a:t>%</a:t>
            </a:r>
          </a:p>
        </p:txBody>
      </p:sp>
      <p:sp>
        <p:nvSpPr>
          <p:cNvPr id="12" name="TextBox 11"/>
          <p:cNvSpPr txBox="1"/>
          <p:nvPr/>
        </p:nvSpPr>
        <p:spPr>
          <a:xfrm>
            <a:off x="4069080" y="4992624"/>
            <a:ext cx="2265578" cy="320040"/>
          </a:xfrm>
          <a:prstGeom prst="rect">
            <a:avLst/>
          </a:prstGeom>
          <a:noFill/>
        </p:spPr>
        <p:txBody>
          <a:bodyPr wrap="square">
            <a:spAutoFit/>
          </a:bodyPr>
          <a:lstStyle/>
          <a:p>
            <a:pPr algn="ctr">
              <a:lnSpc>
                <a:spcPct val="105000"/>
              </a:lnSpc>
            </a:pPr>
            <a:r>
              <a:rPr sz="1050" b="0" i="0">
                <a:solidFill>
                  <a:srgbClr val="CADCFC"/>
                </a:solidFill>
                <a:latin typeface="Calibri"/>
              </a:rPr>
              <a:t>detection rate at full occlusion</a:t>
            </a:r>
          </a:p>
        </p:txBody>
      </p:sp>
      <p:sp>
        <p:nvSpPr>
          <p:cNvPr id="13" name="TextBox 12"/>
          <p:cNvSpPr txBox="1"/>
          <p:nvPr/>
        </p:nvSpPr>
        <p:spPr>
          <a:xfrm>
            <a:off x="6471818" y="4370832"/>
            <a:ext cx="2539898" cy="640080"/>
          </a:xfrm>
          <a:prstGeom prst="rect">
            <a:avLst/>
          </a:prstGeom>
          <a:noFill/>
        </p:spPr>
        <p:txBody>
          <a:bodyPr wrap="square">
            <a:spAutoFit/>
          </a:bodyPr>
          <a:lstStyle/>
          <a:p>
            <a:pPr algn="ctr"/>
            <a:r>
              <a:rPr sz="2200" b="1" i="0">
                <a:solidFill>
                  <a:srgbClr val="FFA630"/>
                </a:solidFill>
                <a:latin typeface="Cambria"/>
              </a:rPr>
              <a:t>0.77 → 0.03</a:t>
            </a:r>
          </a:p>
        </p:txBody>
      </p:sp>
      <p:sp>
        <p:nvSpPr>
          <p:cNvPr id="14" name="TextBox 13"/>
          <p:cNvSpPr txBox="1"/>
          <p:nvPr/>
        </p:nvSpPr>
        <p:spPr>
          <a:xfrm>
            <a:off x="6608978" y="4992624"/>
            <a:ext cx="2265578" cy="320040"/>
          </a:xfrm>
          <a:prstGeom prst="rect">
            <a:avLst/>
          </a:prstGeom>
          <a:noFill/>
        </p:spPr>
        <p:txBody>
          <a:bodyPr wrap="square">
            <a:spAutoFit/>
          </a:bodyPr>
          <a:lstStyle/>
          <a:p>
            <a:pPr algn="ctr">
              <a:lnSpc>
                <a:spcPct val="105000"/>
              </a:lnSpc>
            </a:pPr>
            <a:r>
              <a:rPr sz="1050" b="0" i="0">
                <a:solidFill>
                  <a:srgbClr val="CADCFC"/>
                </a:solidFill>
                <a:latin typeface="Calibri"/>
              </a:rPr>
              <a:t>mean confidence at full occlusion</a:t>
            </a:r>
          </a:p>
        </p:txBody>
      </p:sp>
      <p:sp>
        <p:nvSpPr>
          <p:cNvPr id="15" name="Rectangle 14"/>
          <p:cNvSpPr/>
          <p:nvPr/>
        </p:nvSpPr>
        <p:spPr>
          <a:xfrm>
            <a:off x="6471818" y="4407408"/>
            <a:ext cx="12700" cy="786384"/>
          </a:xfrm>
          <a:prstGeom prst="rect">
            <a:avLst/>
          </a:prstGeom>
          <a:solidFill>
            <a:srgbClr val="CADCFC">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011716" y="4370832"/>
            <a:ext cx="2539898" cy="640080"/>
          </a:xfrm>
          <a:prstGeom prst="rect">
            <a:avLst/>
          </a:prstGeom>
          <a:noFill/>
        </p:spPr>
        <p:txBody>
          <a:bodyPr wrap="square">
            <a:spAutoFit/>
          </a:bodyPr>
          <a:lstStyle/>
          <a:p>
            <a:pPr algn="ctr"/>
            <a:r>
              <a:rPr sz="2200" b="1" i="0">
                <a:solidFill>
                  <a:srgbClr val="FFA630"/>
                </a:solidFill>
                <a:latin typeface="Cambria"/>
              </a:rPr>
              <a:t>100%</a:t>
            </a:r>
          </a:p>
        </p:txBody>
      </p:sp>
      <p:sp>
        <p:nvSpPr>
          <p:cNvPr id="17" name="TextBox 16"/>
          <p:cNvSpPr txBox="1"/>
          <p:nvPr/>
        </p:nvSpPr>
        <p:spPr>
          <a:xfrm>
            <a:off x="9148876" y="4992624"/>
            <a:ext cx="2265578" cy="320040"/>
          </a:xfrm>
          <a:prstGeom prst="rect">
            <a:avLst/>
          </a:prstGeom>
          <a:noFill/>
        </p:spPr>
        <p:txBody>
          <a:bodyPr wrap="square">
            <a:spAutoFit/>
          </a:bodyPr>
          <a:lstStyle/>
          <a:p>
            <a:pPr algn="ctr">
              <a:lnSpc>
                <a:spcPct val="105000"/>
              </a:lnSpc>
            </a:pPr>
            <a:r>
              <a:rPr sz="1050" b="0" i="0">
                <a:solidFill>
                  <a:srgbClr val="CADCFC"/>
                </a:solidFill>
                <a:latin typeface="Calibri"/>
              </a:rPr>
              <a:t>correct class whenever detected</a:t>
            </a:r>
          </a:p>
        </p:txBody>
      </p:sp>
      <p:sp>
        <p:nvSpPr>
          <p:cNvPr id="18" name="Rectangle 17"/>
          <p:cNvSpPr/>
          <p:nvPr/>
        </p:nvSpPr>
        <p:spPr>
          <a:xfrm>
            <a:off x="9011716" y="4407408"/>
            <a:ext cx="12700" cy="786384"/>
          </a:xfrm>
          <a:prstGeom prst="rect">
            <a:avLst/>
          </a:prstGeom>
          <a:solidFill>
            <a:srgbClr val="CADCFC">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931920" y="5486400"/>
            <a:ext cx="7619695" cy="365760"/>
          </a:xfrm>
          <a:prstGeom prst="rect">
            <a:avLst/>
          </a:prstGeom>
          <a:noFill/>
        </p:spPr>
        <p:txBody>
          <a:bodyPr wrap="square">
            <a:spAutoFit/>
          </a:bodyPr>
          <a:lstStyle/>
          <a:p>
            <a:pPr algn="l"/>
            <a:r>
              <a:rPr sz="1100" b="0" i="1">
                <a:solidFill>
                  <a:srgbClr val="69728C"/>
                </a:solidFill>
                <a:latin typeface="Calibri"/>
              </a:rPr>
              <a:t>Partial-occlusion stages have small sample sizes (n=2-3) — interpret with caution.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7315200" cy="320040"/>
          </a:xfrm>
          <a:prstGeom prst="rect">
            <a:avLst/>
          </a:prstGeom>
          <a:noFill/>
        </p:spPr>
        <p:txBody>
          <a:bodyPr wrap="square">
            <a:spAutoFit/>
          </a:bodyPr>
          <a:lstStyle/>
          <a:p>
            <a:pPr algn="l"/>
            <a:r>
              <a:rPr sz="1300" b="1" i="0">
                <a:solidFill>
                  <a:srgbClr val="FFA630"/>
                </a:solidFill>
                <a:latin typeface="Calibri"/>
              </a:rPr>
              <a:t>EVIDENCE 2 · NAIVE MEMORY</a:t>
            </a:r>
          </a:p>
        </p:txBody>
      </p:sp>
      <p:sp>
        <p:nvSpPr>
          <p:cNvPr id="3" name="TextBox 2"/>
          <p:cNvSpPr txBox="1"/>
          <p:nvPr/>
        </p:nvSpPr>
        <p:spPr>
          <a:xfrm>
            <a:off x="640080" y="749808"/>
            <a:ext cx="10881360" cy="548640"/>
          </a:xfrm>
          <a:prstGeom prst="rect">
            <a:avLst/>
          </a:prstGeom>
          <a:noFill/>
        </p:spPr>
        <p:txBody>
          <a:bodyPr wrap="square">
            <a:spAutoFit/>
          </a:bodyPr>
          <a:lstStyle/>
          <a:p>
            <a:pPr algn="l"/>
            <a:r>
              <a:rPr sz="2500" b="1" i="0">
                <a:solidFill>
                  <a:srgbClr val="12173A"/>
                </a:solidFill>
                <a:latin typeface="Cambria"/>
              </a:rPr>
              <a:t>Baseline Approach: Static Position Retention</a:t>
            </a:r>
          </a:p>
        </p:txBody>
      </p:sp>
      <p:sp>
        <p:nvSpPr>
          <p:cNvPr id="4" name="Rectangle 3"/>
          <p:cNvSpPr/>
          <p:nvPr/>
        </p:nvSpPr>
        <p:spPr>
          <a:xfrm>
            <a:off x="640080" y="1298448"/>
            <a:ext cx="50292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17320"/>
            <a:ext cx="10911535" cy="320040"/>
          </a:xfrm>
          <a:prstGeom prst="rect">
            <a:avLst/>
          </a:prstGeom>
          <a:noFill/>
        </p:spPr>
        <p:txBody>
          <a:bodyPr wrap="square">
            <a:spAutoFit/>
          </a:bodyPr>
          <a:lstStyle/>
          <a:p>
            <a:pPr algn="l"/>
            <a:r>
              <a:rPr sz="1350" b="0" i="0">
                <a:solidFill>
                  <a:srgbClr val="2E3348"/>
                </a:solidFill>
                <a:latin typeface="Calibri"/>
              </a:rPr>
              <a:t>When the detector loses the target, its most recently observed bounding box is retained and continues to be displayed, rather than discarded.</a:t>
            </a:r>
          </a:p>
        </p:txBody>
      </p:sp>
      <p:sp>
        <p:nvSpPr>
          <p:cNvPr id="6" name="Rounded Rectangle 5"/>
          <p:cNvSpPr/>
          <p:nvPr/>
        </p:nvSpPr>
        <p:spPr>
          <a:xfrm>
            <a:off x="1203807" y="1828800"/>
            <a:ext cx="2011680" cy="384048"/>
          </a:xfrm>
          <a:prstGeom prst="roundRect">
            <a:avLst>
              <a:gd name="adj" fmla="val 50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Calibri"/>
              </a:rPr>
              <a:t>BEST CASE</a:t>
            </a:r>
          </a:p>
        </p:txBody>
      </p:sp>
      <p:sp>
        <p:nvSpPr>
          <p:cNvPr id="7" name="Rounded Rectangle 6"/>
          <p:cNvSpPr/>
          <p:nvPr/>
        </p:nvSpPr>
        <p:spPr>
          <a:xfrm>
            <a:off x="6233007" y="1828800"/>
            <a:ext cx="2103120" cy="384048"/>
          </a:xfrm>
          <a:prstGeom prst="roundRect">
            <a:avLst>
              <a:gd name="adj" fmla="val 5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Calibri"/>
              </a:rPr>
              <a:t>WORST CASE</a:t>
            </a:r>
          </a:p>
        </p:txBody>
      </p:sp>
      <p:pic>
        <p:nvPicPr>
          <p:cNvPr id="8" name="Picture 7" descr="comparison_2_reappearance.jpg"/>
          <p:cNvPicPr>
            <a:picLocks noChangeAspect="1"/>
          </p:cNvPicPr>
          <p:nvPr/>
        </p:nvPicPr>
        <p:blipFill>
          <a:blip r:embed="rId3"/>
          <a:stretch>
            <a:fillRect/>
          </a:stretch>
        </p:blipFill>
        <p:spPr>
          <a:xfrm>
            <a:off x="1203807" y="2212848"/>
            <a:ext cx="4754880" cy="2674620"/>
          </a:xfrm>
          <a:prstGeom prst="rect">
            <a:avLst/>
          </a:prstGeom>
          <a:ln w="9525">
            <a:solidFill>
              <a:srgbClr val="DDE2F0"/>
            </a:solidFill>
          </a:ln>
          <a:effectLst>
            <a:outerShdw blurRad="177800" dist="50800" dir="2700000" rotWithShape="0">
              <a:srgbClr val="12173A">
                <a:alpha val="32000"/>
              </a:srgbClr>
            </a:outerShdw>
          </a:effectLst>
        </p:spPr>
      </p:pic>
      <p:pic>
        <p:nvPicPr>
          <p:cNvPr id="9" name="Picture 8" descr="comparison_2_reappearance.jpg"/>
          <p:cNvPicPr>
            <a:picLocks noChangeAspect="1"/>
          </p:cNvPicPr>
          <p:nvPr/>
        </p:nvPicPr>
        <p:blipFill>
          <a:blip r:embed="rId4"/>
          <a:stretch>
            <a:fillRect/>
          </a:stretch>
        </p:blipFill>
        <p:spPr>
          <a:xfrm>
            <a:off x="6233007" y="2212848"/>
            <a:ext cx="4754880" cy="2674620"/>
          </a:xfrm>
          <a:prstGeom prst="rect">
            <a:avLst/>
          </a:prstGeom>
          <a:ln w="9525">
            <a:solidFill>
              <a:srgbClr val="DDE2F0"/>
            </a:solidFill>
          </a:ln>
          <a:effectLst>
            <a:outerShdw blurRad="177800" dist="50800" dir="2700000" rotWithShape="0">
              <a:srgbClr val="12173A">
                <a:alpha val="32000"/>
              </a:srgbClr>
            </a:outerShdw>
          </a:effectLst>
        </p:spPr>
      </p:pic>
      <p:sp>
        <p:nvSpPr>
          <p:cNvPr id="10" name="TextBox 9"/>
          <p:cNvSpPr txBox="1"/>
          <p:nvPr/>
        </p:nvSpPr>
        <p:spPr>
          <a:xfrm>
            <a:off x="1203807" y="4960620"/>
            <a:ext cx="4754880" cy="365760"/>
          </a:xfrm>
          <a:prstGeom prst="rect">
            <a:avLst/>
          </a:prstGeom>
          <a:noFill/>
        </p:spPr>
        <p:txBody>
          <a:bodyPr wrap="square">
            <a:spAutoFit/>
          </a:bodyPr>
          <a:lstStyle/>
          <a:p>
            <a:pPr algn="ctr"/>
            <a:r>
              <a:rPr sz="1150" b="0" i="1">
                <a:solidFill>
                  <a:srgbClr val="69728C"/>
                </a:solidFill>
                <a:latin typeface="Calibri"/>
              </a:rPr>
              <a:t>sample_003 — reappears next to a bus (83 px, IoU 0.34 — boxes barely overlap by a third)</a:t>
            </a:r>
          </a:p>
        </p:txBody>
      </p:sp>
      <p:sp>
        <p:nvSpPr>
          <p:cNvPr id="11" name="TextBox 10"/>
          <p:cNvSpPr txBox="1"/>
          <p:nvPr/>
        </p:nvSpPr>
        <p:spPr>
          <a:xfrm>
            <a:off x="6233007" y="4960620"/>
            <a:ext cx="4754880" cy="365760"/>
          </a:xfrm>
          <a:prstGeom prst="rect">
            <a:avLst/>
          </a:prstGeom>
          <a:noFill/>
        </p:spPr>
        <p:txBody>
          <a:bodyPr wrap="square">
            <a:spAutoFit/>
          </a:bodyPr>
          <a:lstStyle/>
          <a:p>
            <a:pPr algn="ctr"/>
            <a:r>
              <a:rPr sz="1150" b="0" i="1">
                <a:solidFill>
                  <a:srgbClr val="69728C"/>
                </a:solidFill>
                <a:latin typeface="Calibri"/>
              </a:rPr>
              <a:t>sample_006 — crossing an intersection (589 px, IoU 0.00)</a:t>
            </a:r>
          </a:p>
        </p:txBody>
      </p:sp>
      <p:sp>
        <p:nvSpPr>
          <p:cNvPr id="12" name="TextBox 11"/>
          <p:cNvSpPr txBox="1"/>
          <p:nvPr/>
        </p:nvSpPr>
        <p:spPr>
          <a:xfrm>
            <a:off x="640080" y="5344668"/>
            <a:ext cx="10911535" cy="274320"/>
          </a:xfrm>
          <a:prstGeom prst="rect">
            <a:avLst/>
          </a:prstGeom>
          <a:noFill/>
        </p:spPr>
        <p:txBody>
          <a:bodyPr wrap="square">
            <a:spAutoFit/>
          </a:bodyPr>
          <a:lstStyle/>
          <a:p>
            <a:pPr algn="ctr"/>
            <a:r>
              <a:rPr sz="1100" b="0" i="1">
                <a:solidFill>
                  <a:srgbClr val="69728C"/>
                </a:solidFill>
                <a:latin typeface="Calibri"/>
              </a:rPr>
              <a:t>Also tested: sample_001 (127px), sample_004 (423px), sample_005 (432px) — same pattern across all 5.</a:t>
            </a:r>
          </a:p>
        </p:txBody>
      </p:sp>
      <p:sp>
        <p:nvSpPr>
          <p:cNvPr id="13" name="Rounded Rectangle 12"/>
          <p:cNvSpPr/>
          <p:nvPr/>
        </p:nvSpPr>
        <p:spPr>
          <a:xfrm>
            <a:off x="640080" y="5623560"/>
            <a:ext cx="10911535" cy="1097280"/>
          </a:xfrm>
          <a:prstGeom prst="roundRect">
            <a:avLst>
              <a:gd name="adj" fmla="val 10000"/>
            </a:avLst>
          </a:prstGeom>
          <a:solidFill>
            <a:srgbClr val="1E2761"/>
          </a:solidFill>
          <a:ln>
            <a:noFill/>
          </a:ln>
          <a:effectLst>
            <a:outerShdw blurRad="203200" dist="63500" dir="2700000" rotWithShape="0">
              <a:srgbClr val="12173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5788152"/>
            <a:ext cx="3637178" cy="640080"/>
          </a:xfrm>
          <a:prstGeom prst="rect">
            <a:avLst/>
          </a:prstGeom>
          <a:noFill/>
        </p:spPr>
        <p:txBody>
          <a:bodyPr wrap="square">
            <a:spAutoFit/>
          </a:bodyPr>
          <a:lstStyle/>
          <a:p>
            <a:pPr algn="ctr"/>
            <a:r>
              <a:rPr sz="2600" b="1" i="0">
                <a:solidFill>
                  <a:srgbClr val="FFA630"/>
                </a:solidFill>
                <a:latin typeface="Cambria"/>
              </a:rPr>
              <a:t>331 px</a:t>
            </a:r>
          </a:p>
        </p:txBody>
      </p:sp>
      <p:sp>
        <p:nvSpPr>
          <p:cNvPr id="15" name="TextBox 14"/>
          <p:cNvSpPr txBox="1"/>
          <p:nvPr/>
        </p:nvSpPr>
        <p:spPr>
          <a:xfrm>
            <a:off x="777240" y="6409944"/>
            <a:ext cx="3362858" cy="228600"/>
          </a:xfrm>
          <a:prstGeom prst="rect">
            <a:avLst/>
          </a:prstGeom>
          <a:noFill/>
        </p:spPr>
        <p:txBody>
          <a:bodyPr wrap="square">
            <a:spAutoFit/>
          </a:bodyPr>
          <a:lstStyle/>
          <a:p>
            <a:pPr algn="ctr">
              <a:lnSpc>
                <a:spcPct val="105000"/>
              </a:lnSpc>
            </a:pPr>
            <a:r>
              <a:rPr sz="1100" b="0" i="0">
                <a:solidFill>
                  <a:srgbClr val="CADCFC"/>
                </a:solidFill>
                <a:latin typeface="Calibri"/>
              </a:rPr>
              <a:t>mean center error on reappearance</a:t>
            </a:r>
          </a:p>
        </p:txBody>
      </p:sp>
      <p:sp>
        <p:nvSpPr>
          <p:cNvPr id="16" name="TextBox 15"/>
          <p:cNvSpPr txBox="1"/>
          <p:nvPr/>
        </p:nvSpPr>
        <p:spPr>
          <a:xfrm>
            <a:off x="4277258" y="5788152"/>
            <a:ext cx="3637178" cy="640080"/>
          </a:xfrm>
          <a:prstGeom prst="rect">
            <a:avLst/>
          </a:prstGeom>
          <a:noFill/>
        </p:spPr>
        <p:txBody>
          <a:bodyPr wrap="square">
            <a:spAutoFit/>
          </a:bodyPr>
          <a:lstStyle/>
          <a:p>
            <a:pPr algn="ctr"/>
            <a:r>
              <a:rPr sz="2600" b="1" i="0">
                <a:solidFill>
                  <a:srgbClr val="FFA630"/>
                </a:solidFill>
                <a:latin typeface="Cambria"/>
              </a:rPr>
              <a:t>0.085</a:t>
            </a:r>
          </a:p>
        </p:txBody>
      </p:sp>
      <p:sp>
        <p:nvSpPr>
          <p:cNvPr id="17" name="TextBox 16"/>
          <p:cNvSpPr txBox="1"/>
          <p:nvPr/>
        </p:nvSpPr>
        <p:spPr>
          <a:xfrm>
            <a:off x="4414418" y="6409944"/>
            <a:ext cx="3362858" cy="228600"/>
          </a:xfrm>
          <a:prstGeom prst="rect">
            <a:avLst/>
          </a:prstGeom>
          <a:noFill/>
        </p:spPr>
        <p:txBody>
          <a:bodyPr wrap="square">
            <a:spAutoFit/>
          </a:bodyPr>
          <a:lstStyle/>
          <a:p>
            <a:pPr algn="ctr">
              <a:lnSpc>
                <a:spcPct val="105000"/>
              </a:lnSpc>
            </a:pPr>
            <a:r>
              <a:rPr sz="1100" b="0" i="0">
                <a:solidFill>
                  <a:srgbClr val="CADCFC"/>
                </a:solidFill>
                <a:latin typeface="Calibri"/>
              </a:rPr>
              <a:t>mean IoU (median: 0.000)</a:t>
            </a:r>
          </a:p>
        </p:txBody>
      </p:sp>
      <p:sp>
        <p:nvSpPr>
          <p:cNvPr id="18" name="Rectangle 17"/>
          <p:cNvSpPr/>
          <p:nvPr/>
        </p:nvSpPr>
        <p:spPr>
          <a:xfrm>
            <a:off x="4277258" y="5824728"/>
            <a:ext cx="12700" cy="694944"/>
          </a:xfrm>
          <a:prstGeom prst="rect">
            <a:avLst/>
          </a:prstGeom>
          <a:solidFill>
            <a:srgbClr val="CADCFC">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914436" y="5788152"/>
            <a:ext cx="3637178" cy="640080"/>
          </a:xfrm>
          <a:prstGeom prst="rect">
            <a:avLst/>
          </a:prstGeom>
          <a:noFill/>
        </p:spPr>
        <p:txBody>
          <a:bodyPr wrap="square">
            <a:spAutoFit/>
          </a:bodyPr>
          <a:lstStyle/>
          <a:p>
            <a:pPr algn="ctr"/>
            <a:r>
              <a:rPr sz="2600" b="1" i="0">
                <a:solidFill>
                  <a:srgbClr val="FFA630"/>
                </a:solidFill>
                <a:latin typeface="Cambria"/>
              </a:rPr>
              <a:t>3 / 5</a:t>
            </a:r>
          </a:p>
        </p:txBody>
      </p:sp>
      <p:sp>
        <p:nvSpPr>
          <p:cNvPr id="20" name="TextBox 19"/>
          <p:cNvSpPr txBox="1"/>
          <p:nvPr/>
        </p:nvSpPr>
        <p:spPr>
          <a:xfrm>
            <a:off x="8051596" y="6409944"/>
            <a:ext cx="3362858" cy="228600"/>
          </a:xfrm>
          <a:prstGeom prst="rect">
            <a:avLst/>
          </a:prstGeom>
          <a:noFill/>
        </p:spPr>
        <p:txBody>
          <a:bodyPr wrap="square">
            <a:spAutoFit/>
          </a:bodyPr>
          <a:lstStyle/>
          <a:p>
            <a:pPr algn="ctr">
              <a:lnSpc>
                <a:spcPct val="105000"/>
              </a:lnSpc>
            </a:pPr>
            <a:r>
              <a:rPr sz="1100" b="0" i="0">
                <a:solidFill>
                  <a:srgbClr val="CADCFC"/>
                </a:solidFill>
                <a:latin typeface="Calibri"/>
              </a:rPr>
              <a:t>samples had zero box overlap</a:t>
            </a:r>
          </a:p>
        </p:txBody>
      </p:sp>
      <p:sp>
        <p:nvSpPr>
          <p:cNvPr id="21" name="Rectangle 20"/>
          <p:cNvSpPr/>
          <p:nvPr/>
        </p:nvSpPr>
        <p:spPr>
          <a:xfrm>
            <a:off x="7914436" y="5824728"/>
            <a:ext cx="12700" cy="694944"/>
          </a:xfrm>
          <a:prstGeom prst="rect">
            <a:avLst/>
          </a:prstGeom>
          <a:solidFill>
            <a:srgbClr val="CADCFC">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44043"/>
            <a:ext cx="7315200" cy="320040"/>
          </a:xfrm>
          <a:prstGeom prst="rect">
            <a:avLst/>
          </a:prstGeom>
          <a:noFill/>
        </p:spPr>
        <p:txBody>
          <a:bodyPr wrap="square">
            <a:spAutoFit/>
          </a:bodyPr>
          <a:lstStyle/>
          <a:p>
            <a:pPr algn="l"/>
            <a:r>
              <a:rPr sz="1300" b="1" i="0">
                <a:solidFill>
                  <a:srgbClr val="FFA630"/>
                </a:solidFill>
                <a:latin typeface="Calibri"/>
              </a:rPr>
              <a:t>EVIDENCE 2 · NAIVE MEMORY</a:t>
            </a:r>
          </a:p>
        </p:txBody>
      </p:sp>
      <p:sp>
        <p:nvSpPr>
          <p:cNvPr id="3" name="TextBox 2"/>
          <p:cNvSpPr txBox="1"/>
          <p:nvPr/>
        </p:nvSpPr>
        <p:spPr>
          <a:xfrm>
            <a:off x="640080" y="658368"/>
            <a:ext cx="10515600" cy="640080"/>
          </a:xfrm>
          <a:prstGeom prst="rect">
            <a:avLst/>
          </a:prstGeom>
          <a:noFill/>
        </p:spPr>
        <p:txBody>
          <a:bodyPr wrap="square">
            <a:spAutoFit/>
          </a:bodyPr>
          <a:lstStyle/>
          <a:p>
            <a:pPr algn="l"/>
            <a:r>
              <a:rPr sz="2400" b="1" i="0" dirty="0">
                <a:solidFill>
                  <a:srgbClr val="12173A"/>
                </a:solidFill>
                <a:latin typeface="Cambria"/>
              </a:rPr>
              <a:t>Static Position Retention: A Qualitative Comparison</a:t>
            </a:r>
          </a:p>
        </p:txBody>
      </p:sp>
      <p:sp>
        <p:nvSpPr>
          <p:cNvPr id="4" name="Rectangle 3"/>
          <p:cNvSpPr/>
          <p:nvPr/>
        </p:nvSpPr>
        <p:spPr>
          <a:xfrm>
            <a:off x="640080" y="1235964"/>
            <a:ext cx="50292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325880"/>
            <a:ext cx="10911840" cy="457200"/>
          </a:xfrm>
          <a:prstGeom prst="rect">
            <a:avLst/>
          </a:prstGeom>
          <a:noFill/>
        </p:spPr>
        <p:txBody>
          <a:bodyPr wrap="square">
            <a:spAutoFit/>
          </a:bodyPr>
          <a:lstStyle/>
          <a:p>
            <a:pPr algn="l"/>
            <a:r>
              <a:rPr sz="1350" b="0" i="0" dirty="0">
                <a:solidFill>
                  <a:srgbClr val="2E3348"/>
                </a:solidFill>
                <a:latin typeface="Calibri"/>
              </a:rPr>
              <a:t>Four views of the same sequence, shown side by side: the detector alone (track lost), static memory's retained position, motion-based prediction, and the withheld reference used to evaluate accuracy. The static-memory panel drifts away from the vehicle as it continues moving.</a:t>
            </a:r>
          </a:p>
        </p:txBody>
      </p:sp>
      <p:sp>
        <p:nvSpPr>
          <p:cNvPr id="7" name="TextBox 6"/>
          <p:cNvSpPr txBox="1"/>
          <p:nvPr/>
        </p:nvSpPr>
        <p:spPr>
          <a:xfrm>
            <a:off x="640080" y="6160770"/>
            <a:ext cx="10911840" cy="261610"/>
          </a:xfrm>
          <a:prstGeom prst="rect">
            <a:avLst/>
          </a:prstGeom>
          <a:noFill/>
        </p:spPr>
        <p:txBody>
          <a:bodyPr wrap="square">
            <a:spAutoFit/>
          </a:bodyPr>
          <a:lstStyle/>
          <a:p>
            <a:pPr algn="ctr"/>
            <a:r>
              <a:rPr sz="1100" b="0" i="1" dirty="0">
                <a:solidFill>
                  <a:srgbClr val="69728C"/>
                </a:solidFill>
                <a:latin typeface="Calibri"/>
              </a:rPr>
              <a:t>.</a:t>
            </a:r>
          </a:p>
        </p:txBody>
      </p:sp>
      <p:pic>
        <p:nvPicPr>
          <p:cNvPr id="8" name="Picture 7" descr="evidence2_comparison.gif"/>
          <p:cNvPicPr>
            <a:picLocks noChangeAspect="1"/>
          </p:cNvPicPr>
          <p:nvPr/>
        </p:nvPicPr>
        <p:blipFill>
          <a:blip r:embed="rId2"/>
          <a:stretch>
            <a:fillRect/>
          </a:stretch>
        </p:blipFill>
        <p:spPr>
          <a:xfrm>
            <a:off x="2093595" y="2115264"/>
            <a:ext cx="8004810" cy="4502706"/>
          </a:xfrm>
          <a:prstGeom prst="rect">
            <a:avLst/>
          </a:prstGeom>
          <a:ln w="9525">
            <a:solidFill>
              <a:srgbClr val="DDE2F0"/>
            </a:solid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7315200" cy="320040"/>
          </a:xfrm>
          <a:prstGeom prst="rect">
            <a:avLst/>
          </a:prstGeom>
          <a:noFill/>
        </p:spPr>
        <p:txBody>
          <a:bodyPr wrap="square">
            <a:spAutoFit/>
          </a:bodyPr>
          <a:lstStyle/>
          <a:p>
            <a:pPr algn="l"/>
            <a:r>
              <a:rPr sz="1300" b="1" i="0">
                <a:solidFill>
                  <a:srgbClr val="FFA630"/>
                </a:solidFill>
                <a:latin typeface="Calibri"/>
              </a:rPr>
              <a:t>EVIDENCE 3 · SORT MOTION PREDICTION</a:t>
            </a:r>
          </a:p>
        </p:txBody>
      </p:sp>
      <p:sp>
        <p:nvSpPr>
          <p:cNvPr id="3" name="TextBox 2"/>
          <p:cNvSpPr txBox="1"/>
          <p:nvPr/>
        </p:nvSpPr>
        <p:spPr>
          <a:xfrm>
            <a:off x="640080" y="749808"/>
            <a:ext cx="10881360" cy="548640"/>
          </a:xfrm>
          <a:prstGeom prst="rect">
            <a:avLst/>
          </a:prstGeom>
          <a:noFill/>
        </p:spPr>
        <p:txBody>
          <a:bodyPr wrap="square">
            <a:spAutoFit/>
          </a:bodyPr>
          <a:lstStyle/>
          <a:p>
            <a:pPr algn="l"/>
            <a:r>
              <a:rPr sz="2400" b="1" i="0">
                <a:solidFill>
                  <a:srgbClr val="12173A"/>
                </a:solidFill>
                <a:latin typeface="Cambria"/>
              </a:rPr>
              <a:t>Motion-Based Prediction: Results and Limitations</a:t>
            </a:r>
          </a:p>
        </p:txBody>
      </p:sp>
      <p:sp>
        <p:nvSpPr>
          <p:cNvPr id="4" name="Rectangle 3"/>
          <p:cNvSpPr/>
          <p:nvPr/>
        </p:nvSpPr>
        <p:spPr>
          <a:xfrm>
            <a:off x="640080" y="1298448"/>
            <a:ext cx="50292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17320"/>
            <a:ext cx="10911535" cy="320040"/>
          </a:xfrm>
          <a:prstGeom prst="rect">
            <a:avLst/>
          </a:prstGeom>
          <a:noFill/>
        </p:spPr>
        <p:txBody>
          <a:bodyPr wrap="square">
            <a:spAutoFit/>
          </a:bodyPr>
          <a:lstStyle/>
          <a:p>
            <a:pPr algn="l"/>
            <a:r>
              <a:rPr sz="1350" b="0" i="0" dirty="0">
                <a:solidFill>
                  <a:srgbClr val="2E3348"/>
                </a:solidFill>
                <a:latin typeface="Calibri"/>
              </a:rPr>
              <a:t>A SORT-style tracker that predicts object velocity rather than retaining a fixed position, evaluated on 9 vehicle tracks.</a:t>
            </a:r>
          </a:p>
        </p:txBody>
      </p:sp>
      <p:graphicFrame>
        <p:nvGraphicFramePr>
          <p:cNvPr id="6" name="Chart 5"/>
          <p:cNvGraphicFramePr>
            <a:graphicFrameLocks noGrp="1"/>
          </p:cNvGraphicFramePr>
          <p:nvPr/>
        </p:nvGraphicFramePr>
        <p:xfrm>
          <a:off x="640080" y="1828800"/>
          <a:ext cx="5349240" cy="23317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p:cNvGraphicFramePr>
            <a:graphicFrameLocks noGrp="1"/>
          </p:cNvGraphicFramePr>
          <p:nvPr/>
        </p:nvGraphicFramePr>
        <p:xfrm>
          <a:off x="6263640" y="1828800"/>
          <a:ext cx="5349240" cy="2331720"/>
        </p:xfrm>
        <a:graphic>
          <a:graphicData uri="http://schemas.openxmlformats.org/drawingml/2006/chart">
            <c:chart xmlns:c="http://schemas.openxmlformats.org/drawingml/2006/chart" xmlns:r="http://schemas.openxmlformats.org/officeDocument/2006/relationships" r:id="rId4"/>
          </a:graphicData>
        </a:graphic>
      </p:graphicFrame>
      <p:sp>
        <p:nvSpPr>
          <p:cNvPr id="8" name="Rounded Rectangle 7"/>
          <p:cNvSpPr/>
          <p:nvPr/>
        </p:nvSpPr>
        <p:spPr>
          <a:xfrm>
            <a:off x="640080" y="4297680"/>
            <a:ext cx="10911535" cy="1097280"/>
          </a:xfrm>
          <a:prstGeom prst="roundRect">
            <a:avLst>
              <a:gd name="adj" fmla="val 10000"/>
            </a:avLst>
          </a:prstGeom>
          <a:solidFill>
            <a:srgbClr val="1E2761"/>
          </a:solidFill>
          <a:ln>
            <a:noFill/>
          </a:ln>
          <a:effectLst>
            <a:outerShdw blurRad="203200" dist="63500" dir="2700000" rotWithShape="0">
              <a:srgbClr val="12173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4462272"/>
            <a:ext cx="3637178" cy="640080"/>
          </a:xfrm>
          <a:prstGeom prst="rect">
            <a:avLst/>
          </a:prstGeom>
          <a:noFill/>
        </p:spPr>
        <p:txBody>
          <a:bodyPr wrap="square">
            <a:spAutoFit/>
          </a:bodyPr>
          <a:lstStyle/>
          <a:p>
            <a:pPr algn="ctr"/>
            <a:r>
              <a:rPr sz="2300" b="1" i="0">
                <a:solidFill>
                  <a:srgbClr val="FFA630"/>
                </a:solidFill>
                <a:latin typeface="Cambria"/>
              </a:rPr>
              <a:t>46 → 17 px</a:t>
            </a:r>
          </a:p>
        </p:txBody>
      </p:sp>
      <p:sp>
        <p:nvSpPr>
          <p:cNvPr id="10" name="TextBox 9"/>
          <p:cNvSpPr txBox="1"/>
          <p:nvPr/>
        </p:nvSpPr>
        <p:spPr>
          <a:xfrm>
            <a:off x="777240" y="5084064"/>
            <a:ext cx="3362858" cy="228600"/>
          </a:xfrm>
          <a:prstGeom prst="rect">
            <a:avLst/>
          </a:prstGeom>
          <a:noFill/>
        </p:spPr>
        <p:txBody>
          <a:bodyPr wrap="square">
            <a:spAutoFit/>
          </a:bodyPr>
          <a:lstStyle/>
          <a:p>
            <a:pPr algn="ctr">
              <a:lnSpc>
                <a:spcPct val="105000"/>
              </a:lnSpc>
            </a:pPr>
            <a:r>
              <a:rPr sz="1050" b="0" i="0">
                <a:solidFill>
                  <a:srgbClr val="CADCFC"/>
                </a:solidFill>
                <a:latin typeface="Calibri"/>
              </a:rPr>
              <a:t>mean center error, static → SORT</a:t>
            </a:r>
          </a:p>
        </p:txBody>
      </p:sp>
      <p:sp>
        <p:nvSpPr>
          <p:cNvPr id="11" name="TextBox 10"/>
          <p:cNvSpPr txBox="1"/>
          <p:nvPr/>
        </p:nvSpPr>
        <p:spPr>
          <a:xfrm>
            <a:off x="4318102" y="4511128"/>
            <a:ext cx="3637178" cy="446276"/>
          </a:xfrm>
          <a:prstGeom prst="rect">
            <a:avLst/>
          </a:prstGeom>
          <a:noFill/>
        </p:spPr>
        <p:txBody>
          <a:bodyPr wrap="square">
            <a:spAutoFit/>
          </a:bodyPr>
          <a:lstStyle/>
          <a:p>
            <a:pPr algn="ctr"/>
            <a:r>
              <a:rPr sz="2300" b="1" i="0" dirty="0">
                <a:solidFill>
                  <a:schemeClr val="accent6"/>
                </a:solidFill>
                <a:latin typeface="Cambria"/>
              </a:rPr>
              <a:t>0.67 → 0.72</a:t>
            </a:r>
          </a:p>
        </p:txBody>
      </p:sp>
      <p:sp>
        <p:nvSpPr>
          <p:cNvPr id="12" name="TextBox 11"/>
          <p:cNvSpPr txBox="1"/>
          <p:nvPr/>
        </p:nvSpPr>
        <p:spPr>
          <a:xfrm>
            <a:off x="4414418" y="5084064"/>
            <a:ext cx="3362858" cy="228600"/>
          </a:xfrm>
          <a:prstGeom prst="rect">
            <a:avLst/>
          </a:prstGeom>
          <a:noFill/>
        </p:spPr>
        <p:txBody>
          <a:bodyPr wrap="square">
            <a:spAutoFit/>
          </a:bodyPr>
          <a:lstStyle/>
          <a:p>
            <a:pPr algn="ctr">
              <a:lnSpc>
                <a:spcPct val="105000"/>
              </a:lnSpc>
            </a:pPr>
            <a:r>
              <a:rPr sz="1050" b="0" i="0">
                <a:solidFill>
                  <a:srgbClr val="CADCFC"/>
                </a:solidFill>
                <a:latin typeface="Calibri"/>
              </a:rPr>
              <a:t>mean IoU, static → SORT</a:t>
            </a:r>
          </a:p>
        </p:txBody>
      </p:sp>
      <p:sp>
        <p:nvSpPr>
          <p:cNvPr id="13" name="Rectangle 12"/>
          <p:cNvSpPr/>
          <p:nvPr/>
        </p:nvSpPr>
        <p:spPr>
          <a:xfrm>
            <a:off x="4277258" y="4498848"/>
            <a:ext cx="12700" cy="694944"/>
          </a:xfrm>
          <a:prstGeom prst="rect">
            <a:avLst/>
          </a:prstGeom>
          <a:solidFill>
            <a:srgbClr val="CADCFC">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14436" y="4462272"/>
            <a:ext cx="3637178" cy="640080"/>
          </a:xfrm>
          <a:prstGeom prst="rect">
            <a:avLst/>
          </a:prstGeom>
          <a:noFill/>
        </p:spPr>
        <p:txBody>
          <a:bodyPr wrap="square">
            <a:spAutoFit/>
          </a:bodyPr>
          <a:lstStyle/>
          <a:p>
            <a:pPr algn="ctr"/>
            <a:r>
              <a:rPr sz="2300" b="1" i="0">
                <a:solidFill>
                  <a:srgbClr val="FFA630"/>
                </a:solidFill>
                <a:latin typeface="Cambria"/>
              </a:rPr>
              <a:t>9 tracks</a:t>
            </a:r>
          </a:p>
        </p:txBody>
      </p:sp>
      <p:sp>
        <p:nvSpPr>
          <p:cNvPr id="15" name="TextBox 14"/>
          <p:cNvSpPr txBox="1"/>
          <p:nvPr/>
        </p:nvSpPr>
        <p:spPr>
          <a:xfrm>
            <a:off x="8051596" y="5084064"/>
            <a:ext cx="3362858" cy="228600"/>
          </a:xfrm>
          <a:prstGeom prst="rect">
            <a:avLst/>
          </a:prstGeom>
          <a:noFill/>
        </p:spPr>
        <p:txBody>
          <a:bodyPr wrap="square">
            <a:spAutoFit/>
          </a:bodyPr>
          <a:lstStyle/>
          <a:p>
            <a:pPr algn="ctr">
              <a:lnSpc>
                <a:spcPct val="105000"/>
              </a:lnSpc>
            </a:pPr>
            <a:r>
              <a:rPr sz="1050" b="0" i="0">
                <a:solidFill>
                  <a:srgbClr val="CADCFC"/>
                </a:solidFill>
                <a:latin typeface="Calibri"/>
              </a:rPr>
              <a:t>cars only, across 3 clips</a:t>
            </a:r>
          </a:p>
        </p:txBody>
      </p:sp>
      <p:sp>
        <p:nvSpPr>
          <p:cNvPr id="16" name="Rectangle 15"/>
          <p:cNvSpPr/>
          <p:nvPr/>
        </p:nvSpPr>
        <p:spPr>
          <a:xfrm>
            <a:off x="7914436" y="4498848"/>
            <a:ext cx="12700" cy="694944"/>
          </a:xfrm>
          <a:prstGeom prst="rect">
            <a:avLst/>
          </a:prstGeom>
          <a:solidFill>
            <a:srgbClr val="CADCFC">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40080" y="5486400"/>
            <a:ext cx="10911535" cy="1234440"/>
          </a:xfrm>
          <a:prstGeom prst="roundRect">
            <a:avLst>
              <a:gd name="adj" fmla="val 6000"/>
            </a:avLst>
          </a:prstGeom>
          <a:solidFill>
            <a:srgbClr val="F3F5FA"/>
          </a:solidFill>
          <a:ln>
            <a:noFill/>
          </a:ln>
          <a:effectLst>
            <a:outerShdw blurRad="203200" dist="63500" dir="2700000" rotWithShape="0">
              <a:srgbClr val="12173A">
                <a:alpha val="38000"/>
              </a:srgbClr>
            </a:outerShdw>
          </a:effectLst>
        </p:spPr>
        <p:style>
          <a:lnRef idx="1">
            <a:schemeClr val="accent1"/>
          </a:lnRef>
          <a:fillRef idx="3">
            <a:schemeClr val="accent1"/>
          </a:fillRef>
          <a:effectRef idx="2">
            <a:schemeClr val="accent1"/>
          </a:effectRef>
          <a:fontRef idx="minor">
            <a:schemeClr val="lt1"/>
          </a:fontRef>
        </p:style>
        <p:txBody>
          <a:bodyPr wrap="square" lIns="274320" tIns="146304" rIns="274320" rtlCol="0" anchor="ctr"/>
          <a:lstStyle/>
          <a:p>
            <a:pPr algn="ctr"/>
            <a:r>
              <a:rPr sz="1150" b="1" dirty="0">
                <a:solidFill>
                  <a:srgbClr val="E0841C"/>
                </a:solidFill>
                <a:latin typeface="Calibri"/>
              </a:rPr>
              <a:t>THE CATCH</a:t>
            </a:r>
          </a:p>
          <a:p>
            <a:pPr>
              <a:spcBef>
                <a:spcPts val="300"/>
              </a:spcBef>
            </a:pPr>
            <a:r>
              <a:rPr sz="1250" dirty="0">
                <a:solidFill>
                  <a:srgbClr val="2E3348"/>
                </a:solidFill>
                <a:latin typeface="Calibri"/>
              </a:rPr>
              <a:t>Most of the improvement is concentrated in 2 of the 9 tracks; on the dominant clip, static memory performs comparably to SORT. The reference boxes used for evaluation were Kalman-corrected rather than raw YOLO detections, and gaps exceeding the tracker's configured expiry threshold were not enforced. This demonstrates motion extrapolation under controlled conditions, not an independent validation of SORT.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7315200" cy="320040"/>
          </a:xfrm>
          <a:prstGeom prst="rect">
            <a:avLst/>
          </a:prstGeom>
          <a:noFill/>
        </p:spPr>
        <p:txBody>
          <a:bodyPr wrap="square">
            <a:spAutoFit/>
          </a:bodyPr>
          <a:lstStyle/>
          <a:p>
            <a:pPr algn="l"/>
            <a:r>
              <a:rPr sz="1300" b="1" i="0">
                <a:solidFill>
                  <a:srgbClr val="FFA630"/>
                </a:solidFill>
                <a:latin typeface="Calibri"/>
              </a:rPr>
              <a:t>EVIDENCE 4 · BYTETRACK</a:t>
            </a:r>
          </a:p>
        </p:txBody>
      </p:sp>
      <p:sp>
        <p:nvSpPr>
          <p:cNvPr id="3" name="TextBox 2"/>
          <p:cNvSpPr txBox="1"/>
          <p:nvPr/>
        </p:nvSpPr>
        <p:spPr>
          <a:xfrm>
            <a:off x="640080" y="749808"/>
            <a:ext cx="10881360" cy="548640"/>
          </a:xfrm>
          <a:prstGeom prst="rect">
            <a:avLst/>
          </a:prstGeom>
          <a:noFill/>
        </p:spPr>
        <p:txBody>
          <a:bodyPr wrap="square">
            <a:spAutoFit/>
          </a:bodyPr>
          <a:lstStyle/>
          <a:p>
            <a:pPr algn="l"/>
            <a:r>
              <a:rPr sz="2500" b="1" i="0">
                <a:solidFill>
                  <a:srgbClr val="12173A"/>
                </a:solidFill>
                <a:latin typeface="Cambria"/>
              </a:rPr>
              <a:t>Two-Stage Association for Low-Confidence Detections</a:t>
            </a:r>
          </a:p>
        </p:txBody>
      </p:sp>
      <p:sp>
        <p:nvSpPr>
          <p:cNvPr id="4" name="Rectangle 3"/>
          <p:cNvSpPr/>
          <p:nvPr/>
        </p:nvSpPr>
        <p:spPr>
          <a:xfrm>
            <a:off x="640080" y="1298448"/>
            <a:ext cx="50292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17320"/>
            <a:ext cx="10911840" cy="502920"/>
          </a:xfrm>
          <a:prstGeom prst="rect">
            <a:avLst/>
          </a:prstGeom>
          <a:noFill/>
        </p:spPr>
        <p:txBody>
          <a:bodyPr wrap="square">
            <a:spAutoFit/>
          </a:bodyPr>
          <a:lstStyle/>
          <a:p>
            <a:pPr algn="l"/>
            <a:r>
              <a:rPr sz="1350" b="0" i="0">
                <a:solidFill>
                  <a:srgbClr val="2E3348"/>
                </a:solidFill>
                <a:latin typeface="Calibri"/>
              </a:rPr>
              <a:t>Using the same evaluation setup as Evidence 3, ByteTrack performs a second association pass against low-confidence detections rather than discarding them immediately — evaluated on 12 natural weak-evidence events and 65 complete-absence frames, scored against projected nuScenes 3D ground truth.</a:t>
            </a:r>
          </a:p>
        </p:txBody>
      </p:sp>
      <p:sp>
        <p:nvSpPr>
          <p:cNvPr id="6" name="Rounded Rectangle 5"/>
          <p:cNvSpPr/>
          <p:nvPr/>
        </p:nvSpPr>
        <p:spPr>
          <a:xfrm>
            <a:off x="640080" y="2148840"/>
            <a:ext cx="10911840" cy="1417320"/>
          </a:xfrm>
          <a:prstGeom prst="roundRect">
            <a:avLst>
              <a:gd name="adj" fmla="val 10000"/>
            </a:avLst>
          </a:prstGeom>
          <a:solidFill>
            <a:srgbClr val="1E2761"/>
          </a:solidFill>
          <a:ln>
            <a:noFill/>
          </a:ln>
          <a:effectLst>
            <a:outerShdw blurRad="203200" dist="63500" dir="2700000" rotWithShape="0">
              <a:srgbClr val="12173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2331720"/>
            <a:ext cx="3637280" cy="594360"/>
          </a:xfrm>
          <a:prstGeom prst="rect">
            <a:avLst/>
          </a:prstGeom>
          <a:noFill/>
        </p:spPr>
        <p:txBody>
          <a:bodyPr wrap="square">
            <a:spAutoFit/>
          </a:bodyPr>
          <a:lstStyle/>
          <a:p>
            <a:pPr algn="ctr"/>
            <a:r>
              <a:rPr sz="2800" b="1" i="0">
                <a:solidFill>
                  <a:srgbClr val="FFA630"/>
                </a:solidFill>
                <a:latin typeface="Cambria"/>
              </a:rPr>
              <a:t>58% → 67%</a:t>
            </a:r>
          </a:p>
        </p:txBody>
      </p:sp>
      <p:sp>
        <p:nvSpPr>
          <p:cNvPr id="8" name="TextBox 7"/>
          <p:cNvSpPr txBox="1"/>
          <p:nvPr/>
        </p:nvSpPr>
        <p:spPr>
          <a:xfrm>
            <a:off x="777240" y="2926080"/>
            <a:ext cx="3362960" cy="457200"/>
          </a:xfrm>
          <a:prstGeom prst="rect">
            <a:avLst/>
          </a:prstGeom>
          <a:noFill/>
        </p:spPr>
        <p:txBody>
          <a:bodyPr wrap="square">
            <a:spAutoFit/>
          </a:bodyPr>
          <a:lstStyle/>
          <a:p>
            <a:pPr algn="ctr">
              <a:lnSpc>
                <a:spcPct val="105000"/>
              </a:lnSpc>
            </a:pPr>
            <a:r>
              <a:rPr sz="1200" b="0" i="0">
                <a:solidFill>
                  <a:srgbClr val="CADCFC"/>
                </a:solidFill>
                <a:latin typeface="Calibri"/>
              </a:rPr>
              <a:t>natural events recovered
(SORT → ByteTrack)</a:t>
            </a:r>
          </a:p>
        </p:txBody>
      </p:sp>
      <p:sp>
        <p:nvSpPr>
          <p:cNvPr id="9" name="TextBox 8"/>
          <p:cNvSpPr txBox="1"/>
          <p:nvPr/>
        </p:nvSpPr>
        <p:spPr>
          <a:xfrm>
            <a:off x="4277360" y="2331720"/>
            <a:ext cx="3637280" cy="594360"/>
          </a:xfrm>
          <a:prstGeom prst="rect">
            <a:avLst/>
          </a:prstGeom>
          <a:noFill/>
        </p:spPr>
        <p:txBody>
          <a:bodyPr wrap="square">
            <a:spAutoFit/>
          </a:bodyPr>
          <a:lstStyle/>
          <a:p>
            <a:pPr algn="ctr"/>
            <a:r>
              <a:rPr sz="2800" b="1" i="0">
                <a:solidFill>
                  <a:srgbClr val="FFA630"/>
                </a:solidFill>
                <a:latin typeface="Cambria"/>
              </a:rPr>
              <a:t>33% → 50%</a:t>
            </a:r>
          </a:p>
        </p:txBody>
      </p:sp>
      <p:sp>
        <p:nvSpPr>
          <p:cNvPr id="10" name="TextBox 9"/>
          <p:cNvSpPr txBox="1"/>
          <p:nvPr/>
        </p:nvSpPr>
        <p:spPr>
          <a:xfrm>
            <a:off x="4414520" y="2926080"/>
            <a:ext cx="3362960" cy="457200"/>
          </a:xfrm>
          <a:prstGeom prst="rect">
            <a:avLst/>
          </a:prstGeom>
          <a:noFill/>
        </p:spPr>
        <p:txBody>
          <a:bodyPr wrap="square">
            <a:spAutoFit/>
          </a:bodyPr>
          <a:lstStyle/>
          <a:p>
            <a:pPr algn="ctr">
              <a:lnSpc>
                <a:spcPct val="105000"/>
              </a:lnSpc>
            </a:pPr>
            <a:r>
              <a:rPr sz="1200" b="0" i="0">
                <a:solidFill>
                  <a:srgbClr val="CADCFC"/>
                </a:solidFill>
                <a:latin typeface="Calibri"/>
              </a:rPr>
              <a:t>identity preserved
through the event</a:t>
            </a:r>
          </a:p>
        </p:txBody>
      </p:sp>
      <p:sp>
        <p:nvSpPr>
          <p:cNvPr id="11" name="Rectangle 10"/>
          <p:cNvSpPr/>
          <p:nvPr/>
        </p:nvSpPr>
        <p:spPr>
          <a:xfrm>
            <a:off x="4277360" y="2350008"/>
            <a:ext cx="12700" cy="1014984"/>
          </a:xfrm>
          <a:prstGeom prst="rect">
            <a:avLst/>
          </a:prstGeom>
          <a:solidFill>
            <a:srgbClr val="CADCFC">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914640" y="2331720"/>
            <a:ext cx="3637280" cy="594360"/>
          </a:xfrm>
          <a:prstGeom prst="rect">
            <a:avLst/>
          </a:prstGeom>
          <a:noFill/>
        </p:spPr>
        <p:txBody>
          <a:bodyPr wrap="square">
            <a:spAutoFit/>
          </a:bodyPr>
          <a:lstStyle/>
          <a:p>
            <a:pPr algn="ctr"/>
            <a:r>
              <a:rPr sz="2800" b="1" i="0">
                <a:solidFill>
                  <a:srgbClr val="FFA630"/>
                </a:solidFill>
                <a:latin typeface="Cambria"/>
              </a:rPr>
              <a:t>2 → 0</a:t>
            </a:r>
          </a:p>
        </p:txBody>
      </p:sp>
      <p:sp>
        <p:nvSpPr>
          <p:cNvPr id="13" name="TextBox 12"/>
          <p:cNvSpPr txBox="1"/>
          <p:nvPr/>
        </p:nvSpPr>
        <p:spPr>
          <a:xfrm>
            <a:off x="8051800" y="2926080"/>
            <a:ext cx="3362960" cy="457200"/>
          </a:xfrm>
          <a:prstGeom prst="rect">
            <a:avLst/>
          </a:prstGeom>
          <a:noFill/>
        </p:spPr>
        <p:txBody>
          <a:bodyPr wrap="square">
            <a:spAutoFit/>
          </a:bodyPr>
          <a:lstStyle/>
          <a:p>
            <a:pPr algn="ctr">
              <a:lnSpc>
                <a:spcPct val="105000"/>
              </a:lnSpc>
            </a:pPr>
            <a:r>
              <a:rPr sz="1200" b="0" i="0">
                <a:solidFill>
                  <a:srgbClr val="CADCFC"/>
                </a:solidFill>
                <a:latin typeface="Calibri"/>
              </a:rPr>
              <a:t>false associations during
complete detection absence</a:t>
            </a:r>
          </a:p>
        </p:txBody>
      </p:sp>
      <p:sp>
        <p:nvSpPr>
          <p:cNvPr id="14" name="Rectangle 13"/>
          <p:cNvSpPr/>
          <p:nvPr/>
        </p:nvSpPr>
        <p:spPr>
          <a:xfrm>
            <a:off x="7914640" y="2350008"/>
            <a:ext cx="12700" cy="1014984"/>
          </a:xfrm>
          <a:prstGeom prst="rect">
            <a:avLst/>
          </a:prstGeom>
          <a:solidFill>
            <a:srgbClr val="CADCFC">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40080" y="3886200"/>
            <a:ext cx="10911840" cy="1417320"/>
          </a:xfrm>
          <a:prstGeom prst="roundRect">
            <a:avLst>
              <a:gd name="adj" fmla="val 6000"/>
            </a:avLst>
          </a:prstGeom>
          <a:solidFill>
            <a:srgbClr val="F3F5FA"/>
          </a:solidFill>
          <a:ln>
            <a:noFill/>
          </a:ln>
          <a:effectLst>
            <a:outerShdw blurRad="203200" dist="63500" dir="2700000" rotWithShape="0">
              <a:srgbClr val="12173A">
                <a:alpha val="38000"/>
              </a:srgbClr>
            </a:outerShdw>
          </a:effectLst>
        </p:spPr>
        <p:style>
          <a:lnRef idx="1">
            <a:schemeClr val="accent1"/>
          </a:lnRef>
          <a:fillRef idx="3">
            <a:schemeClr val="accent1"/>
          </a:fillRef>
          <a:effectRef idx="2">
            <a:schemeClr val="accent1"/>
          </a:effectRef>
          <a:fontRef idx="minor">
            <a:schemeClr val="lt1"/>
          </a:fontRef>
        </p:style>
        <p:txBody>
          <a:bodyPr wrap="square" lIns="274320" tIns="146304" rIns="274320" rtlCol="0" anchor="ctr"/>
          <a:lstStyle/>
          <a:p>
            <a:pPr algn="ctr"/>
            <a:r>
              <a:rPr sz="1150" b="1">
                <a:solidFill>
                  <a:srgbClr val="E0841C"/>
                </a:solidFill>
                <a:latin typeface="Calibri"/>
              </a:rPr>
              <a:t>THE CATCH</a:t>
            </a:r>
          </a:p>
          <a:p>
            <a:pPr>
              <a:spcBef>
                <a:spcPts val="300"/>
              </a:spcBef>
            </a:pPr>
            <a:r>
              <a:rPr sz="1250">
                <a:solidFill>
                  <a:srgbClr val="2E3348"/>
                </a:solidFill>
                <a:latin typeface="Calibri"/>
              </a:rPr>
              <a:t>The improvement is concentrated in the pedestrian class (2 of 4 events) and is drawn from only 5 target tracks across 4 scenes. It also applies only when a weak detection still exists; when the object is entirely undetected, ByteTrack relies on the same motion prediction as SORT.</a:t>
            </a:r>
          </a:p>
        </p:txBody>
      </p:sp>
      <p:sp>
        <p:nvSpPr>
          <p:cNvPr id="16" name="TextBox 15"/>
          <p:cNvSpPr txBox="1"/>
          <p:nvPr/>
        </p:nvSpPr>
        <p:spPr>
          <a:xfrm>
            <a:off x="640080" y="5486400"/>
            <a:ext cx="10911840" cy="822960"/>
          </a:xfrm>
          <a:prstGeom prst="rect">
            <a:avLst/>
          </a:prstGeom>
          <a:noFill/>
        </p:spPr>
        <p:txBody>
          <a:bodyPr wrap="square">
            <a:spAutoFit/>
          </a:bodyPr>
          <a:lstStyle/>
          <a:p>
            <a:pPr algn="ctr">
              <a:lnSpc>
                <a:spcPct val="120000"/>
              </a:lnSpc>
            </a:pPr>
            <a:r>
              <a:rPr sz="1400" b="1" i="1">
                <a:solidFill>
                  <a:srgbClr val="12173A"/>
                </a:solidFill>
                <a:latin typeface="Calibri"/>
              </a:rPr>
              <a:t>This illustrates the distinction OATM's occlusion classifier is intended to model: weak-but-present evidence, where a secondary association step is beneficial, versus truly absent evidence, where only motion and uncertainty modeling can contribute.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2173A"/>
        </a:solidFill>
        <a:effectLst/>
      </p:bgPr>
    </p:bg>
    <p:spTree>
      <p:nvGrpSpPr>
        <p:cNvPr id="1" name=""/>
        <p:cNvGrpSpPr/>
        <p:nvPr/>
      </p:nvGrpSpPr>
      <p:grpSpPr>
        <a:xfrm>
          <a:off x="0" y="0"/>
          <a:ext cx="0" cy="0"/>
          <a:chOff x="0" y="0"/>
          <a:chExt cx="0" cy="0"/>
        </a:xfrm>
      </p:grpSpPr>
      <p:sp>
        <p:nvSpPr>
          <p:cNvPr id="2" name="TextBox 1"/>
          <p:cNvSpPr txBox="1"/>
          <p:nvPr/>
        </p:nvSpPr>
        <p:spPr>
          <a:xfrm>
            <a:off x="0" y="548640"/>
            <a:ext cx="12191695" cy="320040"/>
          </a:xfrm>
          <a:prstGeom prst="rect">
            <a:avLst/>
          </a:prstGeom>
          <a:noFill/>
        </p:spPr>
        <p:txBody>
          <a:bodyPr wrap="square">
            <a:spAutoFit/>
          </a:bodyPr>
          <a:lstStyle/>
          <a:p>
            <a:pPr algn="ctr"/>
            <a:r>
              <a:rPr sz="1300" b="1" i="0">
                <a:solidFill>
                  <a:srgbClr val="FFA630"/>
                </a:solidFill>
                <a:latin typeface="Calibri"/>
              </a:rPr>
              <a:t>THE DIAGNOSIS</a:t>
            </a:r>
          </a:p>
        </p:txBody>
      </p:sp>
      <p:sp>
        <p:nvSpPr>
          <p:cNvPr id="3" name="TextBox 2"/>
          <p:cNvSpPr txBox="1"/>
          <p:nvPr/>
        </p:nvSpPr>
        <p:spPr>
          <a:xfrm>
            <a:off x="1188720" y="914400"/>
            <a:ext cx="9811512" cy="1188720"/>
          </a:xfrm>
          <a:prstGeom prst="rect">
            <a:avLst/>
          </a:prstGeom>
          <a:noFill/>
        </p:spPr>
        <p:txBody>
          <a:bodyPr wrap="square">
            <a:spAutoFit/>
          </a:bodyPr>
          <a:lstStyle/>
          <a:p>
            <a:pPr algn="ctr">
              <a:lnSpc>
                <a:spcPct val="112000"/>
              </a:lnSpc>
            </a:pPr>
            <a:r>
              <a:rPr sz="2700" b="1" i="0">
                <a:solidFill>
                  <a:srgbClr val="FFFFFF"/>
                </a:solidFill>
                <a:latin typeface="Cambria"/>
              </a:rPr>
              <a:t>A static memory representation loses accuracy over time because it does not account for object motion.</a:t>
            </a:r>
          </a:p>
        </p:txBody>
      </p:sp>
      <p:sp>
        <p:nvSpPr>
          <p:cNvPr id="4" name="TextBox 3"/>
          <p:cNvSpPr txBox="1"/>
          <p:nvPr/>
        </p:nvSpPr>
        <p:spPr>
          <a:xfrm>
            <a:off x="1554480" y="2148840"/>
            <a:ext cx="9079992" cy="777240"/>
          </a:xfrm>
          <a:prstGeom prst="rect">
            <a:avLst/>
          </a:prstGeom>
          <a:noFill/>
        </p:spPr>
        <p:txBody>
          <a:bodyPr wrap="square">
            <a:spAutoFit/>
          </a:bodyPr>
          <a:lstStyle/>
          <a:p>
            <a:pPr algn="ctr">
              <a:lnSpc>
                <a:spcPct val="120000"/>
              </a:lnSpc>
            </a:pPr>
            <a:r>
              <a:rPr sz="1400" b="0" i="0">
                <a:solidFill>
                  <a:srgbClr val="CADCFC"/>
                </a:solidFill>
                <a:latin typeface="Calibri"/>
              </a:rPr>
              <a:t>Real objects continue moving while hidden. A memory system that retains only a past position becomes increasingly inaccurate the longer the object remains occluded.</a:t>
            </a:r>
          </a:p>
        </p:txBody>
      </p:sp>
      <p:sp>
        <p:nvSpPr>
          <p:cNvPr id="5" name="Rectangle 4"/>
          <p:cNvSpPr/>
          <p:nvPr/>
        </p:nvSpPr>
        <p:spPr>
          <a:xfrm>
            <a:off x="4270248" y="3063240"/>
            <a:ext cx="3657600" cy="19050"/>
          </a:xfrm>
          <a:prstGeom prst="rect">
            <a:avLst/>
          </a:prstGeom>
          <a:solidFill>
            <a:srgbClr val="FFA63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0" y="3291840"/>
            <a:ext cx="12191695" cy="320040"/>
          </a:xfrm>
          <a:prstGeom prst="rect">
            <a:avLst/>
          </a:prstGeom>
          <a:noFill/>
        </p:spPr>
        <p:txBody>
          <a:bodyPr wrap="square">
            <a:spAutoFit/>
          </a:bodyPr>
          <a:lstStyle/>
          <a:p>
            <a:pPr algn="ctr"/>
            <a:r>
              <a:rPr sz="1300" b="1" i="0">
                <a:solidFill>
                  <a:srgbClr val="FFA630"/>
                </a:solidFill>
                <a:latin typeface="Calibri"/>
              </a:rPr>
              <a:t>THE GAP IN EXISTING TOOLS</a:t>
            </a:r>
          </a:p>
        </p:txBody>
      </p:sp>
      <p:sp>
        <p:nvSpPr>
          <p:cNvPr id="7" name="Rounded Rectangle 6"/>
          <p:cNvSpPr/>
          <p:nvPr/>
        </p:nvSpPr>
        <p:spPr>
          <a:xfrm>
            <a:off x="442913" y="3847147"/>
            <a:ext cx="5440680" cy="777240"/>
          </a:xfrm>
          <a:prstGeom prst="roundRect">
            <a:avLst>
              <a:gd name="adj" fmla="val 15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91440" rIns="182880" rtlCol="0" anchor="ctr"/>
          <a:lstStyle/>
          <a:p>
            <a:r>
              <a:rPr sz="1350" b="1" dirty="0">
                <a:solidFill>
                  <a:srgbClr val="FFA630"/>
                </a:solidFill>
                <a:latin typeface="Calibri"/>
              </a:rPr>
              <a:t>Single-frame detection</a:t>
            </a:r>
          </a:p>
          <a:p>
            <a:r>
              <a:rPr sz="1250" dirty="0">
                <a:solidFill>
                  <a:srgbClr val="CADCFC"/>
                </a:solidFill>
                <a:latin typeface="Calibri"/>
              </a:rPr>
              <a:t>Retains no information across frames; an occluded object is treated as absent</a:t>
            </a:r>
          </a:p>
        </p:txBody>
      </p:sp>
      <p:sp>
        <p:nvSpPr>
          <p:cNvPr id="8" name="Rounded Rectangle 7"/>
          <p:cNvSpPr/>
          <p:nvPr/>
        </p:nvSpPr>
        <p:spPr>
          <a:xfrm>
            <a:off x="6308409" y="3847147"/>
            <a:ext cx="5440680" cy="777240"/>
          </a:xfrm>
          <a:prstGeom prst="roundRect">
            <a:avLst>
              <a:gd name="adj" fmla="val 15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91440" rIns="182880" rtlCol="0" anchor="ctr"/>
          <a:lstStyle/>
          <a:p>
            <a:r>
              <a:rPr sz="1350" b="1" dirty="0">
                <a:solidFill>
                  <a:srgbClr val="FFA630"/>
                </a:solidFill>
                <a:latin typeface="Calibri"/>
              </a:rPr>
              <a:t>SORT</a:t>
            </a:r>
          </a:p>
          <a:p>
            <a:r>
              <a:rPr sz="1250" dirty="0">
                <a:solidFill>
                  <a:srgbClr val="CADCFC"/>
                </a:solidFill>
                <a:latin typeface="Calibri"/>
              </a:rPr>
              <a:t>Reduces center error from 46 to 17 px on smooth trajectories; evaluated on 9 vehicle tracks with a circular reference</a:t>
            </a:r>
          </a:p>
        </p:txBody>
      </p:sp>
      <p:sp>
        <p:nvSpPr>
          <p:cNvPr id="9" name="Rounded Rectangle 8"/>
          <p:cNvSpPr/>
          <p:nvPr/>
        </p:nvSpPr>
        <p:spPr>
          <a:xfrm>
            <a:off x="442913" y="4732020"/>
            <a:ext cx="5440680" cy="777240"/>
          </a:xfrm>
          <a:prstGeom prst="roundRect">
            <a:avLst>
              <a:gd name="adj" fmla="val 15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91440" rIns="182880" rtlCol="0" anchor="ctr"/>
          <a:lstStyle/>
          <a:p>
            <a:r>
              <a:rPr sz="1350" b="1" dirty="0" err="1">
                <a:solidFill>
                  <a:srgbClr val="FFA630"/>
                </a:solidFill>
                <a:latin typeface="Calibri"/>
              </a:rPr>
              <a:t>ByteTrack</a:t>
            </a:r>
            <a:endParaRPr sz="1350" b="1" dirty="0">
              <a:solidFill>
                <a:srgbClr val="FFA630"/>
              </a:solidFill>
              <a:latin typeface="Calibri"/>
            </a:endParaRPr>
          </a:p>
          <a:p>
            <a:r>
              <a:rPr sz="1250" dirty="0">
                <a:solidFill>
                  <a:srgbClr val="CADCFC"/>
                </a:solidFill>
                <a:latin typeface="Calibri"/>
              </a:rPr>
              <a:t>Requires at least partial detection evidence to associate a track</a:t>
            </a:r>
          </a:p>
        </p:txBody>
      </p:sp>
      <p:sp>
        <p:nvSpPr>
          <p:cNvPr id="10" name="Rounded Rectangle 9"/>
          <p:cNvSpPr/>
          <p:nvPr/>
        </p:nvSpPr>
        <p:spPr>
          <a:xfrm>
            <a:off x="6321553" y="4709160"/>
            <a:ext cx="5440680" cy="777240"/>
          </a:xfrm>
          <a:prstGeom prst="roundRect">
            <a:avLst>
              <a:gd name="adj" fmla="val 15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91440" rIns="182880" rtlCol="0" anchor="ctr"/>
          <a:lstStyle/>
          <a:p>
            <a:r>
              <a:rPr sz="1350" b="1" dirty="0">
                <a:solidFill>
                  <a:srgbClr val="FFA630"/>
                </a:solidFill>
                <a:latin typeface="Calibri"/>
              </a:rPr>
              <a:t>Fixed temporal memory</a:t>
            </a:r>
          </a:p>
          <a:p>
            <a:r>
              <a:rPr sz="1250" dirty="0">
                <a:solidFill>
                  <a:srgbClr val="CADCFC"/>
                </a:solidFill>
                <a:latin typeface="Calibri"/>
              </a:rPr>
              <a:t>Does not model motion and risks retaining tracks after the object has left the scene</a:t>
            </a:r>
          </a:p>
        </p:txBody>
      </p:sp>
      <p:sp>
        <p:nvSpPr>
          <p:cNvPr id="11" name="TextBox 10"/>
          <p:cNvSpPr txBox="1"/>
          <p:nvPr/>
        </p:nvSpPr>
        <p:spPr>
          <a:xfrm>
            <a:off x="1554480" y="5806440"/>
            <a:ext cx="9079992" cy="457200"/>
          </a:xfrm>
          <a:prstGeom prst="rect">
            <a:avLst/>
          </a:prstGeom>
          <a:noFill/>
        </p:spPr>
        <p:txBody>
          <a:bodyPr wrap="square">
            <a:spAutoFit/>
          </a:bodyPr>
          <a:lstStyle/>
          <a:p>
            <a:pPr algn="ctr"/>
            <a:r>
              <a:rPr sz="1450" b="1" i="1">
                <a:solidFill>
                  <a:srgbClr val="FFA630"/>
                </a:solidFill>
                <a:latin typeface="Calibri"/>
              </a:rPr>
              <a:t>None of these methods distinguish between an occluded, lost, or exited object, or adjust confidence accordingly — this is the gap OATM is designed to address.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6" name="Connector 25"/>
          <p:cNvCxnSpPr/>
          <p:nvPr/>
        </p:nvCxnSpPr>
        <p:spPr>
          <a:xfrm>
            <a:off x="3246120" y="3977639"/>
            <a:ext cx="2011680" cy="1531621"/>
          </a:xfrm>
          <a:prstGeom prst="line">
            <a:avLst/>
          </a:prstGeom>
          <a:ln w="12700">
            <a:solidFill>
              <a:srgbClr val="8A93A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1828800" y="3977639"/>
            <a:ext cx="1417320" cy="1531621"/>
          </a:xfrm>
          <a:prstGeom prst="line">
            <a:avLst/>
          </a:prstGeom>
          <a:ln w="12700">
            <a:solidFill>
              <a:srgbClr val="8A93A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3246120" y="2583180"/>
            <a:ext cx="2011680" cy="1394459"/>
          </a:xfrm>
          <a:prstGeom prst="line">
            <a:avLst/>
          </a:prstGeom>
          <a:ln w="12700">
            <a:solidFill>
              <a:srgbClr val="8A93A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1828800" y="2583180"/>
            <a:ext cx="1417320" cy="1394459"/>
          </a:xfrm>
          <a:prstGeom prst="line">
            <a:avLst/>
          </a:prstGeom>
          <a:ln w="12700">
            <a:solidFill>
              <a:srgbClr val="8A93AD"/>
            </a:solidFill>
          </a:ln>
        </p:spPr>
        <p:style>
          <a:lnRef idx="2">
            <a:schemeClr val="accent1"/>
          </a:lnRef>
          <a:fillRef idx="0">
            <a:schemeClr val="accent1"/>
          </a:fillRef>
          <a:effectRef idx="1">
            <a:schemeClr val="accent1"/>
          </a:effectRef>
          <a:fontRef idx="minor">
            <a:schemeClr val="tx1"/>
          </a:fontRef>
        </p:style>
      </p:cxnSp>
      <p:sp>
        <p:nvSpPr>
          <p:cNvPr id="2" name="TextBox 1"/>
          <p:cNvSpPr txBox="1"/>
          <p:nvPr/>
        </p:nvSpPr>
        <p:spPr>
          <a:xfrm>
            <a:off x="640080" y="457200"/>
            <a:ext cx="7315200" cy="320040"/>
          </a:xfrm>
          <a:prstGeom prst="rect">
            <a:avLst/>
          </a:prstGeom>
          <a:noFill/>
        </p:spPr>
        <p:txBody>
          <a:bodyPr wrap="square">
            <a:spAutoFit/>
          </a:bodyPr>
          <a:lstStyle/>
          <a:p>
            <a:pPr algn="l"/>
            <a:r>
              <a:rPr sz="1300" b="1" i="0">
                <a:solidFill>
                  <a:srgbClr val="FFA630"/>
                </a:solidFill>
                <a:latin typeface="Calibri"/>
              </a:rPr>
              <a:t>PROPOSED APPROACH</a:t>
            </a:r>
          </a:p>
        </p:txBody>
      </p:sp>
      <p:sp>
        <p:nvSpPr>
          <p:cNvPr id="3" name="TextBox 2"/>
          <p:cNvSpPr txBox="1"/>
          <p:nvPr/>
        </p:nvSpPr>
        <p:spPr>
          <a:xfrm>
            <a:off x="640080" y="795528"/>
            <a:ext cx="8229600" cy="640080"/>
          </a:xfrm>
          <a:prstGeom prst="rect">
            <a:avLst/>
          </a:prstGeom>
          <a:noFill/>
        </p:spPr>
        <p:txBody>
          <a:bodyPr wrap="square">
            <a:spAutoFit/>
          </a:bodyPr>
          <a:lstStyle/>
          <a:p>
            <a:pPr algn="l"/>
            <a:r>
              <a:rPr sz="2400" b="1" i="0">
                <a:solidFill>
                  <a:srgbClr val="12173A"/>
                </a:solidFill>
                <a:latin typeface="Cambria"/>
              </a:rPr>
              <a:t>OATM: Occlusion-Adaptive Temporal Memory</a:t>
            </a:r>
          </a:p>
        </p:txBody>
      </p:sp>
      <p:sp>
        <p:nvSpPr>
          <p:cNvPr id="4" name="Rectangle 3"/>
          <p:cNvSpPr/>
          <p:nvPr/>
        </p:nvSpPr>
        <p:spPr>
          <a:xfrm>
            <a:off x="640080" y="1417320"/>
            <a:ext cx="50292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680960" y="1965960"/>
            <a:ext cx="2286000" cy="658368"/>
          </a:xfrm>
          <a:prstGeom prst="roundRect">
            <a:avLst>
              <a:gd name="adj" fmla="val 18000"/>
            </a:avLst>
          </a:prstGeom>
          <a:solidFill>
            <a:srgbClr val="12173A"/>
          </a:solidFill>
          <a:ln>
            <a:noFill/>
          </a:ln>
          <a:effectLst>
            <a:outerShdw blurRad="127000" dist="38100" dir="2700000" rotWithShape="0">
              <a:srgbClr val="12173A">
                <a:alpha val="28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Calibri"/>
              </a:rPr>
              <a:t>VISIBLE</a:t>
            </a:r>
          </a:p>
        </p:txBody>
      </p:sp>
      <p:sp>
        <p:nvSpPr>
          <p:cNvPr id="14" name="Rounded Rectangle 13"/>
          <p:cNvSpPr/>
          <p:nvPr/>
        </p:nvSpPr>
        <p:spPr>
          <a:xfrm>
            <a:off x="7680960" y="3246120"/>
            <a:ext cx="2286000" cy="658368"/>
          </a:xfrm>
          <a:prstGeom prst="roundRect">
            <a:avLst>
              <a:gd name="adj" fmla="val 18000"/>
            </a:avLst>
          </a:prstGeom>
          <a:solidFill>
            <a:srgbClr val="E0841C"/>
          </a:solidFill>
          <a:ln>
            <a:noFill/>
          </a:ln>
          <a:effectLst>
            <a:outerShdw blurRad="127000" dist="38100" dir="2700000" rotWithShape="0">
              <a:srgbClr val="12173A">
                <a:alpha val="28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Calibri"/>
              </a:rPr>
              <a:t>OCCLUDED</a:t>
            </a:r>
          </a:p>
        </p:txBody>
      </p:sp>
      <p:sp>
        <p:nvSpPr>
          <p:cNvPr id="15" name="Rounded Rectangle 14"/>
          <p:cNvSpPr/>
          <p:nvPr/>
        </p:nvSpPr>
        <p:spPr>
          <a:xfrm>
            <a:off x="7680960" y="4526280"/>
            <a:ext cx="2286000" cy="658368"/>
          </a:xfrm>
          <a:prstGeom prst="roundRect">
            <a:avLst>
              <a:gd name="adj" fmla="val 18000"/>
            </a:avLst>
          </a:prstGeom>
          <a:solidFill>
            <a:srgbClr val="69728C"/>
          </a:solidFill>
          <a:ln>
            <a:noFill/>
          </a:ln>
          <a:effectLst>
            <a:outerShdw blurRad="127000" dist="38100" dir="2700000" rotWithShape="0">
              <a:srgbClr val="12173A">
                <a:alpha val="28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Calibri"/>
              </a:rPr>
              <a:t>LOST / EXITED</a:t>
            </a:r>
          </a:p>
        </p:txBody>
      </p:sp>
      <p:cxnSp>
        <p:nvCxnSpPr>
          <p:cNvPr id="16" name="Connector 15"/>
          <p:cNvCxnSpPr/>
          <p:nvPr/>
        </p:nvCxnSpPr>
        <p:spPr>
          <a:xfrm>
            <a:off x="8823960" y="2624328"/>
            <a:ext cx="0" cy="621792"/>
          </a:xfrm>
          <a:prstGeom prst="line">
            <a:avLst/>
          </a:prstGeom>
          <a:ln w="25400">
            <a:solidFill>
              <a:srgbClr val="69728C"/>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823960" y="3904488"/>
            <a:ext cx="0" cy="621792"/>
          </a:xfrm>
          <a:prstGeom prst="line">
            <a:avLst/>
          </a:prstGeom>
          <a:ln w="25400">
            <a:solidFill>
              <a:srgbClr val="69728C"/>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680960" y="5349240"/>
            <a:ext cx="2286000" cy="822960"/>
          </a:xfrm>
          <a:prstGeom prst="rect">
            <a:avLst/>
          </a:prstGeom>
          <a:noFill/>
        </p:spPr>
        <p:txBody>
          <a:bodyPr wrap="square">
            <a:spAutoFit/>
          </a:bodyPr>
          <a:lstStyle/>
          <a:p>
            <a:pPr algn="ctr"/>
            <a:r>
              <a:rPr sz="1100" b="0" i="1">
                <a:solidFill>
                  <a:srgbClr val="69728C"/>
                </a:solidFill>
                <a:latin typeface="Calibri"/>
              </a:rPr>
              <a:t>reappearance → back to VISIBLE</a:t>
            </a:r>
          </a:p>
        </p:txBody>
      </p:sp>
      <p:sp>
        <p:nvSpPr>
          <p:cNvPr id="19" name="Oval 18"/>
          <p:cNvSpPr/>
          <p:nvPr/>
        </p:nvSpPr>
        <p:spPr>
          <a:xfrm>
            <a:off x="2560320" y="3634739"/>
            <a:ext cx="1371600" cy="685800"/>
          </a:xfrm>
          <a:prstGeom prst="ellipse">
            <a:avLst/>
          </a:prstGeom>
          <a:solidFill>
            <a:srgbClr val="121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Cambria"/>
              </a:rPr>
              <a:t>OATM</a:t>
            </a:r>
          </a:p>
        </p:txBody>
      </p:sp>
      <p:sp>
        <p:nvSpPr>
          <p:cNvPr id="21" name="Rectangle 20"/>
          <p:cNvSpPr/>
          <p:nvPr/>
        </p:nvSpPr>
        <p:spPr>
          <a:xfrm>
            <a:off x="685800" y="2148840"/>
            <a:ext cx="2286000" cy="868680"/>
          </a:xfrm>
          <a:prstGeom prst="rect">
            <a:avLst/>
          </a:prstGeom>
          <a:solidFill>
            <a:srgbClr val="FFFFFF"/>
          </a:solidFill>
          <a:ln w="15875">
            <a:solidFill>
              <a:srgbClr val="12173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50" b="1">
                <a:solidFill>
                  <a:srgbClr val="12173A"/>
                </a:solidFill>
                <a:latin typeface="Calibri"/>
              </a:rPr>
              <a:t>Appearance Memory</a:t>
            </a:r>
          </a:p>
          <a:p>
            <a:pPr algn="ctr">
              <a:spcBef>
                <a:spcPts val="200"/>
              </a:spcBef>
            </a:pPr>
            <a:r>
              <a:rPr sz="950">
                <a:solidFill>
                  <a:srgbClr val="69728C"/>
                </a:solidFill>
                <a:latin typeface="Calibri"/>
              </a:rPr>
              <a:t>Last clear crop, for re-identification</a:t>
            </a:r>
          </a:p>
        </p:txBody>
      </p:sp>
      <p:sp>
        <p:nvSpPr>
          <p:cNvPr id="23" name="Rectangle 22"/>
          <p:cNvSpPr/>
          <p:nvPr/>
        </p:nvSpPr>
        <p:spPr>
          <a:xfrm>
            <a:off x="4114800" y="2148840"/>
            <a:ext cx="2286000" cy="868680"/>
          </a:xfrm>
          <a:prstGeom prst="rect">
            <a:avLst/>
          </a:prstGeom>
          <a:solidFill>
            <a:srgbClr val="FFFFFF"/>
          </a:solidFill>
          <a:ln w="15875">
            <a:solidFill>
              <a:srgbClr val="12173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50" b="1">
                <a:solidFill>
                  <a:srgbClr val="12173A"/>
                </a:solidFill>
                <a:latin typeface="Calibri"/>
              </a:rPr>
              <a:t>Motion Memory</a:t>
            </a:r>
          </a:p>
          <a:p>
            <a:pPr algn="ctr">
              <a:spcBef>
                <a:spcPts val="200"/>
              </a:spcBef>
            </a:pPr>
            <a:r>
              <a:rPr sz="950">
                <a:solidFill>
                  <a:srgbClr val="69728C"/>
                </a:solidFill>
                <a:latin typeface="Calibri"/>
              </a:rPr>
              <a:t>Kalman predict → observe → correct</a:t>
            </a:r>
          </a:p>
        </p:txBody>
      </p:sp>
      <p:sp>
        <p:nvSpPr>
          <p:cNvPr id="25" name="Rectangle 24"/>
          <p:cNvSpPr/>
          <p:nvPr/>
        </p:nvSpPr>
        <p:spPr>
          <a:xfrm>
            <a:off x="685800" y="5074920"/>
            <a:ext cx="2286000" cy="868680"/>
          </a:xfrm>
          <a:prstGeom prst="rect">
            <a:avLst/>
          </a:prstGeom>
          <a:solidFill>
            <a:srgbClr val="FFFFFF"/>
          </a:solidFill>
          <a:ln w="15875">
            <a:solidFill>
              <a:srgbClr val="12173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50" b="1">
                <a:solidFill>
                  <a:srgbClr val="12173A"/>
                </a:solidFill>
                <a:latin typeface="Calibri"/>
              </a:rPr>
              <a:t>Occlusion Classifier</a:t>
            </a:r>
          </a:p>
          <a:p>
            <a:pPr algn="ctr">
              <a:spcBef>
                <a:spcPts val="200"/>
              </a:spcBef>
            </a:pPr>
            <a:r>
              <a:rPr sz="950">
                <a:solidFill>
                  <a:srgbClr val="69728C"/>
                </a:solidFill>
                <a:latin typeface="Calibri"/>
              </a:rPr>
              <a:t>VISIBLE / OCCLUDED / LOST / EXITED</a:t>
            </a:r>
          </a:p>
        </p:txBody>
      </p:sp>
      <p:sp>
        <p:nvSpPr>
          <p:cNvPr id="27" name="Rectangle 26"/>
          <p:cNvSpPr/>
          <p:nvPr/>
        </p:nvSpPr>
        <p:spPr>
          <a:xfrm>
            <a:off x="4114800" y="5074920"/>
            <a:ext cx="2286000" cy="868680"/>
          </a:xfrm>
          <a:prstGeom prst="rect">
            <a:avLst/>
          </a:prstGeom>
          <a:solidFill>
            <a:srgbClr val="FFFFFF"/>
          </a:solidFill>
          <a:ln w="15875">
            <a:solidFill>
              <a:srgbClr val="12173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50" b="1">
                <a:solidFill>
                  <a:srgbClr val="12173A"/>
                </a:solidFill>
                <a:latin typeface="Calibri"/>
              </a:rPr>
              <a:t>Confidence Decay</a:t>
            </a:r>
          </a:p>
          <a:p>
            <a:pPr algn="ctr">
              <a:spcBef>
                <a:spcPts val="200"/>
              </a:spcBef>
            </a:pPr>
            <a:r>
              <a:rPr sz="950">
                <a:solidFill>
                  <a:srgbClr val="69728C"/>
                </a:solidFill>
                <a:latin typeface="Calibri"/>
              </a:rPr>
              <a:t>Continuous decay; anti-ghost termination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7315200" cy="320040"/>
          </a:xfrm>
          <a:prstGeom prst="rect">
            <a:avLst/>
          </a:prstGeom>
          <a:noFill/>
        </p:spPr>
        <p:txBody>
          <a:bodyPr wrap="square">
            <a:spAutoFit/>
          </a:bodyPr>
          <a:lstStyle/>
          <a:p>
            <a:pPr algn="l"/>
            <a:r>
              <a:rPr sz="1300" b="1" i="0">
                <a:solidFill>
                  <a:srgbClr val="FFA630"/>
                </a:solidFill>
                <a:latin typeface="Calibri"/>
              </a:rPr>
              <a:t>EVALUATION METHODOLOGY</a:t>
            </a:r>
          </a:p>
        </p:txBody>
      </p:sp>
      <p:sp>
        <p:nvSpPr>
          <p:cNvPr id="3" name="TextBox 2"/>
          <p:cNvSpPr txBox="1"/>
          <p:nvPr/>
        </p:nvSpPr>
        <p:spPr>
          <a:xfrm>
            <a:off x="640080" y="795528"/>
            <a:ext cx="10515600" cy="640080"/>
          </a:xfrm>
          <a:prstGeom prst="rect">
            <a:avLst/>
          </a:prstGeom>
          <a:noFill/>
        </p:spPr>
        <p:txBody>
          <a:bodyPr wrap="square">
            <a:spAutoFit/>
          </a:bodyPr>
          <a:lstStyle/>
          <a:p>
            <a:pPr algn="l"/>
            <a:r>
              <a:rPr sz="2300" b="1" i="0">
                <a:solidFill>
                  <a:srgbClr val="12173A"/>
                </a:solidFill>
                <a:latin typeface="Cambria"/>
              </a:rPr>
              <a:t>Ground Truth From LiDAR, Not the Camera Itself</a:t>
            </a:r>
          </a:p>
        </p:txBody>
      </p:sp>
      <p:sp>
        <p:nvSpPr>
          <p:cNvPr id="4" name="Rectangle 3"/>
          <p:cNvSpPr/>
          <p:nvPr/>
        </p:nvSpPr>
        <p:spPr>
          <a:xfrm>
            <a:off x="640080" y="1371600"/>
            <a:ext cx="50292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40080" y="5989320"/>
            <a:ext cx="10911535" cy="640080"/>
          </a:xfrm>
          <a:prstGeom prst="roundRect">
            <a:avLst>
              <a:gd name="adj" fmla="val 12000"/>
            </a:avLst>
          </a:prstGeom>
          <a:solidFill>
            <a:srgbClr val="1E2761"/>
          </a:solidFill>
          <a:ln>
            <a:noFill/>
          </a:ln>
          <a:effectLst>
            <a:outerShdw blurRad="203200" dist="63500" dir="2700000" rotWithShape="0">
              <a:srgbClr val="12173A">
                <a:alpha val="38000"/>
              </a:srgbClr>
            </a:outerShdw>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sz="1400" b="1" i="1">
                <a:solidFill>
                  <a:srgbClr val="FFA630"/>
                </a:solidFill>
                <a:latin typeface="Calibri"/>
              </a:rPr>
              <a:t>LiDAR provides positional information independent of the camera, allowing OATM's predictions to be evaluated even when the target is not visible to the camera.</a:t>
            </a:r>
          </a:p>
        </p:txBody>
      </p:sp>
      <p:pic>
        <p:nvPicPr>
          <p:cNvPr id="15" name="Picture 14">
            <a:extLst>
              <a:ext uri="{FF2B5EF4-FFF2-40B4-BE49-F238E27FC236}">
                <a16:creationId xmlns:a16="http://schemas.microsoft.com/office/drawing/2014/main" id="{078C2393-6AC1-85B5-ACB4-3972B02DBB04}"/>
              </a:ext>
            </a:extLst>
          </p:cNvPr>
          <p:cNvPicPr>
            <a:picLocks noChangeAspect="1"/>
          </p:cNvPicPr>
          <p:nvPr/>
        </p:nvPicPr>
        <p:blipFill>
          <a:blip r:embed="rId3"/>
          <a:stretch>
            <a:fillRect/>
          </a:stretch>
        </p:blipFill>
        <p:spPr>
          <a:xfrm>
            <a:off x="7329489" y="1435608"/>
            <a:ext cx="4458080" cy="4063248"/>
          </a:xfrm>
          <a:prstGeom prst="rect">
            <a:avLst/>
          </a:prstGeom>
        </p:spPr>
      </p:pic>
      <p:sp>
        <p:nvSpPr>
          <p:cNvPr id="16" name="Rectangle 15"/>
          <p:cNvSpPr/>
          <p:nvPr/>
        </p:nvSpPr>
        <p:spPr>
          <a:xfrm>
            <a:off x="640080" y="2743200"/>
            <a:ext cx="1417320" cy="1005840"/>
          </a:xfrm>
          <a:prstGeom prst="rect">
            <a:avLst/>
          </a:prstGeom>
          <a:solidFill>
            <a:srgbClr val="FFFFFF"/>
          </a:solidFill>
          <a:ln w="15875">
            <a:solidFill>
              <a:srgbClr val="12173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050" b="1">
                <a:solidFill>
                  <a:srgbClr val="12173A"/>
                </a:solidFill>
                <a:latin typeface="Calibri"/>
              </a:rPr>
              <a:t>3D + LiDAR Ground Truth</a:t>
            </a:r>
          </a:p>
          <a:p>
            <a:pPr algn="ctr">
              <a:spcBef>
                <a:spcPts val="200"/>
              </a:spcBef>
            </a:pPr>
            <a:r>
              <a:rPr sz="850">
                <a:solidFill>
                  <a:srgbClr val="69728C"/>
                </a:solidFill>
                <a:latin typeface="Calibri"/>
              </a:rPr>
              <a:t>nuScenes annotations, independent of camera</a:t>
            </a:r>
          </a:p>
        </p:txBody>
      </p:sp>
      <p:sp>
        <p:nvSpPr>
          <p:cNvPr id="17" name="TextBox 16"/>
          <p:cNvSpPr txBox="1"/>
          <p:nvPr/>
        </p:nvSpPr>
        <p:spPr>
          <a:xfrm>
            <a:off x="2057400" y="3108960"/>
            <a:ext cx="109728" cy="274320"/>
          </a:xfrm>
          <a:prstGeom prst="rect">
            <a:avLst/>
          </a:prstGeom>
          <a:noFill/>
        </p:spPr>
        <p:txBody>
          <a:bodyPr wrap="square">
            <a:spAutoFit/>
          </a:bodyPr>
          <a:lstStyle/>
          <a:p>
            <a:pPr algn="ctr"/>
            <a:r>
              <a:rPr sz="1100" b="1" i="0">
                <a:solidFill>
                  <a:srgbClr val="8A93AD"/>
                </a:solidFill>
                <a:latin typeface="Calibri"/>
              </a:rPr>
              <a:t>→</a:t>
            </a:r>
          </a:p>
        </p:txBody>
      </p:sp>
      <p:sp>
        <p:nvSpPr>
          <p:cNvPr id="18" name="Rectangle 17"/>
          <p:cNvSpPr/>
          <p:nvPr/>
        </p:nvSpPr>
        <p:spPr>
          <a:xfrm>
            <a:off x="2167128" y="2743200"/>
            <a:ext cx="1417320" cy="1005840"/>
          </a:xfrm>
          <a:prstGeom prst="rect">
            <a:avLst/>
          </a:prstGeom>
          <a:solidFill>
            <a:srgbClr val="FFFFFF"/>
          </a:solidFill>
          <a:ln w="15875">
            <a:solidFill>
              <a:srgbClr val="12173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050" b="1">
                <a:solidFill>
                  <a:srgbClr val="12173A"/>
                </a:solidFill>
                <a:latin typeface="Calibri"/>
              </a:rPr>
              <a:t>Project to CAM_FRONT</a:t>
            </a:r>
          </a:p>
          <a:p>
            <a:pPr algn="ctr">
              <a:spcBef>
                <a:spcPts val="200"/>
              </a:spcBef>
            </a:pPr>
            <a:r>
              <a:rPr sz="850">
                <a:solidFill>
                  <a:srgbClr val="69728C"/>
                </a:solidFill>
                <a:latin typeface="Calibri"/>
              </a:rPr>
              <a:t>Standard transform chain into the camera view</a:t>
            </a:r>
          </a:p>
        </p:txBody>
      </p:sp>
      <p:sp>
        <p:nvSpPr>
          <p:cNvPr id="19" name="TextBox 18"/>
          <p:cNvSpPr txBox="1"/>
          <p:nvPr/>
        </p:nvSpPr>
        <p:spPr>
          <a:xfrm>
            <a:off x="3584448" y="3108960"/>
            <a:ext cx="109728" cy="274320"/>
          </a:xfrm>
          <a:prstGeom prst="rect">
            <a:avLst/>
          </a:prstGeom>
          <a:noFill/>
        </p:spPr>
        <p:txBody>
          <a:bodyPr wrap="square">
            <a:spAutoFit/>
          </a:bodyPr>
          <a:lstStyle/>
          <a:p>
            <a:pPr algn="ctr"/>
            <a:r>
              <a:rPr sz="1100" b="1" i="0">
                <a:solidFill>
                  <a:srgbClr val="8A93AD"/>
                </a:solidFill>
                <a:latin typeface="Calibri"/>
              </a:rPr>
              <a:t>→</a:t>
            </a:r>
          </a:p>
        </p:txBody>
      </p:sp>
      <p:sp>
        <p:nvSpPr>
          <p:cNvPr id="20" name="Rectangle 19"/>
          <p:cNvSpPr/>
          <p:nvPr/>
        </p:nvSpPr>
        <p:spPr>
          <a:xfrm>
            <a:off x="3694176" y="2743200"/>
            <a:ext cx="1417320" cy="1005840"/>
          </a:xfrm>
          <a:prstGeom prst="rect">
            <a:avLst/>
          </a:prstGeom>
          <a:solidFill>
            <a:srgbClr val="FFFFFF"/>
          </a:solidFill>
          <a:ln w="15875">
            <a:solidFill>
              <a:srgbClr val="12173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050" b="1">
                <a:solidFill>
                  <a:srgbClr val="12173A"/>
                </a:solidFill>
                <a:latin typeface="Calibri"/>
              </a:rPr>
              <a:t>Run OATM (Blind)</a:t>
            </a:r>
          </a:p>
          <a:p>
            <a:pPr algn="ctr">
              <a:spcBef>
                <a:spcPts val="200"/>
              </a:spcBef>
            </a:pPr>
            <a:r>
              <a:rPr sz="850">
                <a:solidFill>
                  <a:srgbClr val="69728C"/>
                </a:solidFill>
                <a:latin typeface="Calibri"/>
              </a:rPr>
              <a:t>CAM_FRONT only, genuinely occluded</a:t>
            </a:r>
          </a:p>
        </p:txBody>
      </p:sp>
      <p:sp>
        <p:nvSpPr>
          <p:cNvPr id="21" name="TextBox 20"/>
          <p:cNvSpPr txBox="1"/>
          <p:nvPr/>
        </p:nvSpPr>
        <p:spPr>
          <a:xfrm>
            <a:off x="5111496" y="3108960"/>
            <a:ext cx="109728" cy="274320"/>
          </a:xfrm>
          <a:prstGeom prst="rect">
            <a:avLst/>
          </a:prstGeom>
          <a:noFill/>
        </p:spPr>
        <p:txBody>
          <a:bodyPr wrap="square">
            <a:spAutoFit/>
          </a:bodyPr>
          <a:lstStyle/>
          <a:p>
            <a:pPr algn="ctr"/>
            <a:r>
              <a:rPr sz="1100" b="1" i="0">
                <a:solidFill>
                  <a:srgbClr val="8A93AD"/>
                </a:solidFill>
                <a:latin typeface="Calibri"/>
              </a:rPr>
              <a:t>→</a:t>
            </a:r>
          </a:p>
        </p:txBody>
      </p:sp>
      <p:sp>
        <p:nvSpPr>
          <p:cNvPr id="22" name="Rectangle 21"/>
          <p:cNvSpPr/>
          <p:nvPr/>
        </p:nvSpPr>
        <p:spPr>
          <a:xfrm>
            <a:off x="5221224" y="2743200"/>
            <a:ext cx="1417320" cy="1005840"/>
          </a:xfrm>
          <a:prstGeom prst="rect">
            <a:avLst/>
          </a:prstGeom>
          <a:solidFill>
            <a:srgbClr val="FFFFFF"/>
          </a:solidFill>
          <a:ln w="15875">
            <a:solidFill>
              <a:srgbClr val="12173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050" b="1">
                <a:solidFill>
                  <a:srgbClr val="12173A"/>
                </a:solidFill>
                <a:latin typeface="Calibri"/>
              </a:rPr>
              <a:t>Score vs. Ground Truth</a:t>
            </a:r>
          </a:p>
          <a:p>
            <a:pPr algn="ctr">
              <a:spcBef>
                <a:spcPts val="200"/>
              </a:spcBef>
            </a:pPr>
            <a:r>
              <a:rPr sz="850">
                <a:solidFill>
                  <a:srgbClr val="69728C"/>
                </a:solidFill>
                <a:latin typeface="Calibri"/>
              </a:rPr>
              <a:t>Never against another camera-based tracker</a:t>
            </a:r>
          </a:p>
        </p:txBody>
      </p:sp>
      <p:sp>
        <p:nvSpPr>
          <p:cNvPr id="23" name="TextBox 22"/>
          <p:cNvSpPr txBox="1"/>
          <p:nvPr/>
        </p:nvSpPr>
        <p:spPr>
          <a:xfrm>
            <a:off x="640080" y="3977640"/>
            <a:ext cx="5998464" cy="365760"/>
          </a:xfrm>
          <a:prstGeom prst="rect">
            <a:avLst/>
          </a:prstGeom>
          <a:noFill/>
        </p:spPr>
        <p:txBody>
          <a:bodyPr wrap="square">
            <a:spAutoFit/>
          </a:bodyPr>
          <a:lstStyle/>
          <a:p>
            <a:pPr algn="l"/>
            <a:r>
              <a:rPr sz="1100" b="0" i="1">
                <a:solidFill>
                  <a:srgbClr val="69728C"/>
                </a:solidFill>
                <a:latin typeface="Calibri"/>
              </a:rPr>
              <a:t>This ordering directly repairs the circularity in Evidence 3, where the reference boxes were derived from the same Kalman model being tested.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7315200" cy="320040"/>
          </a:xfrm>
          <a:prstGeom prst="rect">
            <a:avLst/>
          </a:prstGeom>
          <a:noFill/>
        </p:spPr>
        <p:txBody>
          <a:bodyPr wrap="square">
            <a:spAutoFit/>
          </a:bodyPr>
          <a:lstStyle/>
          <a:p>
            <a:pPr algn="l"/>
            <a:r>
              <a:rPr sz="1300" b="1" i="0">
                <a:solidFill>
                  <a:srgbClr val="FFA630"/>
                </a:solidFill>
                <a:latin typeface="Calibri"/>
              </a:rPr>
              <a:t>SENSOR CONFIGURATIONS</a:t>
            </a:r>
          </a:p>
        </p:txBody>
      </p:sp>
      <p:sp>
        <p:nvSpPr>
          <p:cNvPr id="3" name="TextBox 2"/>
          <p:cNvSpPr txBox="1"/>
          <p:nvPr/>
        </p:nvSpPr>
        <p:spPr>
          <a:xfrm>
            <a:off x="640080" y="795528"/>
            <a:ext cx="8229600" cy="548640"/>
          </a:xfrm>
          <a:prstGeom prst="rect">
            <a:avLst/>
          </a:prstGeom>
          <a:noFill/>
        </p:spPr>
        <p:txBody>
          <a:bodyPr wrap="square">
            <a:spAutoFit/>
          </a:bodyPr>
          <a:lstStyle/>
          <a:p>
            <a:pPr algn="l"/>
            <a:r>
              <a:rPr sz="2400" b="1" i="0">
                <a:solidFill>
                  <a:srgbClr val="12173A"/>
                </a:solidFill>
                <a:latin typeface="Cambria"/>
              </a:rPr>
              <a:t>Trade-offs in Perception System Design</a:t>
            </a:r>
          </a:p>
        </p:txBody>
      </p:sp>
      <p:sp>
        <p:nvSpPr>
          <p:cNvPr id="4" name="Rectangle 3"/>
          <p:cNvSpPr/>
          <p:nvPr/>
        </p:nvSpPr>
        <p:spPr>
          <a:xfrm>
            <a:off x="640080" y="1371600"/>
            <a:ext cx="50292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63040"/>
            <a:ext cx="10911535" cy="365760"/>
          </a:xfrm>
          <a:prstGeom prst="rect">
            <a:avLst/>
          </a:prstGeom>
          <a:noFill/>
        </p:spPr>
        <p:txBody>
          <a:bodyPr wrap="square">
            <a:spAutoFit/>
          </a:bodyPr>
          <a:lstStyle/>
          <a:p>
            <a:pPr algn="l"/>
            <a:r>
              <a:rPr sz="1300" b="0" i="1">
                <a:solidFill>
                  <a:srgbClr val="69728C"/>
                </a:solidFill>
                <a:latin typeface="Calibri"/>
              </a:rPr>
              <a:t>A generic comparison of sensor configurations used in autonomous vehicle perception; OATM's row is a proposed capability, not yet implemented or measured.</a:t>
            </a:r>
          </a:p>
        </p:txBody>
      </p:sp>
      <p:sp>
        <p:nvSpPr>
          <p:cNvPr id="6" name="Rounded Rectangle 5"/>
          <p:cNvSpPr/>
          <p:nvPr/>
        </p:nvSpPr>
        <p:spPr>
          <a:xfrm>
            <a:off x="530352" y="1856232"/>
            <a:ext cx="11130991" cy="4379976"/>
          </a:xfrm>
          <a:prstGeom prst="roundRect">
            <a:avLst>
              <a:gd name="adj" fmla="val 3000"/>
            </a:avLst>
          </a:prstGeom>
          <a:solidFill>
            <a:srgbClr val="FFFFFF"/>
          </a:solidFill>
          <a:ln>
            <a:noFill/>
          </a:ln>
          <a:effectLst>
            <a:outerShdw blurRad="203200" dist="63500" dir="2700000" rotWithShape="0">
              <a:srgbClr val="12173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extLst>
              <p:ext uri="{D42A27DB-BD31-4B8C-83A1-F6EECF244321}">
                <p14:modId xmlns:p14="http://schemas.microsoft.com/office/powerpoint/2010/main" val="1527896998"/>
              </p:ext>
            </p:extLst>
          </p:nvPr>
        </p:nvGraphicFramePr>
        <p:xfrm>
          <a:off x="640080" y="1965960"/>
          <a:ext cx="10908792" cy="4160520"/>
        </p:xfrm>
        <a:graphic>
          <a:graphicData uri="http://schemas.openxmlformats.org/drawingml/2006/table">
            <a:tbl>
              <a:tblPr firstRow="1" bandRow="1">
                <a:tableStyleId>{5C22544A-7EE6-4342-B048-85BDC9FD1C3A}</a:tableStyleId>
              </a:tblPr>
              <a:tblGrid>
                <a:gridCol w="265176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gridCol w="3410712">
                  <a:extLst>
                    <a:ext uri="{9D8B030D-6E8A-4147-A177-3AD203B41FA5}">
                      <a16:colId xmlns:a16="http://schemas.microsoft.com/office/drawing/2014/main" val="20002"/>
                    </a:ext>
                  </a:extLst>
                </a:gridCol>
              </a:tblGrid>
              <a:tr h="693420">
                <a:tc>
                  <a:txBody>
                    <a:bodyPr/>
                    <a:lstStyle/>
                    <a:p>
                      <a:r>
                        <a:rPr sz="1350" b="1">
                          <a:solidFill>
                            <a:srgbClr val="FFFFFF"/>
                          </a:solidFill>
                          <a:latin typeface="Calibri"/>
                        </a:rPr>
                        <a:t>Configuration</a:t>
                      </a:r>
                    </a:p>
                  </a:txBody>
                  <a:tcPr marL="164592" marR="137160" anchor="ctr">
                    <a:solidFill>
                      <a:srgbClr val="12173A"/>
                    </a:solidFill>
                  </a:tcPr>
                </a:tc>
                <a:tc>
                  <a:txBody>
                    <a:bodyPr/>
                    <a:lstStyle/>
                    <a:p>
                      <a:r>
                        <a:rPr sz="1350" b="1">
                          <a:solidFill>
                            <a:srgbClr val="FFFFFF"/>
                          </a:solidFill>
                          <a:latin typeface="Calibri"/>
                        </a:rPr>
                        <a:t>Description</a:t>
                      </a:r>
                    </a:p>
                  </a:txBody>
                  <a:tcPr marL="164592" marR="137160" anchor="ctr">
                    <a:solidFill>
                      <a:srgbClr val="12173A"/>
                    </a:solidFill>
                  </a:tcPr>
                </a:tc>
                <a:tc>
                  <a:txBody>
                    <a:bodyPr/>
                    <a:lstStyle/>
                    <a:p>
                      <a:r>
                        <a:rPr sz="1350" b="1">
                          <a:solidFill>
                            <a:srgbClr val="FFFFFF"/>
                          </a:solidFill>
                          <a:latin typeface="Calibri"/>
                        </a:rPr>
                        <a:t>Trade-off</a:t>
                      </a:r>
                    </a:p>
                  </a:txBody>
                  <a:tcPr marL="164592" marR="137160" anchor="ctr">
                    <a:solidFill>
                      <a:srgbClr val="12173A"/>
                    </a:solidFill>
                  </a:tcPr>
                </a:tc>
                <a:extLst>
                  <a:ext uri="{0D108BD9-81ED-4DB2-BD59-A6C34878D82A}">
                    <a16:rowId xmlns:a16="http://schemas.microsoft.com/office/drawing/2014/main" val="10000"/>
                  </a:ext>
                </a:extLst>
              </a:tr>
              <a:tr h="693420">
                <a:tc>
                  <a:txBody>
                    <a:bodyPr/>
                    <a:lstStyle/>
                    <a:p>
                      <a:r>
                        <a:rPr sz="1250">
                          <a:solidFill>
                            <a:srgbClr val="2E3348"/>
                          </a:solidFill>
                          <a:latin typeface="Calibri"/>
                        </a:rPr>
                        <a:t>Single camera</a:t>
                      </a:r>
                    </a:p>
                  </a:txBody>
                  <a:tcPr marL="164592" marR="137160" anchor="ctr">
                    <a:solidFill>
                      <a:srgbClr val="FFFFFF"/>
                    </a:solidFill>
                  </a:tcPr>
                </a:tc>
                <a:tc>
                  <a:txBody>
                    <a:bodyPr/>
                    <a:lstStyle/>
                    <a:p>
                      <a:r>
                        <a:rPr sz="1250">
                          <a:solidFill>
                            <a:srgbClr val="2E3348"/>
                          </a:solidFill>
                          <a:latin typeface="Calibri"/>
                        </a:rPr>
                        <a:t>One forward-facing monocular camera</a:t>
                      </a:r>
                    </a:p>
                  </a:txBody>
                  <a:tcPr marL="164592" marR="137160" anchor="ctr">
                    <a:solidFill>
                      <a:srgbClr val="FFFFFF"/>
                    </a:solidFill>
                  </a:tcPr>
                </a:tc>
                <a:tc>
                  <a:txBody>
                    <a:bodyPr/>
                    <a:lstStyle/>
                    <a:p>
                      <a:r>
                        <a:rPr sz="1250">
                          <a:solidFill>
                            <a:srgbClr val="2E3348"/>
                          </a:solidFill>
                          <a:latin typeface="Calibri"/>
                        </a:rPr>
                        <a:t>Lowest cost; occlusion causes complete information loss</a:t>
                      </a:r>
                    </a:p>
                  </a:txBody>
                  <a:tcPr marL="164592" marR="137160" anchor="ctr">
                    <a:solidFill>
                      <a:srgbClr val="FFFFFF"/>
                    </a:solidFill>
                  </a:tcPr>
                </a:tc>
                <a:extLst>
                  <a:ext uri="{0D108BD9-81ED-4DB2-BD59-A6C34878D82A}">
                    <a16:rowId xmlns:a16="http://schemas.microsoft.com/office/drawing/2014/main" val="10001"/>
                  </a:ext>
                </a:extLst>
              </a:tr>
              <a:tr h="693420">
                <a:tc>
                  <a:txBody>
                    <a:bodyPr/>
                    <a:lstStyle/>
                    <a:p>
                      <a:r>
                        <a:rPr sz="1250">
                          <a:solidFill>
                            <a:srgbClr val="2E3348"/>
                          </a:solidFill>
                          <a:latin typeface="Calibri"/>
                        </a:rPr>
                        <a:t>LiDAR only</a:t>
                      </a:r>
                    </a:p>
                  </a:txBody>
                  <a:tcPr marL="164592" marR="137160" anchor="ctr">
                    <a:solidFill>
                      <a:srgbClr val="F3F5FA"/>
                    </a:solidFill>
                  </a:tcPr>
                </a:tc>
                <a:tc>
                  <a:txBody>
                    <a:bodyPr/>
                    <a:lstStyle/>
                    <a:p>
                      <a:r>
                        <a:rPr sz="1250" dirty="0">
                          <a:solidFill>
                            <a:srgbClr val="2E3348"/>
                          </a:solidFill>
                          <a:latin typeface="Calibri"/>
                        </a:rPr>
                        <a:t>360-degree point cloud, no camera imagery</a:t>
                      </a:r>
                      <a:r>
                        <a:rPr lang="en-GB" sz="1250" dirty="0">
                          <a:solidFill>
                            <a:srgbClr val="2E3348"/>
                          </a:solidFill>
                          <a:latin typeface="Calibri"/>
                        </a:rPr>
                        <a:t/>
                      </a:r>
                      <a:r>
                        <a:rPr sz="1250" dirty="0">
                          <a:solidFill>
                            <a:srgbClr val="2E3348"/>
                          </a:solidFill>
                          <a:latin typeface="Calibri"/>
                        </a:rPr>
                        <a:t/>
                      </a:r>
                      <a:r>
                        <a:rPr lang="en-GB" sz="1250" dirty="0">
                          <a:solidFill>
                            <a:srgbClr val="2E3348"/>
                          </a:solidFill>
                          <a:latin typeface="Calibri"/>
                        </a:rPr>
                        <a:t/>
                      </a:r>
                      <a:r>
                        <a:rPr sz="1250" dirty="0">
                          <a:solidFill>
                            <a:srgbClr val="2E3348"/>
                          </a:solidFill>
                          <a:latin typeface="Calibri"/>
                        </a:rPr>
                        <a:t/>
                      </a:r>
                    </a:p>
                  </a:txBody>
                  <a:tcPr marL="164592" marR="137160" anchor="ctr">
                    <a:solidFill>
                      <a:srgbClr val="F3F5FA"/>
                    </a:solidFill>
                  </a:tcPr>
                </a:tc>
                <a:tc>
                  <a:txBody>
                    <a:bodyPr/>
                    <a:lstStyle/>
                    <a:p>
                      <a:r>
                        <a:rPr sz="1250">
                          <a:solidFill>
                            <a:srgbClr val="2E3348"/>
                          </a:solidFill>
                          <a:latin typeface="Calibri"/>
                        </a:rPr>
                        <a:t>Occlusion-robust geometry; no color or texture, higher cost</a:t>
                      </a:r>
                    </a:p>
                  </a:txBody>
                  <a:tcPr marL="164592" marR="137160" anchor="ctr">
                    <a:solidFill>
                      <a:srgbClr val="F3F5FA"/>
                    </a:solidFill>
                  </a:tcPr>
                </a:tc>
                <a:extLst>
                  <a:ext uri="{0D108BD9-81ED-4DB2-BD59-A6C34878D82A}">
                    <a16:rowId xmlns:a16="http://schemas.microsoft.com/office/drawing/2014/main" val="10002"/>
                  </a:ext>
                </a:extLst>
              </a:tr>
              <a:tr h="693420">
                <a:tc>
                  <a:txBody>
                    <a:bodyPr/>
                    <a:lstStyle/>
                    <a:p>
                      <a:r>
                        <a:rPr sz="1250">
                          <a:solidFill>
                            <a:srgbClr val="2E3348"/>
                          </a:solidFill>
                          <a:latin typeface="Calibri"/>
                        </a:rPr>
                        <a:t>Multi-camera (5-6 cameras)</a:t>
                      </a:r>
                    </a:p>
                  </a:txBody>
                  <a:tcPr marL="164592" marR="137160" anchor="ctr">
                    <a:solidFill>
                      <a:srgbClr val="FFFFFF"/>
                    </a:solidFill>
                  </a:tcPr>
                </a:tc>
                <a:tc>
                  <a:txBody>
                    <a:bodyPr/>
                    <a:lstStyle/>
                    <a:p>
                      <a:r>
                        <a:rPr sz="1250">
                          <a:solidFill>
                            <a:srgbClr val="2E3348"/>
                          </a:solidFill>
                          <a:latin typeface="Calibri"/>
                        </a:rPr>
                        <a:t>Full surround visual coverage</a:t>
                      </a:r>
                    </a:p>
                  </a:txBody>
                  <a:tcPr marL="164592" marR="137160" anchor="ctr">
                    <a:solidFill>
                      <a:srgbClr val="FFFFFF"/>
                    </a:solidFill>
                  </a:tcPr>
                </a:tc>
                <a:tc>
                  <a:txBody>
                    <a:bodyPr/>
                    <a:lstStyle/>
                    <a:p>
                      <a:r>
                        <a:rPr sz="1250">
                          <a:solidFill>
                            <a:srgbClr val="2E3348"/>
                          </a:solidFill>
                          <a:latin typeface="Calibri"/>
                        </a:rPr>
                        <a:t>Redundant viewpoints reduce occlusion; higher compute and calibration cost</a:t>
                      </a:r>
                    </a:p>
                  </a:txBody>
                  <a:tcPr marL="164592" marR="137160" anchor="ctr">
                    <a:solidFill>
                      <a:srgbClr val="FFFFFF"/>
                    </a:solidFill>
                  </a:tcPr>
                </a:tc>
                <a:extLst>
                  <a:ext uri="{0D108BD9-81ED-4DB2-BD59-A6C34878D82A}">
                    <a16:rowId xmlns:a16="http://schemas.microsoft.com/office/drawing/2014/main" val="10003"/>
                  </a:ext>
                </a:extLst>
              </a:tr>
              <a:tr h="693420">
                <a:tc>
                  <a:txBody>
                    <a:bodyPr/>
                    <a:lstStyle/>
                    <a:p>
                      <a:r>
                        <a:rPr sz="1250">
                          <a:solidFill>
                            <a:srgbClr val="2E3348"/>
                          </a:solidFill>
                          <a:latin typeface="Calibri"/>
                        </a:rPr>
                        <a:t>Camera + LiDAR fusion</a:t>
                      </a:r>
                    </a:p>
                  </a:txBody>
                  <a:tcPr marL="164592" marR="137160" anchor="ctr">
                    <a:solidFill>
                      <a:srgbClr val="F3F5FA"/>
                    </a:solidFill>
                  </a:tcPr>
                </a:tc>
                <a:tc>
                  <a:txBody>
                    <a:bodyPr/>
                    <a:lstStyle/>
                    <a:p>
                      <a:r>
                        <a:rPr sz="1250">
                          <a:solidFill>
                            <a:srgbClr val="2E3348"/>
                          </a:solidFill>
                          <a:latin typeface="Calibri"/>
                        </a:rPr>
                        <a:t>Combines visual and geometric sensing</a:t>
                      </a:r>
                    </a:p>
                  </a:txBody>
                  <a:tcPr marL="164592" marR="137160" anchor="ctr">
                    <a:solidFill>
                      <a:srgbClr val="F3F5FA"/>
                    </a:solidFill>
                  </a:tcPr>
                </a:tc>
                <a:tc>
                  <a:txBody>
                    <a:bodyPr/>
                    <a:lstStyle/>
                    <a:p>
                      <a:r>
                        <a:rPr sz="1250">
                          <a:solidFill>
                            <a:srgbClr val="2E3348"/>
                          </a:solidFill>
                          <a:latin typeface="Calibri"/>
                        </a:rPr>
                        <a:t>Most robust overall; highest cost and system complexity</a:t>
                      </a:r>
                    </a:p>
                  </a:txBody>
                  <a:tcPr marL="164592" marR="137160" anchor="ctr">
                    <a:solidFill>
                      <a:srgbClr val="F3F5FA"/>
                    </a:solidFill>
                  </a:tcPr>
                </a:tc>
                <a:extLst>
                  <a:ext uri="{0D108BD9-81ED-4DB2-BD59-A6C34878D82A}">
                    <a16:rowId xmlns:a16="http://schemas.microsoft.com/office/drawing/2014/main" val="10004"/>
                  </a:ext>
                </a:extLst>
              </a:tr>
              <a:tr h="693420">
                <a:tc>
                  <a:txBody>
                    <a:bodyPr/>
                    <a:lstStyle/>
                    <a:p>
                      <a:r>
                        <a:rPr sz="1250" b="1">
                          <a:solidFill>
                            <a:srgbClr val="12173A"/>
                          </a:solidFill>
                          <a:latin typeface="Calibri"/>
                        </a:rPr>
                        <a:t>Single camera + OATM (proposed)</a:t>
                      </a:r>
                    </a:p>
                  </a:txBody>
                  <a:tcPr marL="164592" marR="137160" anchor="ctr">
                    <a:solidFill>
                      <a:srgbClr val="FFF3E0"/>
                    </a:solidFill>
                  </a:tcPr>
                </a:tc>
                <a:tc>
                  <a:txBody>
                    <a:bodyPr/>
                    <a:lstStyle/>
                    <a:p>
                      <a:r>
                        <a:rPr sz="1250" b="1">
                          <a:solidFill>
                            <a:srgbClr val="12173A"/>
                          </a:solidFill>
                          <a:latin typeface="Calibri"/>
                        </a:rPr>
                        <a:t>Same low-cost hardware, with temporal occlusion reasoning added</a:t>
                      </a:r>
                    </a:p>
                  </a:txBody>
                  <a:tcPr marL="164592" marR="137160" anchor="ctr">
                    <a:solidFill>
                      <a:srgbClr val="FFF3E0"/>
                    </a:solidFill>
                  </a:tcPr>
                </a:tc>
                <a:tc>
                  <a:txBody>
                    <a:bodyPr/>
                    <a:lstStyle/>
                    <a:p>
                      <a:r>
                        <a:rPr sz="1250" b="1" dirty="0">
                          <a:solidFill>
                            <a:srgbClr val="12173A"/>
                          </a:solidFill>
                          <a:latin typeface="Calibri"/>
                        </a:rPr>
                        <a:t>Aims to approach fusion-level robustness without extra sensors; not yet benchmarked</a:t>
                      </a:r>
                    </a:p>
                  </a:txBody>
                  <a:tcPr marL="164592" marR="137160" anchor="ctr">
                    <a:solidFill>
                      <a:srgbClr val="FFF3E0"/>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2173A"/>
        </a:solidFill>
        <a:effectLst/>
      </p:bgPr>
    </p:bg>
    <p:spTree>
      <p:nvGrpSpPr>
        <p:cNvPr id="1" name=""/>
        <p:cNvGrpSpPr/>
        <p:nvPr/>
      </p:nvGrpSpPr>
      <p:grpSpPr>
        <a:xfrm>
          <a:off x="0" y="0"/>
          <a:ext cx="0" cy="0"/>
          <a:chOff x="0" y="0"/>
          <a:chExt cx="0" cy="0"/>
        </a:xfrm>
      </p:grpSpPr>
      <p:sp>
        <p:nvSpPr>
          <p:cNvPr id="2" name="TextBox 1"/>
          <p:cNvSpPr txBox="1"/>
          <p:nvPr/>
        </p:nvSpPr>
        <p:spPr>
          <a:xfrm>
            <a:off x="0" y="502920"/>
            <a:ext cx="12191695" cy="320040"/>
          </a:xfrm>
          <a:prstGeom prst="rect">
            <a:avLst/>
          </a:prstGeom>
          <a:noFill/>
        </p:spPr>
        <p:txBody>
          <a:bodyPr wrap="square">
            <a:spAutoFit/>
          </a:bodyPr>
          <a:lstStyle/>
          <a:p>
            <a:pPr algn="ctr"/>
            <a:r>
              <a:rPr sz="2800" b="1" i="0">
                <a:solidFill>
                  <a:srgbClr val="FFFFFF"/>
                </a:solidFill>
                <a:latin typeface="Cambria"/>
              </a:rPr>
              <a:t>Roadmap</a:t>
            </a:r>
          </a:p>
        </p:txBody>
      </p:sp>
      <p:sp>
        <p:nvSpPr>
          <p:cNvPr id="14" name="Rectangle 13"/>
          <p:cNvSpPr/>
          <p:nvPr/>
        </p:nvSpPr>
        <p:spPr>
          <a:xfrm>
            <a:off x="4270248" y="5806440"/>
            <a:ext cx="3657600" cy="19050"/>
          </a:xfrm>
          <a:prstGeom prst="rect">
            <a:avLst/>
          </a:prstGeom>
          <a:solidFill>
            <a:srgbClr val="FFA63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021080" y="2743200"/>
            <a:ext cx="1920240" cy="960120"/>
          </a:xfrm>
          <a:prstGeom prst="rect">
            <a:avLst/>
          </a:prstGeom>
          <a:solidFill>
            <a:srgbClr val="1E2761"/>
          </a:solidFill>
          <a:ln w="15875">
            <a:solidFill>
              <a:srgbClr val="FFA63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50" b="1">
                <a:solidFill>
                  <a:srgbClr val="FFA630"/>
                </a:solidFill>
                <a:latin typeface="Calibri"/>
              </a:rPr>
              <a:t>1. Test Sets</a:t>
            </a:r>
          </a:p>
          <a:p>
            <a:pPr algn="ctr">
              <a:spcBef>
                <a:spcPts val="200"/>
              </a:spcBef>
            </a:pPr>
            <a:r>
              <a:rPr sz="950">
                <a:solidFill>
                  <a:srgbClr val="CADCFC"/>
                </a:solidFill>
                <a:latin typeface="Calibri"/>
              </a:rPr>
              <a:t>Natural + controlled occlusion sets from nuScenes</a:t>
            </a:r>
          </a:p>
        </p:txBody>
      </p:sp>
      <p:sp>
        <p:nvSpPr>
          <p:cNvPr id="16" name="TextBox 15"/>
          <p:cNvSpPr txBox="1"/>
          <p:nvPr/>
        </p:nvSpPr>
        <p:spPr>
          <a:xfrm>
            <a:off x="2941320" y="3086100"/>
            <a:ext cx="137160" cy="274320"/>
          </a:xfrm>
          <a:prstGeom prst="rect">
            <a:avLst/>
          </a:prstGeom>
          <a:noFill/>
        </p:spPr>
        <p:txBody>
          <a:bodyPr wrap="square">
            <a:spAutoFit/>
          </a:bodyPr>
          <a:lstStyle/>
          <a:p>
            <a:pPr algn="ctr"/>
            <a:r>
              <a:rPr sz="1300" b="1" i="0">
                <a:solidFill>
                  <a:srgbClr val="8A93AD"/>
                </a:solidFill>
                <a:latin typeface="Calibri"/>
              </a:rPr>
              <a:t>→</a:t>
            </a:r>
          </a:p>
        </p:txBody>
      </p:sp>
      <p:sp>
        <p:nvSpPr>
          <p:cNvPr id="17" name="Rectangle 16"/>
          <p:cNvSpPr/>
          <p:nvPr/>
        </p:nvSpPr>
        <p:spPr>
          <a:xfrm>
            <a:off x="3078480" y="2743200"/>
            <a:ext cx="1920240" cy="960120"/>
          </a:xfrm>
          <a:prstGeom prst="rect">
            <a:avLst/>
          </a:prstGeom>
          <a:solidFill>
            <a:srgbClr val="1E2761"/>
          </a:solidFill>
          <a:ln w="15875">
            <a:solidFill>
              <a:srgbClr val="FFA63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50" b="1">
                <a:solidFill>
                  <a:srgbClr val="FFA630"/>
                </a:solidFill>
                <a:latin typeface="Calibri"/>
              </a:rPr>
              <a:t>2. Fix Baselines</a:t>
            </a:r>
          </a:p>
          <a:p>
            <a:pPr algn="ctr">
              <a:spcBef>
                <a:spcPts val="200"/>
              </a:spcBef>
            </a:pPr>
            <a:r>
              <a:rPr sz="950">
                <a:solidFill>
                  <a:srgbClr val="CADCFC"/>
                </a:solidFill>
                <a:latin typeface="Calibri"/>
              </a:rPr>
              <a:t>Repair SORT's circular reference; add ByteTrack</a:t>
            </a:r>
          </a:p>
        </p:txBody>
      </p:sp>
      <p:sp>
        <p:nvSpPr>
          <p:cNvPr id="18" name="TextBox 17"/>
          <p:cNvSpPr txBox="1"/>
          <p:nvPr/>
        </p:nvSpPr>
        <p:spPr>
          <a:xfrm>
            <a:off x="4998720" y="3086100"/>
            <a:ext cx="137160" cy="274320"/>
          </a:xfrm>
          <a:prstGeom prst="rect">
            <a:avLst/>
          </a:prstGeom>
          <a:noFill/>
        </p:spPr>
        <p:txBody>
          <a:bodyPr wrap="square">
            <a:spAutoFit/>
          </a:bodyPr>
          <a:lstStyle/>
          <a:p>
            <a:pPr algn="ctr"/>
            <a:r>
              <a:rPr sz="1300" b="1" i="0">
                <a:solidFill>
                  <a:srgbClr val="8A93AD"/>
                </a:solidFill>
                <a:latin typeface="Calibri"/>
              </a:rPr>
              <a:t>→</a:t>
            </a:r>
          </a:p>
        </p:txBody>
      </p:sp>
      <p:sp>
        <p:nvSpPr>
          <p:cNvPr id="19" name="Rectangle 18"/>
          <p:cNvSpPr/>
          <p:nvPr/>
        </p:nvSpPr>
        <p:spPr>
          <a:xfrm>
            <a:off x="5135880" y="2743200"/>
            <a:ext cx="1920240" cy="960120"/>
          </a:xfrm>
          <a:prstGeom prst="rect">
            <a:avLst/>
          </a:prstGeom>
          <a:solidFill>
            <a:srgbClr val="1E2761"/>
          </a:solidFill>
          <a:ln w="15875">
            <a:solidFill>
              <a:srgbClr val="FFA63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50" b="1">
                <a:solidFill>
                  <a:srgbClr val="FFA630"/>
                </a:solidFill>
                <a:latin typeface="Calibri"/>
              </a:rPr>
              <a:t>3. Metrics</a:t>
            </a:r>
          </a:p>
          <a:p>
            <a:pPr algn="ctr">
              <a:spcBef>
                <a:spcPts val="200"/>
              </a:spcBef>
            </a:pPr>
            <a:r>
              <a:rPr sz="950">
                <a:solidFill>
                  <a:srgbClr val="CADCFC"/>
                </a:solidFill>
                <a:latin typeface="Calibri"/>
              </a:rPr>
              <a:t>Recall, identity, ghost-rate, recovery time</a:t>
            </a:r>
          </a:p>
        </p:txBody>
      </p:sp>
      <p:sp>
        <p:nvSpPr>
          <p:cNvPr id="20" name="TextBox 19"/>
          <p:cNvSpPr txBox="1"/>
          <p:nvPr/>
        </p:nvSpPr>
        <p:spPr>
          <a:xfrm>
            <a:off x="7056120" y="3086100"/>
            <a:ext cx="137160" cy="274320"/>
          </a:xfrm>
          <a:prstGeom prst="rect">
            <a:avLst/>
          </a:prstGeom>
          <a:noFill/>
        </p:spPr>
        <p:txBody>
          <a:bodyPr wrap="square">
            <a:spAutoFit/>
          </a:bodyPr>
          <a:lstStyle/>
          <a:p>
            <a:pPr algn="ctr"/>
            <a:r>
              <a:rPr sz="1300" b="1" i="0">
                <a:solidFill>
                  <a:srgbClr val="8A93AD"/>
                </a:solidFill>
                <a:latin typeface="Calibri"/>
              </a:rPr>
              <a:t>→</a:t>
            </a:r>
          </a:p>
        </p:txBody>
      </p:sp>
      <p:sp>
        <p:nvSpPr>
          <p:cNvPr id="21" name="Rectangle 20"/>
          <p:cNvSpPr/>
          <p:nvPr/>
        </p:nvSpPr>
        <p:spPr>
          <a:xfrm>
            <a:off x="7193280" y="2743200"/>
            <a:ext cx="1920240" cy="960120"/>
          </a:xfrm>
          <a:prstGeom prst="rect">
            <a:avLst/>
          </a:prstGeom>
          <a:solidFill>
            <a:srgbClr val="1E2761"/>
          </a:solidFill>
          <a:ln w="15875">
            <a:solidFill>
              <a:srgbClr val="FFA63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50" b="1">
                <a:solidFill>
                  <a:srgbClr val="FFA630"/>
                </a:solidFill>
                <a:latin typeface="Calibri"/>
              </a:rPr>
              <a:t>4. Data Splits</a:t>
            </a:r>
          </a:p>
          <a:p>
            <a:pPr algn="ctr">
              <a:spcBef>
                <a:spcPts val="200"/>
              </a:spcBef>
            </a:pPr>
            <a:r>
              <a:rPr sz="950">
                <a:solidFill>
                  <a:srgbClr val="CADCFC"/>
                </a:solidFill>
                <a:latin typeface="Calibri"/>
              </a:rPr>
              <a:t>By scene, not frame, to avoid leakage</a:t>
            </a:r>
          </a:p>
        </p:txBody>
      </p:sp>
      <p:sp>
        <p:nvSpPr>
          <p:cNvPr id="22" name="TextBox 21"/>
          <p:cNvSpPr txBox="1"/>
          <p:nvPr/>
        </p:nvSpPr>
        <p:spPr>
          <a:xfrm>
            <a:off x="9113520" y="3086100"/>
            <a:ext cx="137160" cy="274320"/>
          </a:xfrm>
          <a:prstGeom prst="rect">
            <a:avLst/>
          </a:prstGeom>
          <a:noFill/>
        </p:spPr>
        <p:txBody>
          <a:bodyPr wrap="square">
            <a:spAutoFit/>
          </a:bodyPr>
          <a:lstStyle/>
          <a:p>
            <a:pPr algn="ctr"/>
            <a:r>
              <a:rPr sz="1300" b="1" i="0">
                <a:solidFill>
                  <a:srgbClr val="8A93AD"/>
                </a:solidFill>
                <a:latin typeface="Calibri"/>
              </a:rPr>
              <a:t>→</a:t>
            </a:r>
          </a:p>
        </p:txBody>
      </p:sp>
      <p:sp>
        <p:nvSpPr>
          <p:cNvPr id="23" name="Rectangle 22"/>
          <p:cNvSpPr/>
          <p:nvPr/>
        </p:nvSpPr>
        <p:spPr>
          <a:xfrm>
            <a:off x="9250680" y="2743200"/>
            <a:ext cx="1920240" cy="960120"/>
          </a:xfrm>
          <a:prstGeom prst="rect">
            <a:avLst/>
          </a:prstGeom>
          <a:solidFill>
            <a:srgbClr val="1E2761"/>
          </a:solidFill>
          <a:ln w="15875">
            <a:solidFill>
              <a:srgbClr val="FFA63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50" b="1">
                <a:solidFill>
                  <a:srgbClr val="FFA630"/>
                </a:solidFill>
                <a:latin typeface="Calibri"/>
              </a:rPr>
              <a:t>5. Extend Scope</a:t>
            </a:r>
          </a:p>
          <a:p>
            <a:pPr algn="ctr">
              <a:spcBef>
                <a:spcPts val="200"/>
              </a:spcBef>
            </a:pPr>
            <a:r>
              <a:rPr sz="950">
                <a:solidFill>
                  <a:srgbClr val="CADCFC"/>
                </a:solidFill>
                <a:latin typeface="Calibri"/>
              </a:rPr>
              <a:t>From vehicles to pedestrians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640080" y="868680"/>
            <a:ext cx="10881360" cy="492443"/>
          </a:xfrm>
          <a:prstGeom prst="rect">
            <a:avLst/>
          </a:prstGeom>
          <a:noFill/>
        </p:spPr>
        <p:txBody>
          <a:bodyPr wrap="square">
            <a:spAutoFit/>
          </a:bodyPr>
          <a:lstStyle/>
          <a:p>
            <a:pPr algn="l"/>
            <a:r>
              <a:rPr lang="en-GB" sz="2600" b="1" dirty="0">
                <a:solidFill>
                  <a:srgbClr val="12173A"/>
                </a:solidFill>
                <a:latin typeface="Cambria"/>
              </a:rPr>
              <a:t>References</a:t>
            </a:r>
            <a:endParaRPr sz="2600" b="1" i="0" dirty="0">
              <a:solidFill>
                <a:srgbClr val="12173A"/>
              </a:solidFill>
              <a:latin typeface="Cambria"/>
            </a:endParaRPr>
          </a:p>
        </p:txBody>
      </p:sp>
      <p:sp>
        <p:nvSpPr>
          <p:cNvPr id="4" name="Rectangle 3"/>
          <p:cNvSpPr/>
          <p:nvPr/>
        </p:nvSpPr>
        <p:spPr>
          <a:xfrm>
            <a:off x="640080" y="1481328"/>
            <a:ext cx="50292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783080"/>
            <a:ext cx="10911535" cy="621792"/>
          </a:xfrm>
          <a:prstGeom prst="rect">
            <a:avLst/>
          </a:prstGeom>
          <a:noFill/>
        </p:spPr>
        <p:txBody>
          <a:bodyPr wrap="square">
            <a:spAutoFit/>
          </a:bodyPr>
          <a:lstStyle/>
          <a:p>
            <a:r>
              <a:rPr sz="1150">
                <a:solidFill>
                  <a:srgbClr val="2E3348"/>
                </a:solidFill>
                <a:latin typeface="Calibri"/>
              </a:rPr>
              <a:t>Ma, J., Yang, J., Fu, F., Hao, D., &amp; Wang, R. (2026). </a:t>
            </a:r>
            <a:r>
              <a:rPr sz="1150" i="1">
                <a:solidFill>
                  <a:srgbClr val="12173A"/>
                </a:solidFill>
                <a:latin typeface="Calibri"/>
              </a:rPr>
              <a:t>Occlusion-aware multi-camera 3D multi-object tracking with dual-appearance dynamic association. </a:t>
            </a:r>
            <a:r>
              <a:rPr sz="1150">
                <a:solidFill>
                  <a:srgbClr val="69728C"/>
                </a:solidFill>
                <a:latin typeface="Calibri"/>
              </a:rPr>
              <a:t>Applied Soft Computing.</a:t>
            </a:r>
          </a:p>
        </p:txBody>
      </p:sp>
      <p:sp>
        <p:nvSpPr>
          <p:cNvPr id="6" name="TextBox 5"/>
          <p:cNvSpPr txBox="1"/>
          <p:nvPr/>
        </p:nvSpPr>
        <p:spPr>
          <a:xfrm>
            <a:off x="640080" y="2404872"/>
            <a:ext cx="10911535" cy="621792"/>
          </a:xfrm>
          <a:prstGeom prst="rect">
            <a:avLst/>
          </a:prstGeom>
          <a:noFill/>
        </p:spPr>
        <p:txBody>
          <a:bodyPr wrap="square">
            <a:spAutoFit/>
          </a:bodyPr>
          <a:lstStyle/>
          <a:p>
            <a:r>
              <a:rPr sz="1150">
                <a:solidFill>
                  <a:srgbClr val="2E3348"/>
                </a:solidFill>
                <a:latin typeface="Calibri"/>
              </a:rPr>
              <a:t>Pang, Z., Li, J., Tokmakov, P., Chen, D., Zagoruyko, S., &amp; Wang, Y.-X. (2023). </a:t>
            </a:r>
            <a:r>
              <a:rPr sz="1150" i="1">
                <a:solidFill>
                  <a:srgbClr val="12173A"/>
                </a:solidFill>
                <a:latin typeface="Calibri"/>
              </a:rPr>
              <a:t>Standing Between Past and Future: Spatio-Temporal Modeling for Multi-Camera 3D Multi-Object Tracking. </a:t>
            </a:r>
            <a:r>
              <a:rPr sz="1150">
                <a:solidFill>
                  <a:srgbClr val="69728C"/>
                </a:solidFill>
                <a:latin typeface="Calibri"/>
              </a:rPr>
              <a:t>CVPR 2023. arXiv:2302.03802.</a:t>
            </a:r>
          </a:p>
        </p:txBody>
      </p:sp>
      <p:sp>
        <p:nvSpPr>
          <p:cNvPr id="7" name="TextBox 6"/>
          <p:cNvSpPr txBox="1"/>
          <p:nvPr/>
        </p:nvSpPr>
        <p:spPr>
          <a:xfrm>
            <a:off x="640080" y="3026664"/>
            <a:ext cx="10911535" cy="621792"/>
          </a:xfrm>
          <a:prstGeom prst="rect">
            <a:avLst/>
          </a:prstGeom>
          <a:noFill/>
        </p:spPr>
        <p:txBody>
          <a:bodyPr wrap="square">
            <a:spAutoFit/>
          </a:bodyPr>
          <a:lstStyle/>
          <a:p>
            <a:r>
              <a:rPr sz="1150">
                <a:solidFill>
                  <a:srgbClr val="2E3348"/>
                </a:solidFill>
                <a:latin typeface="Calibri"/>
              </a:rPr>
              <a:t>Anwar, N., Bilodeau, G.-A., &amp; Bouachir, W. (2024). </a:t>
            </a:r>
            <a:r>
              <a:rPr sz="1150" i="1">
                <a:solidFill>
                  <a:srgbClr val="12173A"/>
                </a:solidFill>
                <a:latin typeface="Calibri"/>
              </a:rPr>
              <a:t>STF: Spatio-Temporal Fusion Module for Improving Video Object Detection. </a:t>
            </a:r>
            <a:r>
              <a:rPr sz="1150">
                <a:solidFill>
                  <a:srgbClr val="69728C"/>
                </a:solidFill>
                <a:latin typeface="Calibri"/>
              </a:rPr>
              <a:t>arXiv:2402.10752.</a:t>
            </a:r>
          </a:p>
        </p:txBody>
      </p:sp>
      <p:sp>
        <p:nvSpPr>
          <p:cNvPr id="8" name="TextBox 7"/>
          <p:cNvSpPr txBox="1"/>
          <p:nvPr/>
        </p:nvSpPr>
        <p:spPr>
          <a:xfrm>
            <a:off x="640080" y="3648456"/>
            <a:ext cx="10911535" cy="621792"/>
          </a:xfrm>
          <a:prstGeom prst="rect">
            <a:avLst/>
          </a:prstGeom>
          <a:noFill/>
        </p:spPr>
        <p:txBody>
          <a:bodyPr wrap="square">
            <a:spAutoFit/>
          </a:bodyPr>
          <a:lstStyle/>
          <a:p>
            <a:r>
              <a:rPr sz="1150">
                <a:solidFill>
                  <a:srgbClr val="2E3348"/>
                </a:solidFill>
                <a:latin typeface="Calibri"/>
              </a:rPr>
              <a:t>Cai, J., Xu, M., Li, W., Xiong, Y., Xia, W., Tu, Z., &amp; Soatto, S. (2022). </a:t>
            </a:r>
            <a:r>
              <a:rPr sz="1150" i="1">
                <a:solidFill>
                  <a:srgbClr val="12173A"/>
                </a:solidFill>
                <a:latin typeface="Calibri"/>
              </a:rPr>
              <a:t>MeMOT: Multi-Object Tracking with Memory. </a:t>
            </a:r>
            <a:r>
              <a:rPr sz="1150">
                <a:solidFill>
                  <a:srgbClr val="69728C"/>
                </a:solidFill>
                <a:latin typeface="Calibri"/>
              </a:rPr>
              <a:t>CVPR 2022, pp. 8080-8090.</a:t>
            </a:r>
          </a:p>
        </p:txBody>
      </p:sp>
      <p:sp>
        <p:nvSpPr>
          <p:cNvPr id="9" name="TextBox 8"/>
          <p:cNvSpPr txBox="1"/>
          <p:nvPr/>
        </p:nvSpPr>
        <p:spPr>
          <a:xfrm>
            <a:off x="640080" y="4270248"/>
            <a:ext cx="10911535" cy="621792"/>
          </a:xfrm>
          <a:prstGeom prst="rect">
            <a:avLst/>
          </a:prstGeom>
          <a:noFill/>
        </p:spPr>
        <p:txBody>
          <a:bodyPr wrap="square">
            <a:spAutoFit/>
          </a:bodyPr>
          <a:lstStyle/>
          <a:p>
            <a:r>
              <a:rPr sz="1150">
                <a:solidFill>
                  <a:srgbClr val="2E3348"/>
                </a:solidFill>
                <a:latin typeface="Calibri"/>
              </a:rPr>
              <a:t>Tokmakov, P., Li, J., Burgard, W., &amp; Gaidon, A. (2021). </a:t>
            </a:r>
            <a:r>
              <a:rPr sz="1150" i="1">
                <a:solidFill>
                  <a:srgbClr val="12173A"/>
                </a:solidFill>
                <a:latin typeface="Calibri"/>
              </a:rPr>
              <a:t>Learning to Track with Object Permanence. </a:t>
            </a:r>
            <a:r>
              <a:rPr sz="1150">
                <a:solidFill>
                  <a:srgbClr val="69728C"/>
                </a:solidFill>
                <a:latin typeface="Calibri"/>
              </a:rPr>
              <a:t>ICCV 2021.</a:t>
            </a:r>
          </a:p>
        </p:txBody>
      </p:sp>
      <p:sp>
        <p:nvSpPr>
          <p:cNvPr id="10" name="TextBox 9"/>
          <p:cNvSpPr txBox="1"/>
          <p:nvPr/>
        </p:nvSpPr>
        <p:spPr>
          <a:xfrm>
            <a:off x="640080" y="4892040"/>
            <a:ext cx="10911535" cy="621792"/>
          </a:xfrm>
          <a:prstGeom prst="rect">
            <a:avLst/>
          </a:prstGeom>
          <a:noFill/>
        </p:spPr>
        <p:txBody>
          <a:bodyPr wrap="square">
            <a:spAutoFit/>
          </a:bodyPr>
          <a:lstStyle/>
          <a:p>
            <a:r>
              <a:rPr sz="1150">
                <a:solidFill>
                  <a:srgbClr val="2E3348"/>
                </a:solidFill>
                <a:latin typeface="Calibri"/>
              </a:rPr>
              <a:t>Geiger, A., Lenz, P., &amp; Urtasun, R. (2012). </a:t>
            </a:r>
            <a:r>
              <a:rPr sz="1150" i="1">
                <a:solidFill>
                  <a:srgbClr val="12173A"/>
                </a:solidFill>
                <a:latin typeface="Calibri"/>
              </a:rPr>
              <a:t>Are We Ready for Autonomous Driving? The KITTI Vision Benchmark Suite. </a:t>
            </a:r>
            <a:r>
              <a:rPr sz="1150">
                <a:solidFill>
                  <a:srgbClr val="69728C"/>
                </a:solidFill>
                <a:latin typeface="Calibri"/>
              </a:rPr>
              <a:t>CVPR 2012, pp. 3354-3361.</a:t>
            </a:r>
          </a:p>
        </p:txBody>
      </p:sp>
      <p:sp>
        <p:nvSpPr>
          <p:cNvPr id="11" name="TextBox 10"/>
          <p:cNvSpPr txBox="1"/>
          <p:nvPr/>
        </p:nvSpPr>
        <p:spPr>
          <a:xfrm>
            <a:off x="640080" y="5513832"/>
            <a:ext cx="10911535" cy="621792"/>
          </a:xfrm>
          <a:prstGeom prst="rect">
            <a:avLst/>
          </a:prstGeom>
          <a:noFill/>
        </p:spPr>
        <p:txBody>
          <a:bodyPr wrap="square">
            <a:spAutoFit/>
          </a:bodyPr>
          <a:lstStyle/>
          <a:p>
            <a:r>
              <a:rPr sz="1150">
                <a:solidFill>
                  <a:srgbClr val="2E3348"/>
                </a:solidFill>
                <a:latin typeface="Calibri"/>
              </a:rPr>
              <a:t>Iftikhar, S., Zhang, Z., Asim, M., Muthanna, A., Koucheryavy, A., &amp; Abd El-Latif, A. A. (2022). </a:t>
            </a:r>
            <a:r>
              <a:rPr sz="1150" i="1">
                <a:solidFill>
                  <a:srgbClr val="12173A"/>
                </a:solidFill>
                <a:latin typeface="Calibri"/>
              </a:rPr>
              <a:t>Deep Learning-Based Pedestrian Detection in Autonomous Vehicles: Substantial Issues and Challenges. </a:t>
            </a:r>
            <a:r>
              <a:rPr sz="1150">
                <a:solidFill>
                  <a:srgbClr val="69728C"/>
                </a:solidFill>
                <a:latin typeface="Calibri"/>
              </a:rPr>
              <a:t>Electronics, 11(21), 3551.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2173A"/>
        </a:solidFill>
        <a:effectLst/>
      </p:bgPr>
    </p:bg>
    <p:spTree>
      <p:nvGrpSpPr>
        <p:cNvPr id="1" name="">
          <a:extLst>
            <a:ext uri="{FF2B5EF4-FFF2-40B4-BE49-F238E27FC236}">
              <a16:creationId xmlns:a16="http://schemas.microsoft.com/office/drawing/2014/main" id="{AED06139-3367-CC57-2CDC-A4A3C8EAD11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4036BED-CA42-1A8A-C818-43BB6F2F0601}"/>
              </a:ext>
            </a:extLst>
          </p:cNvPr>
          <p:cNvSpPr txBox="1"/>
          <p:nvPr/>
        </p:nvSpPr>
        <p:spPr>
          <a:xfrm>
            <a:off x="779526" y="3152001"/>
            <a:ext cx="10629900" cy="553998"/>
          </a:xfrm>
          <a:prstGeom prst="rect">
            <a:avLst/>
          </a:prstGeom>
          <a:noFill/>
        </p:spPr>
        <p:txBody>
          <a:bodyPr wrap="square">
            <a:spAutoFit/>
          </a:bodyPr>
          <a:lstStyle/>
          <a:p>
            <a:pPr algn="ctr"/>
            <a:r>
              <a:rPr lang="en-GB" sz="3000" b="1" i="0" dirty="0">
                <a:solidFill>
                  <a:srgbClr val="FFFFFF"/>
                </a:solidFill>
                <a:latin typeface="Cambria"/>
              </a:rPr>
              <a:t>Thank you!</a:t>
            </a:r>
            <a:endParaRPr sz="3000" b="1" i="0" dirty="0">
              <a:solidFill>
                <a:srgbClr val="FFFFFF"/>
              </a:solidFill>
              <a:latin typeface="Cambria"/>
            </a:endParaRPr>
          </a:p>
        </p:txBody>
      </p:sp>
      <p:sp>
        <p:nvSpPr>
          <p:cNvPr id="14" name="Rectangle 13">
            <a:extLst>
              <a:ext uri="{FF2B5EF4-FFF2-40B4-BE49-F238E27FC236}">
                <a16:creationId xmlns:a16="http://schemas.microsoft.com/office/drawing/2014/main" id="{89D4229F-B59F-17E7-FA2B-93B59AA57F0B}"/>
              </a:ext>
            </a:extLst>
          </p:cNvPr>
          <p:cNvSpPr/>
          <p:nvPr/>
        </p:nvSpPr>
        <p:spPr>
          <a:xfrm>
            <a:off x="4265676" y="3806190"/>
            <a:ext cx="3657600" cy="19050"/>
          </a:xfrm>
          <a:prstGeom prst="rect">
            <a:avLst/>
          </a:prstGeom>
          <a:solidFill>
            <a:srgbClr val="FFA63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C8887F18-0E08-9A4C-263C-FE8633C85281}"/>
              </a:ext>
            </a:extLst>
          </p:cNvPr>
          <p:cNvSpPr txBox="1"/>
          <p:nvPr/>
        </p:nvSpPr>
        <p:spPr>
          <a:xfrm>
            <a:off x="1463040" y="3825240"/>
            <a:ext cx="9262872" cy="384721"/>
          </a:xfrm>
          <a:prstGeom prst="rect">
            <a:avLst/>
          </a:prstGeom>
          <a:noFill/>
        </p:spPr>
        <p:txBody>
          <a:bodyPr wrap="square">
            <a:spAutoFit/>
          </a:bodyPr>
          <a:lstStyle/>
          <a:p>
            <a:pPr algn="ctr"/>
            <a:r>
              <a:rPr lang="en-GB" sz="1900" b="1" dirty="0">
                <a:solidFill>
                  <a:srgbClr val="FFA630"/>
                </a:solidFill>
                <a:latin typeface="Cambria"/>
              </a:rPr>
              <a:t>Q</a:t>
            </a:r>
            <a:r>
              <a:rPr sz="1900" b="1" i="0" dirty="0" err="1">
                <a:solidFill>
                  <a:srgbClr val="FFA630"/>
                </a:solidFill>
                <a:latin typeface="Cambria"/>
              </a:rPr>
              <a:t>uestions</a:t>
            </a:r>
            <a:r>
              <a:rPr lang="en-GB" sz="1900" b="1" i="0" dirty="0">
                <a:solidFill>
                  <a:srgbClr val="FFA630"/>
                </a:solidFill>
                <a:latin typeface="Cambria"/>
              </a:rPr>
              <a:t>?</a:t>
            </a:r>
          </a:p>
        </p:txBody>
      </p:sp>
    </p:spTree>
    <p:extLst>
      <p:ext uri="{BB962C8B-B14F-4D97-AF65-F5344CB8AC3E}">
        <p14:creationId xmlns:p14="http://schemas.microsoft.com/office/powerpoint/2010/main" val="36306022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1243</TotalTime>
  <Words>2956</Words>
  <Application>Microsoft Office PowerPoint</Application>
  <PresentationFormat>Widescreen</PresentationFormat>
  <Paragraphs>209</Paragraphs>
  <Slides>17</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Basfar, Tamara Hussam A</cp:lastModifiedBy>
  <cp:revision>4</cp:revision>
  <dcterms:created xsi:type="dcterms:W3CDTF">2013-01-27T09:14:16Z</dcterms:created>
  <dcterms:modified xsi:type="dcterms:W3CDTF">2026-08-03T07:31:14Z</dcterms:modified>
  <cp:category/>
</cp:coreProperties>
</file>