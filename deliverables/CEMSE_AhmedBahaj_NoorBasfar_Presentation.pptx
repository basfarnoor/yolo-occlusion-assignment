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82" r:id="rId6"/>
    <p:sldId id="283" r:id="rId7"/>
    <p:sldId id="284" r:id="rId8"/>
    <p:sldId id="285" r:id="rId9"/>
    <p:sldId id="286" r:id="rId10"/>
    <p:sldId id="281" r:id="rId11"/>
    <p:sldId id="287" r:id="rId12"/>
    <p:sldId id="260" r:id="rId13"/>
    <p:sldId id="261" r:id="rId14"/>
    <p:sldId id="290" r:id="rId15"/>
    <p:sldId id="288" r:id="rId16"/>
    <p:sldId id="262" r:id="rId17"/>
    <p:sldId id="263" r:id="rId18"/>
    <p:sldId id="289" r:id="rId19"/>
    <p:sldId id="264" r:id="rId20"/>
    <p:sldId id="265" r:id="rId21"/>
    <p:sldId id="26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8"/>
  </p:normalViewPr>
  <p:slideViewPr>
    <p:cSldViewPr snapToGrid="0" snapToObjects="1">
      <p:cViewPr varScale="1">
        <p:scale>
          <a:sx n="132" d="100"/>
          <a:sy n="132" d="100"/>
        </p:scale>
        <p:origin x="320"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50" b="1">
                <a:solidFill>
                  <a:srgbClr val="12173A"/>
                </a:solidFill>
              </a:rPr>
              <a:t>Detection rate by stage</a:t>
            </a:r>
          </a:p>
        </c:rich>
      </c:tx>
      <c:overlay val="0"/>
    </c:title>
    <c:autoTitleDeleted val="0"/>
    <c:plotArea>
      <c:layout/>
      <c:barChart>
        <c:barDir val="col"/>
        <c:grouping val="clustered"/>
        <c:varyColors val="1"/>
        <c:ser>
          <c:idx val="0"/>
          <c:order val="0"/>
          <c:tx>
            <c:strRef>
              <c:f>Sheet1!$B$1</c:f>
              <c:strCache>
                <c:ptCount val="1"/>
                <c:pt idx="0">
                  <c:v>Detection rate</c:v>
                </c:pt>
              </c:strCache>
            </c:strRef>
          </c:tx>
          <c:spPr>
            <a:solidFill>
              <a:srgbClr val="1E2761"/>
            </a:solidFill>
          </c:spPr>
          <c:invertIfNegative val="1"/>
          <c:dLbls>
            <c:numFmt formatCode="0%" sourceLinked="0"/>
            <c:spPr>
              <a:noFill/>
              <a:ln>
                <a:noFill/>
              </a:ln>
              <a:effectLst/>
            </c:spPr>
            <c:txPr>
              <a:bodyPr/>
              <a:lstStyle/>
              <a:p>
                <a:pPr>
                  <a:defRPr sz="1250" b="1">
                    <a:solidFill>
                      <a:srgbClr val="12173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
Occlusion</c:v>
                </c:pt>
                <c:pt idx="1">
                  <c:v>First Partial
Occlusion</c:v>
                </c:pt>
                <c:pt idx="2">
                  <c:v>Full
Occlusion</c:v>
                </c:pt>
                <c:pt idx="3">
                  <c:v>First Partial
Appearance</c:v>
                </c:pt>
                <c:pt idx="4">
                  <c:v>Full
Appearance</c:v>
                </c:pt>
              </c:strCache>
            </c:strRef>
          </c:cat>
          <c:val>
            <c:numRef>
              <c:f>Sheet1!$B$2:$B$6</c:f>
              <c:numCache>
                <c:formatCode>General</c:formatCode>
                <c:ptCount val="5"/>
                <c:pt idx="0">
                  <c:v>1</c:v>
                </c:pt>
                <c:pt idx="1">
                  <c:v>1</c:v>
                </c:pt>
                <c:pt idx="2">
                  <c:v>0.125</c:v>
                </c:pt>
                <c:pt idx="3">
                  <c:v>0.5</c:v>
                </c:pt>
                <c:pt idx="4">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552-4E68-A8CF-E42B63AD37F8}"/>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E2F0"/>
            </a:solidFill>
          </a:ln>
        </c:spPr>
        <c:txPr>
          <a:bodyPr/>
          <a:lstStyle/>
          <a:p>
            <a:pPr>
              <a:defRPr sz="1150">
                <a:solidFill>
                  <a:srgbClr val="2E3348"/>
                </a:solidFill>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50" b="1">
                <a:solidFill>
                  <a:srgbClr val="12173A"/>
                </a:solidFill>
              </a:rPr>
              <a:t>Mean confidence by stage (0 = undetected)</a:t>
            </a:r>
          </a:p>
        </c:rich>
      </c:tx>
      <c:overlay val="0"/>
    </c:title>
    <c:autoTitleDeleted val="0"/>
    <c:plotArea>
      <c:layout/>
      <c:barChart>
        <c:barDir val="col"/>
        <c:grouping val="clustered"/>
        <c:varyColors val="1"/>
        <c:ser>
          <c:idx val="0"/>
          <c:order val="0"/>
          <c:tx>
            <c:strRef>
              <c:f>Sheet1!$B$1</c:f>
              <c:strCache>
                <c:ptCount val="1"/>
                <c:pt idx="0">
                  <c:v>Mean confidence</c:v>
                </c:pt>
              </c:strCache>
            </c:strRef>
          </c:tx>
          <c:spPr>
            <a:solidFill>
              <a:srgbClr val="FFA630"/>
            </a:solidFill>
          </c:spPr>
          <c:invertIfNegative val="1"/>
          <c:dLbls>
            <c:numFmt formatCode="0.00" sourceLinked="0"/>
            <c:spPr>
              <a:noFill/>
              <a:ln>
                <a:noFill/>
              </a:ln>
              <a:effectLst/>
            </c:spPr>
            <c:txPr>
              <a:bodyPr/>
              <a:lstStyle/>
              <a:p>
                <a:pPr>
                  <a:defRPr sz="1250" b="1">
                    <a:solidFill>
                      <a:srgbClr val="12173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
Occlusion</c:v>
                </c:pt>
                <c:pt idx="1">
                  <c:v>First Partial
Occlusion</c:v>
                </c:pt>
                <c:pt idx="2">
                  <c:v>Full
Occlusion</c:v>
                </c:pt>
                <c:pt idx="3">
                  <c:v>First Partial
Appearance</c:v>
                </c:pt>
                <c:pt idx="4">
                  <c:v>Full
Appearance</c:v>
                </c:pt>
              </c:strCache>
            </c:strRef>
          </c:cat>
          <c:val>
            <c:numRef>
              <c:f>Sheet1!$B$2:$B$6</c:f>
              <c:numCache>
                <c:formatCode>General</c:formatCode>
                <c:ptCount val="5"/>
                <c:pt idx="0">
                  <c:v>0.77400000000000002</c:v>
                </c:pt>
                <c:pt idx="1">
                  <c:v>0.58699999999999997</c:v>
                </c:pt>
                <c:pt idx="2">
                  <c:v>2.9000000000000001E-2</c:v>
                </c:pt>
                <c:pt idx="3">
                  <c:v>0.42499999999999999</c:v>
                </c:pt>
                <c:pt idx="4">
                  <c:v>0.84499999999999997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5F0-4CB3-BD03-6E770DBB5F9B}"/>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E2F0"/>
            </a:solidFill>
          </a:ln>
        </c:spPr>
        <c:txPr>
          <a:bodyPr/>
          <a:lstStyle/>
          <a:p>
            <a:pPr>
              <a:defRPr sz="1150">
                <a:solidFill>
                  <a:srgbClr val="2E3348"/>
                </a:solidFill>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50" b="1">
                <a:solidFill>
                  <a:srgbClr val="12173A"/>
                </a:solidFill>
              </a:rPr>
              <a:t>Center error by gap length (px)</a:t>
            </a:r>
          </a:p>
        </c:rich>
      </c:tx>
      <c:overlay val="0"/>
    </c:title>
    <c:autoTitleDeleted val="0"/>
    <c:plotArea>
      <c:layout/>
      <c:barChart>
        <c:barDir val="col"/>
        <c:grouping val="clustered"/>
        <c:varyColors val="1"/>
        <c:ser>
          <c:idx val="0"/>
          <c:order val="0"/>
          <c:tx>
            <c:strRef>
              <c:f>Sheet1!$B$1</c:f>
              <c:strCache>
                <c:ptCount val="1"/>
                <c:pt idx="0">
                  <c:v>Static memory</c:v>
                </c:pt>
              </c:strCache>
            </c:strRef>
          </c:tx>
          <c:spPr>
            <a:solidFill>
              <a:srgbClr val="69728C"/>
            </a:solidFill>
          </c:spPr>
          <c:invertIfNegative val="1"/>
          <c:cat>
            <c:strRef>
              <c:f>Sheet1!$A$2:$A$7</c:f>
              <c:strCache>
                <c:ptCount val="6"/>
                <c:pt idx="0">
                  <c:v>1</c:v>
                </c:pt>
                <c:pt idx="1">
                  <c:v>2</c:v>
                </c:pt>
                <c:pt idx="2">
                  <c:v>3</c:v>
                </c:pt>
                <c:pt idx="3">
                  <c:v>5</c:v>
                </c:pt>
                <c:pt idx="4">
                  <c:v>8</c:v>
                </c:pt>
                <c:pt idx="5">
                  <c:v>10</c:v>
                </c:pt>
              </c:strCache>
            </c:strRef>
          </c:cat>
          <c:val>
            <c:numRef>
              <c:f>Sheet1!$B$2:$B$7</c:f>
              <c:numCache>
                <c:formatCode>General</c:formatCode>
                <c:ptCount val="6"/>
                <c:pt idx="0">
                  <c:v>12.778</c:v>
                </c:pt>
                <c:pt idx="1">
                  <c:v>16.152000000000001</c:v>
                </c:pt>
                <c:pt idx="2">
                  <c:v>22.286000000000001</c:v>
                </c:pt>
                <c:pt idx="3">
                  <c:v>34.21</c:v>
                </c:pt>
                <c:pt idx="4">
                  <c:v>51.616</c:v>
                </c:pt>
                <c:pt idx="5">
                  <c:v>64.484999999999999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9AF-4218-8836-6A2C76606210}"/>
            </c:ext>
          </c:extLst>
        </c:ser>
        <c:ser>
          <c:idx val="1"/>
          <c:order val="1"/>
          <c:tx>
            <c:strRef>
              <c:f>Sheet1!$C$1</c:f>
              <c:strCache>
                <c:ptCount val="1"/>
                <c:pt idx="0">
                  <c:v>SORT motion</c:v>
                </c:pt>
              </c:strCache>
            </c:strRef>
          </c:tx>
          <c:spPr>
            <a:solidFill>
              <a:srgbClr val="FFA630"/>
            </a:solidFill>
          </c:spPr>
          <c:invertIfNegative val="1"/>
          <c:cat>
            <c:strRef>
              <c:f>Sheet1!$A$2:$A$7</c:f>
              <c:strCache>
                <c:ptCount val="6"/>
                <c:pt idx="0">
                  <c:v>1</c:v>
                </c:pt>
                <c:pt idx="1">
                  <c:v>2</c:v>
                </c:pt>
                <c:pt idx="2">
                  <c:v>3</c:v>
                </c:pt>
                <c:pt idx="3">
                  <c:v>5</c:v>
                </c:pt>
                <c:pt idx="4">
                  <c:v>8</c:v>
                </c:pt>
                <c:pt idx="5">
                  <c:v>10</c:v>
                </c:pt>
              </c:strCache>
            </c:strRef>
          </c:cat>
          <c:val>
            <c:numRef>
              <c:f>Sheet1!$C$2:$C$7</c:f>
              <c:numCache>
                <c:formatCode>General</c:formatCode>
                <c:ptCount val="6"/>
                <c:pt idx="0">
                  <c:v>3.472</c:v>
                </c:pt>
                <c:pt idx="1">
                  <c:v>3.3</c:v>
                </c:pt>
                <c:pt idx="2">
                  <c:v>4.5880000000000001</c:v>
                </c:pt>
                <c:pt idx="3">
                  <c:v>6.5030000000000001</c:v>
                </c:pt>
                <c:pt idx="4">
                  <c:v>14.295</c:v>
                </c:pt>
                <c:pt idx="5">
                  <c:v>31.329000000000001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9AF-4218-8836-6A2C76606210}"/>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E2F0"/>
            </a:solidFill>
          </a:ln>
        </c:spPr>
        <c:txPr>
          <a:bodyPr/>
          <a:lstStyle/>
          <a:p>
            <a:pPr>
              <a:defRPr sz="1050">
                <a:solidFill>
                  <a:srgbClr val="2E3348"/>
                </a:solidFill>
              </a:defRPr>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txPr>
          <a:bodyPr/>
          <a:lstStyle/>
          <a:p>
            <a:pPr>
              <a:defRPr sz="950"/>
            </a:pPr>
            <a:endParaRPr lang="en-US"/>
          </a:p>
        </c:txPr>
        <c:crossAx val="-2068027336"/>
        <c:crosses val="autoZero"/>
        <c:crossBetween val="between"/>
      </c:valAx>
    </c:plotArea>
    <c:legend>
      <c:legendPos val="b"/>
      <c:overlay val="0"/>
      <c:txPr>
        <a:bodyPr/>
        <a:lstStyle/>
        <a:p>
          <a:pPr>
            <a:defRPr sz="1050"/>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50" b="1">
                <a:solidFill>
                  <a:srgbClr val="12173A"/>
                </a:solidFill>
              </a:rPr>
              <a:t>Mean IoU by gap length</a:t>
            </a:r>
          </a:p>
        </c:rich>
      </c:tx>
      <c:overlay val="0"/>
    </c:title>
    <c:autoTitleDeleted val="0"/>
    <c:plotArea>
      <c:layout/>
      <c:barChart>
        <c:barDir val="col"/>
        <c:grouping val="clustered"/>
        <c:varyColors val="1"/>
        <c:ser>
          <c:idx val="0"/>
          <c:order val="0"/>
          <c:tx>
            <c:strRef>
              <c:f>Sheet1!$B$1</c:f>
              <c:strCache>
                <c:ptCount val="1"/>
                <c:pt idx="0">
                  <c:v>Static memory</c:v>
                </c:pt>
              </c:strCache>
            </c:strRef>
          </c:tx>
          <c:spPr>
            <a:solidFill>
              <a:srgbClr val="69728C"/>
            </a:solidFill>
          </c:spPr>
          <c:invertIfNegative val="1"/>
          <c:cat>
            <c:strRef>
              <c:f>Sheet1!$A$2:$A$7</c:f>
              <c:strCache>
                <c:ptCount val="6"/>
                <c:pt idx="0">
                  <c:v>1</c:v>
                </c:pt>
                <c:pt idx="1">
                  <c:v>2</c:v>
                </c:pt>
                <c:pt idx="2">
                  <c:v>3</c:v>
                </c:pt>
                <c:pt idx="3">
                  <c:v>5</c:v>
                </c:pt>
                <c:pt idx="4">
                  <c:v>8</c:v>
                </c:pt>
                <c:pt idx="5">
                  <c:v>10</c:v>
                </c:pt>
              </c:strCache>
            </c:strRef>
          </c:cat>
          <c:val>
            <c:numRef>
              <c:f>Sheet1!$B$2:$B$7</c:f>
              <c:numCache>
                <c:formatCode>General</c:formatCode>
                <c:ptCount val="6"/>
                <c:pt idx="0">
                  <c:v>0.88700000000000001</c:v>
                </c:pt>
                <c:pt idx="1">
                  <c:v>0.86</c:v>
                </c:pt>
                <c:pt idx="2">
                  <c:v>0.81699999999999995</c:v>
                </c:pt>
                <c:pt idx="3">
                  <c:v>0.73699999999999999</c:v>
                </c:pt>
                <c:pt idx="4">
                  <c:v>0.628</c:v>
                </c:pt>
                <c:pt idx="5">
                  <c:v>0.57499999999999996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2C3-4D31-879B-C11B8300A7F5}"/>
            </c:ext>
          </c:extLst>
        </c:ser>
        <c:ser>
          <c:idx val="1"/>
          <c:order val="1"/>
          <c:tx>
            <c:strRef>
              <c:f>Sheet1!$C$1</c:f>
              <c:strCache>
                <c:ptCount val="1"/>
                <c:pt idx="0">
                  <c:v>SORT motion</c:v>
                </c:pt>
              </c:strCache>
            </c:strRef>
          </c:tx>
          <c:spPr>
            <a:solidFill>
              <a:srgbClr val="FFA630"/>
            </a:solidFill>
          </c:spPr>
          <c:invertIfNegative val="1"/>
          <c:cat>
            <c:strRef>
              <c:f>Sheet1!$A$2:$A$7</c:f>
              <c:strCache>
                <c:ptCount val="6"/>
                <c:pt idx="0">
                  <c:v>1</c:v>
                </c:pt>
                <c:pt idx="1">
                  <c:v>2</c:v>
                </c:pt>
                <c:pt idx="2">
                  <c:v>3</c:v>
                </c:pt>
                <c:pt idx="3">
                  <c:v>5</c:v>
                </c:pt>
                <c:pt idx="4">
                  <c:v>8</c:v>
                </c:pt>
                <c:pt idx="5">
                  <c:v>10</c:v>
                </c:pt>
              </c:strCache>
            </c:strRef>
          </c:cat>
          <c:val>
            <c:numRef>
              <c:f>Sheet1!$C$2:$C$7</c:f>
              <c:numCache>
                <c:formatCode>General</c:formatCode>
                <c:ptCount val="6"/>
                <c:pt idx="0">
                  <c:v>0.92100000000000004</c:v>
                </c:pt>
                <c:pt idx="1">
                  <c:v>0.90500000000000003</c:v>
                </c:pt>
                <c:pt idx="2">
                  <c:v>0.88200000000000001</c:v>
                </c:pt>
                <c:pt idx="3">
                  <c:v>0.83799999999999997</c:v>
                </c:pt>
                <c:pt idx="4">
                  <c:v>0.70199999999999996</c:v>
                </c:pt>
                <c:pt idx="5">
                  <c:v>0.56999999999999995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2C3-4D31-879B-C11B8300A7F5}"/>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E2F0"/>
            </a:solidFill>
          </a:ln>
        </c:spPr>
        <c:txPr>
          <a:bodyPr/>
          <a:lstStyle/>
          <a:p>
            <a:pPr>
              <a:defRPr sz="1050">
                <a:solidFill>
                  <a:srgbClr val="2E3348"/>
                </a:solidFill>
              </a:defRPr>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txPr>
          <a:bodyPr/>
          <a:lstStyle/>
          <a:p>
            <a:pPr>
              <a:defRPr sz="950"/>
            </a:pPr>
            <a:endParaRPr lang="en-US"/>
          </a:p>
        </c:txPr>
        <c:crossAx val="-2068027336"/>
        <c:crosses val="autoZero"/>
        <c:crossBetween val="between"/>
      </c:valAx>
    </c:plotArea>
    <c:legend>
      <c:legendPos val="b"/>
      <c:overlay val="0"/>
      <c:txPr>
        <a:bodyPr/>
        <a:lstStyle/>
        <a:p>
          <a:pPr>
            <a:defRPr sz="1050"/>
          </a:pPr>
          <a:endParaRPr lang="en-US"/>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913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updated, implemented method - not a design proposal anymore. OATM now means relational target-occluder memory, and it has been built and evaluated against two ByteTrack baselines on nuScenes mini. Everything in this deck traces to run lidar-fixes-20260805.</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Anchor the whole talk on this one real sequence. Point at the boxes: the green car is what we want to follow, the orange truck is what hides it, and the dashed box is where the car actually is while the camera cannot see it. The car never disappeared - only the view of it did. That distinction is the entire project.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dataset scope as the earlier assignment work: nuScenes-mini, CAM_FRONT only, online. LiDAR and 3D annotations only ever come back offline, during evaluation - that boundary is explained explicitly two slides from now.</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the question plainly. The hypothesis is specific: persistence should be *conditional* on evidence, not a fixed timer applied to every missing object equally.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9920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setup: a plain, off-the-shelf YOLO detector, no memory at all. Point at the photo - that's the actual failure, a real frame where the detector produced zero boxes for the hidden target, not a simulated one. Detection rate stays perfect through partial occlusion then falls off a cliff at full occlusion. Confidence erodes before detection technically fails, and recovers once visible again.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460285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naive fix: just freeze the last box while the target is hidden. Orange is the frozen memory box, green is the real detection once the object reappears. Best case they nearly line up; worst case the frozen box is nowhere near the real car. Not cherry-picked - all 5 valid samples follow the same pattern, mean error 331px, 3 of 5 with zero overlap at all.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77066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Motion prediction beats a frozen box clearly - 46px down to 17px, IoU up from 0.673 to 0.720. But say the catch out loud: almost the whole win comes from 2 of 9 tracks, the reference boxes aren't fully independent, and long gaps bypass the tracker's own expiry rule. A real result, not yet a fully validated one.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90150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8114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pivot of the whole talk. First state the diagnosis: naive memory fails because it ignores motion, and even real motion prediction (as just shown) only helps partially. Then name the gap in every existing lightweight method - none of them combine occlusion-causality reasoning, motion prediction, and confidence decay. That's the bridge into the OATM design on the next slide.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756452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ideas, and the bold line on each card is the one to say out loud - the small italic line underneath is the formal name if an examiner wants it. The thread through all four: OATM never guesses forever. Every part of it has a stopping condition tied to something the camera can actually see.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real pipeline diagram from the implementation, not a mockup. Walk left to right: detections, standard ByteTrack rounds, then - only for a mature target that's still unmatched - camera-motion estimation, the target-occluder relation graph, clearance prediction, and finally a protected reappearance stage that decides whether to restore the identity or terminate it. Every box before 'Output' is invisible to the final saved result unless the target was genuinely unmatched.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answer to 'how will you actually know OATM is right.' The key move: ground truth comes from LiDAR and the 3D box annotations, not from another camera-derived tracker - so it isn't circular the way the SORT experiment's evaluation was. The front camera is blind during occlusion by design; LiDAR isn't, so it gives an independent check on whether OATM's predicted position is actually correct, not just self-consistent.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243915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answer to 'how do you know OATM is right, and isn't LiDAR cheating.' Two completely separate worlds: online, the tracker only ever sees camera frames and its own history. Offline, after the tracker has already saved its output, the evaluator brings in projected 3D annotations and visibility labels to grade it - by class-aware Hungarian matching at IoU 0.30 - and only then computes precision, F1, MOTA, IDF1, and localization error. No feedback ever flows back into the tracker.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headline slide. OATM wins on precision, F1, MOTA, IDF1, identity switches, and localization - all on identical input detections. The stat ribbon covers the two numbers that matter most for the 'why not just increase the buffer' question: OATM is far more precise about when it's genuinely still tracking a hidden object, not just waiting longer.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about hardware/modality trade-offs, not tracking methods -- keep that framing. The one thing to update out loud: OATM's own row used to say 'not yet implemented or measured'; it no longer is. OATM has now been evaluated as a tracking method on a final scene-disjoint nuScenes-mini validation (ten scenes, five held out, 1,873 annotations, run lidar-fixes-20260805) -- see the Results slide next. The sensor-configuration comparison itself is still conceptual -- this slide is about which hardware you'd deploy it on, not whether the method itself works.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97757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numbers, then what they mean together, then the honest limit - in that order. The 7.8% is the one to dwell on: it is the answer to 'why not just wait longer', because waiting longer is exactly what pushes that number up to 25.9%. Name the recall gap yourself before anyone asks, and close on the scoped claim.</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nuScenes is cited first because every number in this deck is measured on it. SORT and ByteTrack are the two methods OATM is built on and compared against. The remaining four are the memory and object-permanence line of work that motivates the gap OATM targets.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questions to have ready: why not just raise ByteTrack's buffer (answer: 393 false predicted-hidden matches at buffer 12, vs OATM's 40), whether this is still camera-only if nuScenes LiDAR was used anywhere (answer: offline evaluation only, never online), and the severe-visibility recall gap (honest weakest point, named directly in Limitations).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1.jpg"/><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p:cNvGrpSpPr/>
        <p:nvPr/>
      </p:nvGrpSpPr>
      <p:grpSpPr>
        <a:xfrm>
          <a:off x="0" y="0"/>
          <a:ext cx="0" cy="0"/>
          <a:chOff x="0" y="0"/>
          <a:chExt cx="0" cy="0"/>
        </a:xfrm>
      </p:grpSpPr>
      <p:pic>
        <p:nvPicPr>
          <p:cNvPr id="2" name="Picture 1" descr="1_previous_no_occlusion.jp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12173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372" y="3200400"/>
            <a:ext cx="12191695" cy="3657600"/>
          </a:xfrm>
          <a:prstGeom prst="rect">
            <a:avLst/>
          </a:prstGeom>
          <a:solidFill>
            <a:srgbClr val="12173A">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89025" y="465174"/>
            <a:ext cx="8229600" cy="320040"/>
          </a:xfrm>
          <a:prstGeom prst="rect">
            <a:avLst/>
          </a:prstGeom>
          <a:noFill/>
        </p:spPr>
        <p:txBody>
          <a:bodyPr wrap="square">
            <a:spAutoFit/>
          </a:bodyPr>
          <a:lstStyle/>
          <a:p>
            <a:pPr algn="l"/>
            <a:r>
              <a:rPr sz="1400" b="1" i="0" dirty="0">
                <a:solidFill>
                  <a:srgbClr val="FFA630"/>
                </a:solidFill>
                <a:latin typeface="Calibri"/>
              </a:rPr>
              <a:t>SRSI RESEARCH PROJECT — FINAL METHOD</a:t>
            </a:r>
          </a:p>
        </p:txBody>
      </p:sp>
      <p:sp>
        <p:nvSpPr>
          <p:cNvPr id="6" name="Rectangle 5"/>
          <p:cNvSpPr/>
          <p:nvPr/>
        </p:nvSpPr>
        <p:spPr>
          <a:xfrm>
            <a:off x="914400" y="3703320"/>
            <a:ext cx="64008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886200"/>
            <a:ext cx="10360152" cy="1005840"/>
          </a:xfrm>
          <a:prstGeom prst="rect">
            <a:avLst/>
          </a:prstGeom>
          <a:noFill/>
        </p:spPr>
        <p:txBody>
          <a:bodyPr wrap="square">
            <a:spAutoFit/>
          </a:bodyPr>
          <a:lstStyle/>
          <a:p>
            <a:pPr algn="l"/>
            <a:r>
              <a:rPr sz="3800" b="1" i="0">
                <a:solidFill>
                  <a:srgbClr val="FFFFFF"/>
                </a:solidFill>
                <a:latin typeface="Cambria"/>
              </a:rPr>
              <a:t>Occlusion-Adaptive Temporal Memory</a:t>
            </a:r>
          </a:p>
        </p:txBody>
      </p:sp>
      <p:sp>
        <p:nvSpPr>
          <p:cNvPr id="8" name="TextBox 7"/>
          <p:cNvSpPr txBox="1"/>
          <p:nvPr/>
        </p:nvSpPr>
        <p:spPr>
          <a:xfrm>
            <a:off x="914400" y="4754880"/>
            <a:ext cx="9811512" cy="640080"/>
          </a:xfrm>
          <a:prstGeom prst="rect">
            <a:avLst/>
          </a:prstGeom>
          <a:noFill/>
        </p:spPr>
        <p:txBody>
          <a:bodyPr wrap="square">
            <a:spAutoFit/>
          </a:bodyPr>
          <a:lstStyle/>
          <a:p>
            <a:pPr algn="l"/>
            <a:r>
              <a:rPr sz="1900" b="0" i="1">
                <a:solidFill>
                  <a:srgbClr val="CADCFC"/>
                </a:solidFill>
                <a:latin typeface="Calibri"/>
              </a:rPr>
              <a:t>Camera-Only Object Persistence Through Temporary Occlusion</a:t>
            </a:r>
          </a:p>
        </p:txBody>
      </p:sp>
      <p:sp>
        <p:nvSpPr>
          <p:cNvPr id="9" name="TextBox 8"/>
          <p:cNvSpPr txBox="1"/>
          <p:nvPr/>
        </p:nvSpPr>
        <p:spPr>
          <a:xfrm>
            <a:off x="944647" y="5308600"/>
            <a:ext cx="9445752" cy="365760"/>
          </a:xfrm>
          <a:prstGeom prst="rect">
            <a:avLst/>
          </a:prstGeom>
          <a:noFill/>
        </p:spPr>
        <p:txBody>
          <a:bodyPr wrap="square">
            <a:spAutoFit/>
          </a:bodyPr>
          <a:lstStyle/>
          <a:p>
            <a:pPr algn="l"/>
            <a:r>
              <a:rPr sz="1500" b="0" i="0">
                <a:solidFill>
                  <a:srgbClr val="CADCFC"/>
                </a:solidFill>
                <a:latin typeface="Calibri"/>
              </a:rPr>
              <a:t>Noor Basfar</a:t>
            </a:r>
          </a:p>
        </p:txBody>
      </p:sp>
      <p:pic>
        <p:nvPicPr>
          <p:cNvPr id="20" name="Picture 19">
            <a:extLst>
              <a:ext uri="{FF2B5EF4-FFF2-40B4-BE49-F238E27FC236}">
                <a16:creationId xmlns:a16="http://schemas.microsoft.com/office/drawing/2014/main" id="{45417590-3F99-8784-EB23-06FFFCC8C66A}"/>
              </a:ext>
            </a:extLst>
          </p:cNvPr>
          <p:cNvPicPr>
            <a:picLocks noChangeAspect="1"/>
          </p:cNvPicPr>
          <p:nvPr/>
        </p:nvPicPr>
        <p:blipFill>
          <a:blip r:embed="rId4"/>
          <a:stretch/>
        </p:blipFill>
        <p:spPr>
          <a:xfrm>
            <a:off x="10725913" y="5788372"/>
            <a:ext cx="1311830" cy="886301"/>
          </a:xfrm>
          <a:prstGeom prst="rect">
            <a:avLst/>
          </a:prstGeom>
        </p:spPr>
      </p:pic>
      <p:pic>
        <p:nvPicPr>
          <p:cNvPr id="24" name="Picture 23">
            <a:extLst>
              <a:ext uri="{FF2B5EF4-FFF2-40B4-BE49-F238E27FC236}">
                <a16:creationId xmlns:a16="http://schemas.microsoft.com/office/drawing/2014/main" id="{13F1E211-1ECB-D001-355A-13481565DE9C}"/>
              </a:ext>
            </a:extLst>
          </p:cNvPr>
          <p:cNvPicPr>
            <a:picLocks noChangeAspect="1"/>
          </p:cNvPicPr>
          <p:nvPr/>
        </p:nvPicPr>
        <p:blipFill>
          <a:blip r:embed="rId5"/>
          <a:stretch/>
        </p:blipFill>
        <p:spPr>
          <a:xfrm>
            <a:off x="295781" y="5760438"/>
            <a:ext cx="1607447" cy="9142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8229600" cy="320040"/>
          </a:xfrm>
          <a:prstGeom prst="rect">
            <a:avLst/>
          </a:prstGeom>
          <a:noFill/>
        </p:spPr>
        <p:txBody>
          <a:bodyPr wrap="square">
            <a:spAutoFit/>
          </a:bodyPr>
          <a:lstStyle/>
          <a:p>
            <a:pPr algn="l"/>
            <a:r>
              <a:rPr sz="1300" b="1" i="0">
                <a:solidFill>
                  <a:srgbClr val="FFA630"/>
                </a:solidFill>
                <a:latin typeface="Calibri"/>
              </a:rPr>
              <a:t>THE PROBLEM</a:t>
            </a:r>
          </a:p>
        </p:txBody>
      </p:sp>
      <p:sp>
        <p:nvSpPr>
          <p:cNvPr id="3" name="TextBox 2"/>
          <p:cNvSpPr txBox="1"/>
          <p:nvPr/>
        </p:nvSpPr>
        <p:spPr>
          <a:xfrm>
            <a:off x="640080" y="841248"/>
            <a:ext cx="10881360" cy="640080"/>
          </a:xfrm>
          <a:prstGeom prst="rect">
            <a:avLst/>
          </a:prstGeom>
          <a:noFill/>
        </p:spPr>
        <p:txBody>
          <a:bodyPr wrap="square">
            <a:spAutoFit/>
          </a:bodyPr>
          <a:lstStyle/>
          <a:p>
            <a:pPr algn="l"/>
            <a:r>
              <a:rPr sz="2600" b="1" i="0">
                <a:solidFill>
                  <a:srgbClr val="12173A"/>
                </a:solidFill>
                <a:latin typeface="Cambria"/>
              </a:rPr>
              <a:t>Cameras Lose Track of Things They Cannot See</a:t>
            </a:r>
          </a:p>
        </p:txBody>
      </p:sp>
      <p:sp>
        <p:nvSpPr>
          <p:cNvPr id="4" name="Rectangle 3"/>
          <p:cNvSpPr/>
          <p:nvPr/>
        </p:nvSpPr>
        <p:spPr>
          <a:xfrm>
            <a:off x="640080" y="148132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9925" y="1585381"/>
            <a:ext cx="10911535" cy="502920"/>
          </a:xfrm>
          <a:prstGeom prst="rect">
            <a:avLst/>
          </a:prstGeom>
          <a:noFill/>
        </p:spPr>
        <p:txBody>
          <a:bodyPr wrap="square">
            <a:spAutoFit/>
          </a:bodyPr>
          <a:lstStyle/>
          <a:p>
            <a:pPr algn="l">
              <a:lnSpc>
                <a:spcPct val="115000"/>
              </a:lnSpc>
            </a:pPr>
            <a:r>
              <a:rPr sz="1400" b="0" i="0" dirty="0">
                <a:solidFill>
                  <a:srgbClr val="2E3348"/>
                </a:solidFill>
                <a:latin typeface="Calibri"/>
              </a:rPr>
              <a:t>A camera only ever looks at the frame in front of it. When one vehicle drives behind another, the detector can miss it completely — and when it comes back into view, treat it as a brand-new vehicle it has never seen before.</a:t>
            </a:r>
          </a:p>
        </p:txBody>
      </p:sp>
      <p:sp>
        <p:nvSpPr>
          <p:cNvPr id="26" name="TextBox 25"/>
          <p:cNvSpPr txBox="1"/>
          <p:nvPr/>
        </p:nvSpPr>
        <p:spPr>
          <a:xfrm>
            <a:off x="640080" y="5312092"/>
            <a:ext cx="10911535" cy="457200"/>
          </a:xfrm>
          <a:prstGeom prst="rect">
            <a:avLst/>
          </a:prstGeom>
          <a:noFill/>
        </p:spPr>
        <p:txBody>
          <a:bodyPr wrap="square">
            <a:spAutoFit/>
          </a:bodyPr>
          <a:lstStyle/>
          <a:p>
            <a:pPr algn="l">
              <a:lnSpc>
                <a:spcPct val="115000"/>
              </a:lnSpc>
            </a:pPr>
            <a:r>
              <a:rPr sz="1400" b="0" i="0">
                <a:solidFill>
                  <a:srgbClr val="2E3348"/>
                </a:solidFill>
                <a:latin typeface="Calibri"/>
              </a:rPr>
              <a:t>The car never went anywhere. Only the camera's view of it did — and that is the difference the tracker has to work out on its own.</a:t>
            </a:r>
          </a:p>
        </p:txBody>
      </p:sp>
      <p:sp>
        <p:nvSpPr>
          <p:cNvPr id="27" name="TextBox 26"/>
          <p:cNvSpPr txBox="1"/>
          <p:nvPr/>
        </p:nvSpPr>
        <p:spPr>
          <a:xfrm>
            <a:off x="640080" y="5806440"/>
            <a:ext cx="10911535" cy="365760"/>
          </a:xfrm>
          <a:prstGeom prst="rect">
            <a:avLst/>
          </a:prstGeom>
          <a:noFill/>
        </p:spPr>
        <p:txBody>
          <a:bodyPr wrap="square">
            <a:spAutoFit/>
          </a:bodyPr>
          <a:lstStyle/>
          <a:p>
            <a:pPr algn="l"/>
            <a:r>
              <a:rPr sz="1300" b="0" i="1">
                <a:solidFill>
                  <a:srgbClr val="69728C"/>
                </a:solidFill>
                <a:latin typeface="Calibri"/>
              </a:rPr>
              <a:t>“Like watching someone walk behind a parked bus — you don't assume they vanished.”</a:t>
            </a:r>
          </a:p>
        </p:txBody>
      </p:sp>
      <p:sp>
        <p:nvSpPr>
          <p:cNvPr id="28" name="TextBox 27"/>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2</a:t>
            </a:r>
          </a:p>
        </p:txBody>
      </p:sp>
      <p:pic>
        <p:nvPicPr>
          <p:cNvPr id="29" name="Picture 28">
            <a:extLst>
              <a:ext uri="{FF2B5EF4-FFF2-40B4-BE49-F238E27FC236}">
                <a16:creationId xmlns:a16="http://schemas.microsoft.com/office/drawing/2014/main" id="{B11DAC9E-AB65-6B0F-2770-0C8CD958084F}"/>
              </a:ext>
            </a:extLst>
          </p:cNvPr>
          <p:cNvPicPr>
            <a:picLocks noChangeAspect="1"/>
          </p:cNvPicPr>
          <p:nvPr/>
        </p:nvPicPr>
        <p:blipFill>
          <a:blip r:embed="rId3"/>
          <a:stretch>
            <a:fillRect/>
          </a:stretch>
        </p:blipFill>
        <p:spPr>
          <a:xfrm>
            <a:off x="598170" y="2826576"/>
            <a:ext cx="3429000" cy="1928812"/>
          </a:xfrm>
          <a:prstGeom prst="rect">
            <a:avLst/>
          </a:prstGeom>
          <a:ln w="9525">
            <a:solidFill>
              <a:srgbClr val="DDE2F0"/>
            </a:solidFill>
          </a:ln>
          <a:effectLst>
            <a:outerShdw blurRad="177800" dist="50800" dir="2700000" rotWithShape="0">
              <a:srgbClr val="12173A">
                <a:alpha val="32000"/>
              </a:srgbClr>
            </a:outerShdw>
          </a:effectLst>
        </p:spPr>
      </p:pic>
      <p:pic>
        <p:nvPicPr>
          <p:cNvPr id="30" name="Picture 29">
            <a:extLst>
              <a:ext uri="{FF2B5EF4-FFF2-40B4-BE49-F238E27FC236}">
                <a16:creationId xmlns:a16="http://schemas.microsoft.com/office/drawing/2014/main" id="{B30D323B-9F76-E5E4-A53E-04FDC7C881EB}"/>
              </a:ext>
            </a:extLst>
          </p:cNvPr>
          <p:cNvPicPr>
            <a:picLocks noChangeAspect="1"/>
          </p:cNvPicPr>
          <p:nvPr/>
        </p:nvPicPr>
        <p:blipFill>
          <a:blip r:embed="rId4"/>
          <a:stretch>
            <a:fillRect/>
          </a:stretch>
        </p:blipFill>
        <p:spPr>
          <a:xfrm>
            <a:off x="4518660" y="2826576"/>
            <a:ext cx="3429000" cy="1928812"/>
          </a:xfrm>
          <a:prstGeom prst="rect">
            <a:avLst/>
          </a:prstGeom>
          <a:ln w="9525">
            <a:solidFill>
              <a:srgbClr val="DDE2F0"/>
            </a:solidFill>
          </a:ln>
          <a:effectLst>
            <a:outerShdw blurRad="177800" dist="50800" dir="2700000" rotWithShape="0">
              <a:srgbClr val="12173A">
                <a:alpha val="32000"/>
              </a:srgbClr>
            </a:outerShdw>
          </a:effectLst>
        </p:spPr>
      </p:pic>
      <p:pic>
        <p:nvPicPr>
          <p:cNvPr id="31" name="Picture 30">
            <a:extLst>
              <a:ext uri="{FF2B5EF4-FFF2-40B4-BE49-F238E27FC236}">
                <a16:creationId xmlns:a16="http://schemas.microsoft.com/office/drawing/2014/main" id="{F68546FD-AB55-EA49-AC09-35B712E6078F}"/>
              </a:ext>
            </a:extLst>
          </p:cNvPr>
          <p:cNvPicPr>
            <a:picLocks noChangeAspect="1"/>
          </p:cNvPicPr>
          <p:nvPr/>
        </p:nvPicPr>
        <p:blipFill>
          <a:blip r:embed="rId5"/>
          <a:stretch>
            <a:fillRect/>
          </a:stretch>
        </p:blipFill>
        <p:spPr>
          <a:xfrm>
            <a:off x="8442007" y="2843721"/>
            <a:ext cx="3429000" cy="1928812"/>
          </a:xfrm>
          <a:prstGeom prst="rect">
            <a:avLst/>
          </a:prstGeom>
          <a:ln w="9525">
            <a:solidFill>
              <a:srgbClr val="DDE2F0"/>
            </a:solidFill>
          </a:ln>
          <a:effectLst>
            <a:outerShdw blurRad="177800" dist="50800" dir="2700000" rotWithShape="0">
              <a:srgbClr val="12173A">
                <a:alpha val="32000"/>
              </a:srgbClr>
            </a:outerShdw>
          </a:effectLst>
        </p:spPr>
      </p:pic>
      <p:sp>
        <p:nvSpPr>
          <p:cNvPr id="32" name="TextBox 13">
            <a:extLst>
              <a:ext uri="{FF2B5EF4-FFF2-40B4-BE49-F238E27FC236}">
                <a16:creationId xmlns:a16="http://schemas.microsoft.com/office/drawing/2014/main" id="{9851347D-EB39-401E-29D4-71907BDFA484}"/>
              </a:ext>
            </a:extLst>
          </p:cNvPr>
          <p:cNvSpPr txBox="1"/>
          <p:nvPr/>
        </p:nvSpPr>
        <p:spPr>
          <a:xfrm>
            <a:off x="4061460" y="3246120"/>
            <a:ext cx="32004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200" b="1" i="0">
                <a:solidFill>
                  <a:srgbClr val="69728C"/>
                </a:solidFill>
                <a:latin typeface="Calibri"/>
              </a:rPr>
              <a:t>→</a:t>
            </a:r>
          </a:p>
        </p:txBody>
      </p:sp>
      <p:sp>
        <p:nvSpPr>
          <p:cNvPr id="33" name="TextBox 14">
            <a:extLst>
              <a:ext uri="{FF2B5EF4-FFF2-40B4-BE49-F238E27FC236}">
                <a16:creationId xmlns:a16="http://schemas.microsoft.com/office/drawing/2014/main" id="{470049AA-277D-EE25-3B96-1E2E32C790C2}"/>
              </a:ext>
            </a:extLst>
          </p:cNvPr>
          <p:cNvSpPr txBox="1"/>
          <p:nvPr/>
        </p:nvSpPr>
        <p:spPr>
          <a:xfrm>
            <a:off x="7810500" y="3246120"/>
            <a:ext cx="32004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200" b="1" i="0">
                <a:solidFill>
                  <a:srgbClr val="69728C"/>
                </a:solidFill>
                <a:latin typeface="Calibri"/>
              </a:rPr>
              <a:t>→</a:t>
            </a:r>
          </a:p>
        </p:txBody>
      </p:sp>
      <p:sp>
        <p:nvSpPr>
          <p:cNvPr id="34" name="Oval 33">
            <a:extLst>
              <a:ext uri="{FF2B5EF4-FFF2-40B4-BE49-F238E27FC236}">
                <a16:creationId xmlns:a16="http://schemas.microsoft.com/office/drawing/2014/main" id="{7D84A61B-B0A8-F270-E33E-3BE6CB0D37C8}"/>
              </a:ext>
            </a:extLst>
          </p:cNvPr>
          <p:cNvSpPr/>
          <p:nvPr/>
        </p:nvSpPr>
        <p:spPr>
          <a:xfrm>
            <a:off x="1341119" y="3803633"/>
            <a:ext cx="480060" cy="231457"/>
          </a:xfrm>
          <a:prstGeom prst="ellipse">
            <a:avLst/>
          </a:prstGeom>
          <a:noFill/>
          <a:ln w="34925">
            <a:solidFill>
              <a:srgbClr val="FFA63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5" name="TextBox 18">
            <a:extLst>
              <a:ext uri="{FF2B5EF4-FFF2-40B4-BE49-F238E27FC236}">
                <a16:creationId xmlns:a16="http://schemas.microsoft.com/office/drawing/2014/main" id="{2493F11A-CF18-75B2-9EB1-D2FAB1CB2CC4}"/>
              </a:ext>
            </a:extLst>
          </p:cNvPr>
          <p:cNvSpPr txBox="1"/>
          <p:nvPr/>
        </p:nvSpPr>
        <p:spPr>
          <a:xfrm>
            <a:off x="1208102" y="4010829"/>
            <a:ext cx="10287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050" b="1" i="0" dirty="0">
                <a:solidFill>
                  <a:srgbClr val="E0841C"/>
                </a:solidFill>
                <a:latin typeface="Calibri"/>
              </a:rPr>
              <a:t>Target vehicle</a:t>
            </a:r>
          </a:p>
        </p:txBody>
      </p:sp>
      <p:sp>
        <p:nvSpPr>
          <p:cNvPr id="36" name="Oval 35">
            <a:extLst>
              <a:ext uri="{FF2B5EF4-FFF2-40B4-BE49-F238E27FC236}">
                <a16:creationId xmlns:a16="http://schemas.microsoft.com/office/drawing/2014/main" id="{71E6C109-FA4B-1AF9-1981-DE44DEBDAF84}"/>
              </a:ext>
            </a:extLst>
          </p:cNvPr>
          <p:cNvSpPr/>
          <p:nvPr/>
        </p:nvSpPr>
        <p:spPr>
          <a:xfrm>
            <a:off x="4910485" y="3690791"/>
            <a:ext cx="1036562" cy="436371"/>
          </a:xfrm>
          <a:prstGeom prst="ellipse">
            <a:avLst/>
          </a:prstGeom>
          <a:noFill/>
          <a:ln w="34925">
            <a:solidFill>
              <a:srgbClr val="FFA6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7" name="TextBox 20">
            <a:extLst>
              <a:ext uri="{FF2B5EF4-FFF2-40B4-BE49-F238E27FC236}">
                <a16:creationId xmlns:a16="http://schemas.microsoft.com/office/drawing/2014/main" id="{4D475658-5908-5C65-D67C-2C0F75097B15}"/>
              </a:ext>
            </a:extLst>
          </p:cNvPr>
          <p:cNvSpPr txBox="1"/>
          <p:nvPr/>
        </p:nvSpPr>
        <p:spPr>
          <a:xfrm>
            <a:off x="4899418" y="4127163"/>
            <a:ext cx="147447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050" b="1" i="0" dirty="0">
                <a:solidFill>
                  <a:srgbClr val="E0841C"/>
                </a:solidFill>
                <a:latin typeface="Calibri"/>
              </a:rPr>
              <a:t>Target hidden behind </a:t>
            </a:r>
            <a:r>
              <a:rPr sz="1050" b="1" i="0" dirty="0" err="1">
                <a:solidFill>
                  <a:srgbClr val="E0841C"/>
                </a:solidFill>
                <a:latin typeface="Calibri"/>
              </a:rPr>
              <a:t>occluder</a:t>
            </a:r>
            <a:endParaRPr sz="1050" b="1" i="0" dirty="0">
              <a:solidFill>
                <a:srgbClr val="E0841C"/>
              </a:solidFill>
              <a:latin typeface="Calibri"/>
            </a:endParaRPr>
          </a:p>
        </p:txBody>
      </p:sp>
      <p:sp>
        <p:nvSpPr>
          <p:cNvPr id="38" name="Oval 37">
            <a:extLst>
              <a:ext uri="{FF2B5EF4-FFF2-40B4-BE49-F238E27FC236}">
                <a16:creationId xmlns:a16="http://schemas.microsoft.com/office/drawing/2014/main" id="{43D90300-3633-E73B-AFF0-22B4B953C6A5}"/>
              </a:ext>
            </a:extLst>
          </p:cNvPr>
          <p:cNvSpPr/>
          <p:nvPr/>
        </p:nvSpPr>
        <p:spPr>
          <a:xfrm>
            <a:off x="9727727" y="3850992"/>
            <a:ext cx="231613" cy="145732"/>
          </a:xfrm>
          <a:prstGeom prst="ellipse">
            <a:avLst/>
          </a:prstGeom>
          <a:noFill/>
          <a:ln w="34925">
            <a:solidFill>
              <a:srgbClr val="FFA63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9" name="TextBox 22">
            <a:extLst>
              <a:ext uri="{FF2B5EF4-FFF2-40B4-BE49-F238E27FC236}">
                <a16:creationId xmlns:a16="http://schemas.microsoft.com/office/drawing/2014/main" id="{237AF163-4AD6-918C-BAC4-4E2ABD6DF883}"/>
              </a:ext>
            </a:extLst>
          </p:cNvPr>
          <p:cNvSpPr txBox="1"/>
          <p:nvPr/>
        </p:nvSpPr>
        <p:spPr>
          <a:xfrm>
            <a:off x="9689737" y="3951004"/>
            <a:ext cx="13716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050" b="1" i="0" dirty="0">
                <a:solidFill>
                  <a:srgbClr val="E0841C"/>
                </a:solidFill>
                <a:latin typeface="Calibri"/>
              </a:rPr>
              <a:t>Target vehicle (reappeared)</a:t>
            </a:r>
          </a:p>
        </p:txBody>
      </p:sp>
      <p:sp>
        <p:nvSpPr>
          <p:cNvPr id="41" name="Rounded Rectangle 5">
            <a:extLst>
              <a:ext uri="{FF2B5EF4-FFF2-40B4-BE49-F238E27FC236}">
                <a16:creationId xmlns:a16="http://schemas.microsoft.com/office/drawing/2014/main" id="{0E2A75F4-E0F1-A62D-075C-4A2DC88B204D}"/>
              </a:ext>
            </a:extLst>
          </p:cNvPr>
          <p:cNvSpPr/>
          <p:nvPr/>
        </p:nvSpPr>
        <p:spPr>
          <a:xfrm>
            <a:off x="1581149" y="2399157"/>
            <a:ext cx="1463040" cy="384048"/>
          </a:xfrm>
          <a:prstGeom prst="roundRect">
            <a:avLst>
              <a:gd name="adj" fmla="val 5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100" b="1">
                <a:solidFill>
                  <a:srgbClr val="FFFFFF"/>
                </a:solidFill>
                <a:latin typeface="Calibri"/>
              </a:rPr>
              <a:t>BEFORE</a:t>
            </a:r>
          </a:p>
        </p:txBody>
      </p:sp>
      <p:sp>
        <p:nvSpPr>
          <p:cNvPr id="43" name="Rounded Rectangle 8">
            <a:extLst>
              <a:ext uri="{FF2B5EF4-FFF2-40B4-BE49-F238E27FC236}">
                <a16:creationId xmlns:a16="http://schemas.microsoft.com/office/drawing/2014/main" id="{6BF9FDEE-FD8D-C622-DE76-AA98156203F8}"/>
              </a:ext>
            </a:extLst>
          </p:cNvPr>
          <p:cNvSpPr/>
          <p:nvPr/>
        </p:nvSpPr>
        <p:spPr>
          <a:xfrm>
            <a:off x="5503068" y="2391919"/>
            <a:ext cx="1463040" cy="384048"/>
          </a:xfrm>
          <a:prstGeom prst="roundRect">
            <a:avLst>
              <a:gd name="adj" fmla="val 50000"/>
            </a:avLst>
          </a:prstGeom>
          <a:solidFill>
            <a:srgbClr val="E0841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100" b="1">
                <a:solidFill>
                  <a:srgbClr val="FFFFFF"/>
                </a:solidFill>
                <a:latin typeface="Calibri"/>
              </a:rPr>
              <a:t>OCCLUDED</a:t>
            </a:r>
          </a:p>
        </p:txBody>
      </p:sp>
      <p:sp>
        <p:nvSpPr>
          <p:cNvPr id="45" name="Rounded Rectangle 11">
            <a:extLst>
              <a:ext uri="{FF2B5EF4-FFF2-40B4-BE49-F238E27FC236}">
                <a16:creationId xmlns:a16="http://schemas.microsoft.com/office/drawing/2014/main" id="{3DD93C03-17FA-DD08-DED2-7A8D9B3DF451}"/>
              </a:ext>
            </a:extLst>
          </p:cNvPr>
          <p:cNvSpPr/>
          <p:nvPr/>
        </p:nvSpPr>
        <p:spPr>
          <a:xfrm>
            <a:off x="9424987" y="2399157"/>
            <a:ext cx="1463040" cy="384048"/>
          </a:xfrm>
          <a:prstGeom prst="roundRect">
            <a:avLst>
              <a:gd name="adj" fmla="val 5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100" b="1">
                <a:solidFill>
                  <a:srgbClr val="FFFFFF"/>
                </a:solidFill>
                <a:latin typeface="Calibri"/>
              </a:rPr>
              <a:t>AFTER</a:t>
            </a:r>
          </a:p>
        </p:txBody>
      </p:sp>
      <p:sp>
        <p:nvSpPr>
          <p:cNvPr id="47" name="TextBox 46">
            <a:extLst>
              <a:ext uri="{FF2B5EF4-FFF2-40B4-BE49-F238E27FC236}">
                <a16:creationId xmlns:a16="http://schemas.microsoft.com/office/drawing/2014/main" id="{94935D2E-CBD9-FF33-DBE1-862471096546}"/>
              </a:ext>
            </a:extLst>
          </p:cNvPr>
          <p:cNvSpPr txBox="1"/>
          <p:nvPr/>
        </p:nvSpPr>
        <p:spPr>
          <a:xfrm>
            <a:off x="-734140" y="4755388"/>
            <a:ext cx="6093618" cy="292388"/>
          </a:xfrm>
          <a:prstGeom prst="rect">
            <a:avLst/>
          </a:prstGeom>
          <a:noFill/>
        </p:spPr>
        <p:txBody>
          <a:bodyPr wrap="square">
            <a:spAutoFit/>
          </a:bodyPr>
          <a:lstStyle/>
          <a:p>
            <a:pPr algn="ctr"/>
            <a:r>
              <a:rPr lang="en-GB" sz="1300" b="0" i="0" dirty="0">
                <a:solidFill>
                  <a:srgbClr val="69728C"/>
                </a:solidFill>
                <a:latin typeface="Calibri"/>
              </a:rPr>
              <a:t>Car clearly visible</a:t>
            </a:r>
          </a:p>
        </p:txBody>
      </p:sp>
      <p:sp>
        <p:nvSpPr>
          <p:cNvPr id="49" name="TextBox 48">
            <a:extLst>
              <a:ext uri="{FF2B5EF4-FFF2-40B4-BE49-F238E27FC236}">
                <a16:creationId xmlns:a16="http://schemas.microsoft.com/office/drawing/2014/main" id="{4D55E544-DE4E-5AF4-35EF-299A7D04867B}"/>
              </a:ext>
            </a:extLst>
          </p:cNvPr>
          <p:cNvSpPr txBox="1"/>
          <p:nvPr/>
        </p:nvSpPr>
        <p:spPr>
          <a:xfrm>
            <a:off x="3044189" y="4755388"/>
            <a:ext cx="6457950" cy="292388"/>
          </a:xfrm>
          <a:prstGeom prst="rect">
            <a:avLst/>
          </a:prstGeom>
          <a:noFill/>
        </p:spPr>
        <p:txBody>
          <a:bodyPr wrap="square">
            <a:spAutoFit/>
          </a:bodyPr>
          <a:lstStyle/>
          <a:p>
            <a:pPr algn="ctr"/>
            <a:r>
              <a:rPr lang="en-GB" sz="1300" b="0" i="0" dirty="0">
                <a:solidFill>
                  <a:srgbClr val="69728C"/>
                </a:solidFill>
                <a:latin typeface="Calibri"/>
              </a:rPr>
              <a:t>Fully hidden from view</a:t>
            </a:r>
          </a:p>
        </p:txBody>
      </p:sp>
      <p:sp>
        <p:nvSpPr>
          <p:cNvPr id="51" name="TextBox 50">
            <a:extLst>
              <a:ext uri="{FF2B5EF4-FFF2-40B4-BE49-F238E27FC236}">
                <a16:creationId xmlns:a16="http://schemas.microsoft.com/office/drawing/2014/main" id="{B4F367D7-A635-18CD-EE9A-34B5CE714B78}"/>
              </a:ext>
            </a:extLst>
          </p:cNvPr>
          <p:cNvSpPr txBox="1"/>
          <p:nvPr/>
        </p:nvSpPr>
        <p:spPr>
          <a:xfrm>
            <a:off x="6832524" y="4755388"/>
            <a:ext cx="6457950" cy="292388"/>
          </a:xfrm>
          <a:prstGeom prst="rect">
            <a:avLst/>
          </a:prstGeom>
          <a:noFill/>
        </p:spPr>
        <p:txBody>
          <a:bodyPr wrap="square">
            <a:spAutoFit/>
          </a:bodyPr>
          <a:lstStyle/>
          <a:p>
            <a:pPr algn="ctr"/>
            <a:r>
              <a:rPr lang="en-GB" sz="1300" b="0" i="0" dirty="0">
                <a:solidFill>
                  <a:srgbClr val="69728C"/>
                </a:solidFill>
                <a:latin typeface="Calibri"/>
              </a:rPr>
              <a:t>Reappears down the road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78CA37E-4CD5-F374-936B-4689EB9C1039}"/>
              </a:ext>
            </a:extLst>
          </p:cNvPr>
          <p:cNvSpPr/>
          <p:nvPr/>
        </p:nvSpPr>
        <p:spPr>
          <a:xfrm>
            <a:off x="-1" y="0"/>
            <a:ext cx="262799" cy="68580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914352" y="425689"/>
            <a:ext cx="8229600" cy="320040"/>
          </a:xfrm>
          <a:prstGeom prst="rect">
            <a:avLst/>
          </a:prstGeom>
          <a:noFill/>
        </p:spPr>
        <p:txBody>
          <a:bodyPr wrap="square">
            <a:spAutoFit/>
          </a:bodyPr>
          <a:lstStyle/>
          <a:p>
            <a:pPr algn="l"/>
            <a:r>
              <a:rPr sz="1300" b="1" i="0" dirty="0">
                <a:solidFill>
                  <a:srgbClr val="FFA630"/>
                </a:solidFill>
                <a:latin typeface="Calibri"/>
              </a:rPr>
              <a:t>THE DATASET</a:t>
            </a:r>
          </a:p>
        </p:txBody>
      </p:sp>
      <p:sp>
        <p:nvSpPr>
          <p:cNvPr id="3" name="TextBox 2"/>
          <p:cNvSpPr txBox="1"/>
          <p:nvPr/>
        </p:nvSpPr>
        <p:spPr>
          <a:xfrm>
            <a:off x="1234640" y="622351"/>
            <a:ext cx="5852160" cy="822960"/>
          </a:xfrm>
          <a:prstGeom prst="rect">
            <a:avLst/>
          </a:prstGeom>
          <a:noFill/>
        </p:spPr>
        <p:txBody>
          <a:bodyPr wrap="square">
            <a:spAutoFit/>
          </a:bodyPr>
          <a:lstStyle/>
          <a:p>
            <a:pPr algn="l"/>
            <a:r>
              <a:rPr sz="2600" b="1" i="0">
                <a:solidFill>
                  <a:srgbClr val="12173A"/>
                </a:solidFill>
                <a:latin typeface="Cambria"/>
              </a:rPr>
              <a:t>nuScenes — Front Camera Only</a:t>
            </a:r>
          </a:p>
        </p:txBody>
      </p:sp>
      <p:sp>
        <p:nvSpPr>
          <p:cNvPr id="4" name="Rectangle 3"/>
          <p:cNvSpPr/>
          <p:nvPr/>
        </p:nvSpPr>
        <p:spPr>
          <a:xfrm>
            <a:off x="1143000" y="1202361"/>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14352" y="1913561"/>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1</a:t>
            </a:r>
          </a:p>
        </p:txBody>
      </p:sp>
      <p:sp>
        <p:nvSpPr>
          <p:cNvPr id="6" name="TextBox 5"/>
          <p:cNvSpPr txBox="1"/>
          <p:nvPr/>
        </p:nvSpPr>
        <p:spPr>
          <a:xfrm>
            <a:off x="1627584" y="1812977"/>
            <a:ext cx="5230368" cy="823623"/>
          </a:xfrm>
          <a:prstGeom prst="rect">
            <a:avLst/>
          </a:prstGeom>
          <a:noFill/>
        </p:spPr>
        <p:txBody>
          <a:bodyPr wrap="square">
            <a:spAutoFit/>
          </a:bodyPr>
          <a:lstStyle/>
          <a:p>
            <a:pPr algn="l">
              <a:lnSpc>
                <a:spcPct val="120000"/>
              </a:lnSpc>
            </a:pPr>
            <a:r>
              <a:rPr sz="1350" b="1" i="0" dirty="0" err="1">
                <a:solidFill>
                  <a:srgbClr val="2E3348"/>
                </a:solidFill>
                <a:latin typeface="Calibri"/>
              </a:rPr>
              <a:t>nuScenes</a:t>
            </a:r>
            <a:r>
              <a:rPr sz="1350" b="1" i="0" dirty="0">
                <a:solidFill>
                  <a:srgbClr val="2E3348"/>
                </a:solidFill>
                <a:latin typeface="Calibri"/>
              </a:rPr>
              <a:t>-mini: </a:t>
            </a:r>
            <a:r>
              <a:rPr sz="1350" b="0" i="0" dirty="0">
                <a:solidFill>
                  <a:srgbClr val="2E3348"/>
                </a:solidFill>
                <a:latin typeface="Calibri"/>
              </a:rPr>
              <a:t>a large-scale autonomous-driving dataset with synchronized cameras, LiDAR, radar, and 3D box annotations across 10 scenes.</a:t>
            </a:r>
          </a:p>
        </p:txBody>
      </p:sp>
      <p:sp>
        <p:nvSpPr>
          <p:cNvPr id="7" name="Rounded Rectangle 6"/>
          <p:cNvSpPr/>
          <p:nvPr/>
        </p:nvSpPr>
        <p:spPr>
          <a:xfrm>
            <a:off x="914352" y="3056561"/>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2</a:t>
            </a:r>
          </a:p>
        </p:txBody>
      </p:sp>
      <p:sp>
        <p:nvSpPr>
          <p:cNvPr id="8" name="TextBox 7"/>
          <p:cNvSpPr txBox="1"/>
          <p:nvPr/>
        </p:nvSpPr>
        <p:spPr>
          <a:xfrm>
            <a:off x="1627584" y="2987981"/>
            <a:ext cx="5230368" cy="1051560"/>
          </a:xfrm>
          <a:prstGeom prst="rect">
            <a:avLst/>
          </a:prstGeom>
          <a:noFill/>
        </p:spPr>
        <p:txBody>
          <a:bodyPr wrap="square">
            <a:spAutoFit/>
          </a:bodyPr>
          <a:lstStyle/>
          <a:p>
            <a:pPr algn="l">
              <a:lnSpc>
                <a:spcPct val="120000"/>
              </a:lnSpc>
            </a:pPr>
            <a:r>
              <a:rPr sz="1350" b="0" i="0" dirty="0">
                <a:solidFill>
                  <a:srgbClr val="2E3348"/>
                </a:solidFill>
                <a:latin typeface="Calibri"/>
              </a:rPr>
              <a:t>OATM's tracker uses only CAM_FRONT — one monocular camera feed, split five scenes for development and five held out for validation.</a:t>
            </a:r>
          </a:p>
        </p:txBody>
      </p:sp>
      <p:sp>
        <p:nvSpPr>
          <p:cNvPr id="9" name="Rounded Rectangle 8"/>
          <p:cNvSpPr/>
          <p:nvPr/>
        </p:nvSpPr>
        <p:spPr>
          <a:xfrm>
            <a:off x="914352" y="4199561"/>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3</a:t>
            </a:r>
          </a:p>
        </p:txBody>
      </p:sp>
      <p:sp>
        <p:nvSpPr>
          <p:cNvPr id="10" name="TextBox 9"/>
          <p:cNvSpPr txBox="1"/>
          <p:nvPr/>
        </p:nvSpPr>
        <p:spPr>
          <a:xfrm>
            <a:off x="1627584" y="4034969"/>
            <a:ext cx="5230368" cy="1051560"/>
          </a:xfrm>
          <a:prstGeom prst="rect">
            <a:avLst/>
          </a:prstGeom>
          <a:noFill/>
        </p:spPr>
        <p:txBody>
          <a:bodyPr wrap="square">
            <a:spAutoFit/>
          </a:bodyPr>
          <a:lstStyle/>
          <a:p>
            <a:pPr algn="l">
              <a:lnSpc>
                <a:spcPct val="120000"/>
              </a:lnSpc>
            </a:pPr>
            <a:r>
              <a:rPr sz="1350" b="0" i="0" dirty="0">
                <a:solidFill>
                  <a:srgbClr val="2E3348"/>
                </a:solidFill>
                <a:latin typeface="Calibri"/>
              </a:rPr>
              <a:t>2,342 causal camera frames were processed online; 404 official annotated keyframes were scored, covering 3,492 in-scope car and pedestrian annotations.</a:t>
            </a:r>
          </a:p>
        </p:txBody>
      </p:sp>
      <p:sp>
        <p:nvSpPr>
          <p:cNvPr id="11" name="Rounded Rectangle 10"/>
          <p:cNvSpPr/>
          <p:nvPr/>
        </p:nvSpPr>
        <p:spPr>
          <a:xfrm>
            <a:off x="914352" y="5342561"/>
            <a:ext cx="457200" cy="457200"/>
          </a:xfrm>
          <a:prstGeom prst="roundRect">
            <a:avLst>
              <a:gd name="adj" fmla="val 30000"/>
            </a:avLst>
          </a:prstGeom>
          <a:solidFill>
            <a:srgbClr val="1217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FFFFFF"/>
                </a:solidFill>
                <a:latin typeface="Calibri"/>
              </a:rPr>
              <a:t>4</a:t>
            </a:r>
          </a:p>
        </p:txBody>
      </p:sp>
      <p:sp>
        <p:nvSpPr>
          <p:cNvPr id="12" name="TextBox 11"/>
          <p:cNvSpPr txBox="1"/>
          <p:nvPr/>
        </p:nvSpPr>
        <p:spPr>
          <a:xfrm>
            <a:off x="1627584" y="5273981"/>
            <a:ext cx="5100320" cy="823623"/>
          </a:xfrm>
          <a:prstGeom prst="rect">
            <a:avLst/>
          </a:prstGeom>
          <a:noFill/>
        </p:spPr>
        <p:txBody>
          <a:bodyPr wrap="square">
            <a:spAutoFit/>
          </a:bodyPr>
          <a:lstStyle/>
          <a:p>
            <a:pPr algn="l">
              <a:lnSpc>
                <a:spcPct val="120000"/>
              </a:lnSpc>
            </a:pPr>
            <a:r>
              <a:rPr sz="1350" b="0" i="0" dirty="0">
                <a:solidFill>
                  <a:srgbClr val="2E3348"/>
                </a:solidFill>
                <a:latin typeface="Calibri"/>
              </a:rPr>
              <a:t>LiDAR and the 3D annotations aren't wasted, though — they return later as independent offline ground truth, never as input to the tracker itself.</a:t>
            </a:r>
          </a:p>
        </p:txBody>
      </p:sp>
      <p:pic>
        <p:nvPicPr>
          <p:cNvPr id="13" name="Picture 12" descr="1_previous_no_occlusion.jpg"/>
          <p:cNvPicPr>
            <a:picLocks noChangeAspect="1"/>
          </p:cNvPicPr>
          <p:nvPr/>
        </p:nvPicPr>
        <p:blipFill>
          <a:blip r:embed="rId3"/>
          <a:stretch>
            <a:fillRect/>
          </a:stretch>
        </p:blipFill>
        <p:spPr>
          <a:xfrm>
            <a:off x="7748006" y="4255643"/>
            <a:ext cx="3124817" cy="1759606"/>
          </a:xfrm>
          <a:prstGeom prst="rect">
            <a:avLst/>
          </a:prstGeom>
          <a:ln w="9525">
            <a:solidFill>
              <a:srgbClr val="DDE2F0"/>
            </a:solidFill>
          </a:ln>
          <a:effectLst>
            <a:outerShdw blurRad="177800" dist="50800" dir="2700000" rotWithShape="0">
              <a:srgbClr val="12173A">
                <a:alpha val="32000"/>
              </a:srgbClr>
            </a:outerShdw>
          </a:effectLst>
        </p:spPr>
      </p:pic>
      <p:sp>
        <p:nvSpPr>
          <p:cNvPr id="14" name="TextBox 13"/>
          <p:cNvSpPr txBox="1"/>
          <p:nvPr/>
        </p:nvSpPr>
        <p:spPr>
          <a:xfrm>
            <a:off x="7831822" y="5997213"/>
            <a:ext cx="4003816" cy="253916"/>
          </a:xfrm>
          <a:prstGeom prst="rect">
            <a:avLst/>
          </a:prstGeom>
          <a:noFill/>
        </p:spPr>
        <p:txBody>
          <a:bodyPr wrap="square">
            <a:spAutoFit/>
          </a:bodyPr>
          <a:lstStyle/>
          <a:p>
            <a:pPr algn="l"/>
            <a:r>
              <a:rPr sz="1050" b="0" i="0" dirty="0">
                <a:solidFill>
                  <a:srgbClr val="69728C"/>
                </a:solidFill>
                <a:latin typeface="Calibri"/>
              </a:rPr>
              <a:t>CAM_FRONT — the only view OATM detects from</a:t>
            </a:r>
          </a:p>
        </p:txBody>
      </p:sp>
      <p:sp>
        <p:nvSpPr>
          <p:cNvPr id="15" name="TextBox 14"/>
          <p:cNvSpPr txBox="1"/>
          <p:nvPr/>
        </p:nvSpPr>
        <p:spPr>
          <a:xfrm>
            <a:off x="7820767" y="531824"/>
            <a:ext cx="4709160" cy="400110"/>
          </a:xfrm>
          <a:prstGeom prst="rect">
            <a:avLst/>
          </a:prstGeom>
          <a:noFill/>
        </p:spPr>
        <p:txBody>
          <a:bodyPr wrap="square">
            <a:spAutoFit/>
          </a:bodyPr>
          <a:lstStyle/>
          <a:p>
            <a:pPr algn="l"/>
            <a:r>
              <a:rPr sz="2000" b="1" i="0" dirty="0" err="1">
                <a:solidFill>
                  <a:srgbClr val="69728C"/>
                </a:solidFill>
                <a:latin typeface="Calibri"/>
              </a:rPr>
              <a:t>nuScenes</a:t>
            </a:r>
            <a:r>
              <a:rPr sz="2000" b="1" i="0" dirty="0">
                <a:solidFill>
                  <a:srgbClr val="69728C"/>
                </a:solidFill>
                <a:latin typeface="Calibri"/>
              </a:rPr>
              <a:t> sensor pipeline</a:t>
            </a:r>
          </a:p>
        </p:txBody>
      </p:sp>
      <p:sp>
        <p:nvSpPr>
          <p:cNvPr id="16" name="Rounded Rectangle 15"/>
          <p:cNvSpPr/>
          <p:nvPr/>
        </p:nvSpPr>
        <p:spPr>
          <a:xfrm>
            <a:off x="7509510" y="1113969"/>
            <a:ext cx="3597402" cy="699008"/>
          </a:xfrm>
          <a:prstGeom prst="roundRect">
            <a:avLst>
              <a:gd name="adj" fmla="val 15000"/>
            </a:avLst>
          </a:prstGeom>
          <a:solidFill>
            <a:srgbClr val="FFFFFF"/>
          </a:solidFill>
          <a:ln w="12700">
            <a:solidFill>
              <a:srgbClr val="12173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dirty="0">
                <a:solidFill>
                  <a:srgbClr val="12173A"/>
                </a:solidFill>
                <a:latin typeface="Calibri"/>
              </a:rPr>
              <a:t>Camera + LiDAR + Radar</a:t>
            </a:r>
          </a:p>
        </p:txBody>
      </p:sp>
      <p:sp>
        <p:nvSpPr>
          <p:cNvPr id="17" name="TextBox 16"/>
          <p:cNvSpPr txBox="1"/>
          <p:nvPr/>
        </p:nvSpPr>
        <p:spPr>
          <a:xfrm rot="5400000">
            <a:off x="9232728" y="2831993"/>
            <a:ext cx="150965" cy="276999"/>
          </a:xfrm>
          <a:prstGeom prst="rect">
            <a:avLst/>
          </a:prstGeom>
          <a:noFill/>
        </p:spPr>
        <p:txBody>
          <a:bodyPr wrap="square">
            <a:spAutoFit/>
          </a:bodyPr>
          <a:lstStyle/>
          <a:p>
            <a:pPr algn="ctr"/>
            <a:r>
              <a:rPr sz="1200" b="1" i="0" dirty="0">
                <a:solidFill>
                  <a:srgbClr val="8A93AD"/>
                </a:solidFill>
                <a:latin typeface="Calibri"/>
              </a:rPr>
              <a:t>→</a:t>
            </a:r>
          </a:p>
        </p:txBody>
      </p:sp>
      <p:sp>
        <p:nvSpPr>
          <p:cNvPr id="18" name="Rounded Rectangle 17"/>
          <p:cNvSpPr/>
          <p:nvPr/>
        </p:nvSpPr>
        <p:spPr>
          <a:xfrm>
            <a:off x="7497318" y="2207559"/>
            <a:ext cx="3597402" cy="699008"/>
          </a:xfrm>
          <a:prstGeom prst="roundRect">
            <a:avLst>
              <a:gd name="adj" fmla="val 15000"/>
            </a:avLst>
          </a:prstGeom>
          <a:solidFill>
            <a:srgbClr val="FFFFFF"/>
          </a:solidFill>
          <a:ln w="12700">
            <a:solidFill>
              <a:srgbClr val="12173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dirty="0">
                <a:solidFill>
                  <a:srgbClr val="12173A"/>
                </a:solidFill>
                <a:latin typeface="Calibri"/>
              </a:rPr>
              <a:t>CAM_FRONT selected</a:t>
            </a:r>
          </a:p>
        </p:txBody>
      </p:sp>
      <p:sp>
        <p:nvSpPr>
          <p:cNvPr id="19" name="TextBox 18"/>
          <p:cNvSpPr txBox="1"/>
          <p:nvPr/>
        </p:nvSpPr>
        <p:spPr>
          <a:xfrm rot="5400000">
            <a:off x="9232728" y="1744182"/>
            <a:ext cx="150965" cy="276999"/>
          </a:xfrm>
          <a:prstGeom prst="rect">
            <a:avLst/>
          </a:prstGeom>
          <a:noFill/>
        </p:spPr>
        <p:txBody>
          <a:bodyPr wrap="square">
            <a:spAutoFit/>
          </a:bodyPr>
          <a:lstStyle/>
          <a:p>
            <a:pPr algn="ctr"/>
            <a:r>
              <a:rPr sz="1200" b="1" i="0" dirty="0">
                <a:solidFill>
                  <a:srgbClr val="8A93AD"/>
                </a:solidFill>
                <a:latin typeface="Calibri"/>
              </a:rPr>
              <a:t>→</a:t>
            </a:r>
          </a:p>
        </p:txBody>
      </p:sp>
      <p:sp>
        <p:nvSpPr>
          <p:cNvPr id="20" name="Rounded Rectangle 19"/>
          <p:cNvSpPr/>
          <p:nvPr/>
        </p:nvSpPr>
        <p:spPr>
          <a:xfrm>
            <a:off x="7509508" y="3148584"/>
            <a:ext cx="3585212" cy="699008"/>
          </a:xfrm>
          <a:prstGeom prst="roundRect">
            <a:avLst>
              <a:gd name="adj" fmla="val 15000"/>
            </a:avLst>
          </a:prstGeom>
          <a:solidFill>
            <a:srgbClr val="FFFFFF"/>
          </a:solidFill>
          <a:ln w="12700">
            <a:solidFill>
              <a:srgbClr val="12173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dirty="0">
                <a:solidFill>
                  <a:srgbClr val="12173A"/>
                </a:solidFill>
                <a:latin typeface="Calibri"/>
              </a:rPr>
              <a:t>Detection input (yolo26n.pt)</a:t>
            </a:r>
          </a:p>
        </p:txBody>
      </p:sp>
      <p:sp>
        <p:nvSpPr>
          <p:cNvPr id="21" name="TextBox 20"/>
          <p:cNvSpPr txBox="1"/>
          <p:nvPr/>
        </p:nvSpPr>
        <p:spPr>
          <a:xfrm>
            <a:off x="11217507" y="6326176"/>
            <a:ext cx="604520" cy="253916"/>
          </a:xfrm>
          <a:prstGeom prst="rect">
            <a:avLst/>
          </a:prstGeom>
          <a:noFill/>
        </p:spPr>
        <p:txBody>
          <a:bodyPr wrap="square">
            <a:spAutoFit/>
          </a:bodyPr>
          <a:lstStyle/>
          <a:p>
            <a:pPr algn="r"/>
            <a:r>
              <a:rPr sz="1050" dirty="0">
                <a:solidFill>
                  <a:srgbClr val="69728C"/>
                </a:solidFill>
                <a:latin typeface="Calibri"/>
              </a:rPr>
              <a:t>3</a:t>
            </a:r>
          </a:p>
        </p:txBody>
      </p:sp>
      <p:sp>
        <p:nvSpPr>
          <p:cNvPr id="27" name="Rectangle 26">
            <a:extLst>
              <a:ext uri="{FF2B5EF4-FFF2-40B4-BE49-F238E27FC236}">
                <a16:creationId xmlns:a16="http://schemas.microsoft.com/office/drawing/2014/main" id="{0712C904-251B-1FAA-9C88-70838EECD48A}"/>
              </a:ext>
            </a:extLst>
          </p:cNvPr>
          <p:cNvSpPr/>
          <p:nvPr/>
        </p:nvSpPr>
        <p:spPr>
          <a:xfrm>
            <a:off x="11965686" y="0"/>
            <a:ext cx="262799" cy="68580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p:cNvGrpSpPr/>
        <p:nvPr/>
      </p:nvGrpSpPr>
      <p:grpSpPr>
        <a:xfrm>
          <a:off x="0" y="0"/>
          <a:ext cx="0" cy="0"/>
          <a:chOff x="0" y="0"/>
          <a:chExt cx="0" cy="0"/>
        </a:xfrm>
      </p:grpSpPr>
      <p:sp>
        <p:nvSpPr>
          <p:cNvPr id="2" name="TextBox 1"/>
          <p:cNvSpPr txBox="1"/>
          <p:nvPr/>
        </p:nvSpPr>
        <p:spPr>
          <a:xfrm>
            <a:off x="0" y="1554480"/>
            <a:ext cx="12191695" cy="320040"/>
          </a:xfrm>
          <a:prstGeom prst="rect">
            <a:avLst/>
          </a:prstGeom>
          <a:noFill/>
        </p:spPr>
        <p:txBody>
          <a:bodyPr wrap="square">
            <a:spAutoFit/>
          </a:bodyPr>
          <a:lstStyle/>
          <a:p>
            <a:pPr algn="ctr"/>
            <a:r>
              <a:rPr sz="1300" b="1" i="0">
                <a:solidFill>
                  <a:srgbClr val="FFA630"/>
                </a:solidFill>
                <a:latin typeface="Calibri"/>
              </a:rPr>
              <a:t>THE RESEARCH QUESTION</a:t>
            </a:r>
          </a:p>
        </p:txBody>
      </p:sp>
      <p:sp>
        <p:nvSpPr>
          <p:cNvPr id="3" name="Rectangle 2"/>
          <p:cNvSpPr/>
          <p:nvPr/>
        </p:nvSpPr>
        <p:spPr>
          <a:xfrm>
            <a:off x="5775807" y="1965960"/>
            <a:ext cx="64008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331720"/>
            <a:ext cx="9811512" cy="1536639"/>
          </a:xfrm>
          <a:prstGeom prst="rect">
            <a:avLst/>
          </a:prstGeom>
          <a:noFill/>
        </p:spPr>
        <p:txBody>
          <a:bodyPr wrap="square">
            <a:spAutoFit/>
          </a:bodyPr>
          <a:lstStyle/>
          <a:p>
            <a:pPr algn="ctr">
              <a:lnSpc>
                <a:spcPct val="115000"/>
              </a:lnSpc>
            </a:pPr>
            <a:r>
              <a:rPr lang="en-GB" sz="2800" b="1" dirty="0">
                <a:solidFill>
                  <a:srgbClr val="FFFFFF"/>
                </a:solidFill>
                <a:latin typeface="Cambria"/>
              </a:rPr>
              <a:t>Can temporal video understanding enable a camera to maintain reliable tracks of temporarily occluded road users, without introducing false detections?</a:t>
            </a:r>
          </a:p>
        </p:txBody>
      </p:sp>
      <p:sp>
        <p:nvSpPr>
          <p:cNvPr id="5" name="Rounded Rectangle 4"/>
          <p:cNvSpPr/>
          <p:nvPr/>
        </p:nvSpPr>
        <p:spPr>
          <a:xfrm>
            <a:off x="1737360" y="4389120"/>
            <a:ext cx="8714232" cy="1691640"/>
          </a:xfrm>
          <a:prstGeom prst="roundRect">
            <a:avLst>
              <a:gd name="adj" fmla="val 12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wrap="square" lIns="365760" tIns="201168" rIns="365760" rtlCol="0" anchor="ctr"/>
          <a:lstStyle/>
          <a:p>
            <a:pPr algn="ctr"/>
            <a:r>
              <a:rPr sz="1300" b="1" dirty="0">
                <a:solidFill>
                  <a:srgbClr val="FFA630"/>
                </a:solidFill>
                <a:latin typeface="Calibri"/>
              </a:rPr>
              <a:t>Hypothesis</a:t>
            </a:r>
          </a:p>
          <a:p>
            <a:pPr algn="ctr">
              <a:spcBef>
                <a:spcPts val="600"/>
              </a:spcBef>
            </a:pPr>
            <a:r>
              <a:rPr sz="1500" i="1" dirty="0">
                <a:solidFill>
                  <a:srgbClr val="CADCFC"/>
                </a:solidFill>
                <a:latin typeface="Calibri"/>
              </a:rPr>
              <a:t>A tracker should keep following a hidden object only while something visible actually</a:t>
            </a:r>
            <a:r>
              <a:rPr lang="en-GB" sz="1500" i="1" dirty="0">
                <a:solidFill>
                  <a:srgbClr val="CADCFC"/>
                </a:solidFill>
                <a:latin typeface="Calibri"/>
              </a:rPr>
              <a:t> </a:t>
            </a:r>
            <a:r>
              <a:rPr sz="1500" i="1" dirty="0">
                <a:solidFill>
                  <a:srgbClr val="CADCFC"/>
                </a:solidFill>
                <a:latin typeface="Calibri"/>
              </a:rPr>
              <a:t>explains why it disappeared. Working out where the object went from the thing blocking it should find more of them again — while inventing fewer that were never there — than giving every lost object the same fixed waiting time.</a:t>
            </a:r>
          </a:p>
        </p:txBody>
      </p:sp>
      <p:sp>
        <p:nvSpPr>
          <p:cNvPr id="6" name="TextBox 5"/>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7326" y="1143000"/>
            <a:ext cx="7315200" cy="320040"/>
          </a:xfrm>
          <a:prstGeom prst="rect">
            <a:avLst/>
          </a:prstGeom>
          <a:noFill/>
        </p:spPr>
        <p:txBody>
          <a:bodyPr wrap="square">
            <a:spAutoFit/>
          </a:bodyPr>
          <a:lstStyle/>
          <a:p>
            <a:pPr algn="l"/>
            <a:r>
              <a:rPr sz="1300" b="1" i="0">
                <a:solidFill>
                  <a:srgbClr val="FFA630"/>
                </a:solidFill>
                <a:latin typeface="Calibri"/>
              </a:rPr>
              <a:t>METHODOLOGY</a:t>
            </a:r>
          </a:p>
        </p:txBody>
      </p:sp>
      <p:sp>
        <p:nvSpPr>
          <p:cNvPr id="3" name="TextBox 2"/>
          <p:cNvSpPr txBox="1"/>
          <p:nvPr/>
        </p:nvSpPr>
        <p:spPr>
          <a:xfrm>
            <a:off x="687326" y="1481328"/>
            <a:ext cx="10515600" cy="477054"/>
          </a:xfrm>
          <a:prstGeom prst="rect">
            <a:avLst/>
          </a:prstGeom>
          <a:noFill/>
        </p:spPr>
        <p:txBody>
          <a:bodyPr wrap="square">
            <a:spAutoFit/>
          </a:bodyPr>
          <a:lstStyle/>
          <a:p>
            <a:pPr algn="l"/>
            <a:r>
              <a:rPr sz="2500" b="1" i="0" dirty="0">
                <a:solidFill>
                  <a:srgbClr val="12173A"/>
                </a:solidFill>
                <a:latin typeface="Cambria"/>
              </a:rPr>
              <a:t>Marking Each Stage of the </a:t>
            </a:r>
            <a:r>
              <a:rPr lang="en-GB" sz="2500" b="1" i="0" dirty="0">
                <a:solidFill>
                  <a:srgbClr val="12173A"/>
                </a:solidFill>
                <a:latin typeface="Cambria"/>
              </a:rPr>
              <a:t>Occlusion</a:t>
            </a:r>
            <a:r>
              <a:rPr sz="2500" b="1" i="0" dirty="0">
                <a:solidFill>
                  <a:srgbClr val="12173A"/>
                </a:solidFill>
                <a:latin typeface="Cambria"/>
              </a:rPr>
              <a:t> </a:t>
            </a:r>
            <a:r>
              <a:rPr lang="en-GB" sz="2500" b="1" dirty="0">
                <a:solidFill>
                  <a:srgbClr val="12173A"/>
                </a:solidFill>
                <a:latin typeface="Cambria"/>
              </a:rPr>
              <a:t>M</a:t>
            </a:r>
            <a:r>
              <a:rPr lang="en-GB" sz="2500" b="1" i="0" dirty="0">
                <a:solidFill>
                  <a:srgbClr val="12173A"/>
                </a:solidFill>
                <a:latin typeface="Cambria"/>
              </a:rPr>
              <a:t>anually </a:t>
            </a:r>
            <a:endParaRPr sz="2500" b="1" i="0" dirty="0">
              <a:solidFill>
                <a:srgbClr val="12173A"/>
              </a:solidFill>
              <a:latin typeface="Cambria"/>
            </a:endParaRPr>
          </a:p>
        </p:txBody>
      </p:sp>
      <p:sp>
        <p:nvSpPr>
          <p:cNvPr id="4" name="Rectangle 3"/>
          <p:cNvSpPr/>
          <p:nvPr/>
        </p:nvSpPr>
        <p:spPr>
          <a:xfrm>
            <a:off x="687326" y="2057400"/>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7326" y="2167128"/>
            <a:ext cx="10911840" cy="502920"/>
          </a:xfrm>
          <a:prstGeom prst="rect">
            <a:avLst/>
          </a:prstGeom>
          <a:noFill/>
        </p:spPr>
        <p:txBody>
          <a:bodyPr wrap="square">
            <a:spAutoFit/>
          </a:bodyPr>
          <a:lstStyle/>
          <a:p>
            <a:pPr algn="l"/>
            <a:r>
              <a:rPr sz="1350" b="0" i="0">
                <a:solidFill>
                  <a:srgbClr val="2E3348"/>
                </a:solidFill>
                <a:latin typeface="Calibri"/>
              </a:rPr>
              <a:t>No automated tool identifies the precise moment an object becomes occluded or reappears. Each occlusion sequence in this study was therefore manually reviewed, frame by frame, and divided into five stages before any detector was run.</a:t>
            </a:r>
          </a:p>
        </p:txBody>
      </p:sp>
      <p:sp>
        <p:nvSpPr>
          <p:cNvPr id="16" name="TextBox 15"/>
          <p:cNvSpPr txBox="1"/>
          <p:nvPr/>
        </p:nvSpPr>
        <p:spPr>
          <a:xfrm>
            <a:off x="687326" y="5032056"/>
            <a:ext cx="10911840" cy="365760"/>
          </a:xfrm>
          <a:prstGeom prst="rect">
            <a:avLst/>
          </a:prstGeom>
          <a:noFill/>
        </p:spPr>
        <p:txBody>
          <a:bodyPr wrap="square">
            <a:spAutoFit/>
          </a:bodyPr>
          <a:lstStyle/>
          <a:p>
            <a:pPr algn="ctr"/>
            <a:r>
              <a:rPr sz="1150" b="0" i="1">
                <a:solidFill>
                  <a:srgbClr val="69728C"/>
                </a:solidFill>
                <a:latin typeface="Calibri"/>
              </a:rPr>
              <a:t>This manual staging is what makes the stage-by-stage detection results on the next slide meaningful — each stage boundary reflects a human judgment, not an automatic threshold.</a:t>
            </a:r>
          </a:p>
        </p:txBody>
      </p:sp>
      <p:pic>
        <p:nvPicPr>
          <p:cNvPr id="17" name="Picture 16" descr="1_previous_no_occlusion.jpg"/>
          <p:cNvPicPr>
            <a:picLocks noChangeAspect="1"/>
          </p:cNvPicPr>
          <p:nvPr/>
        </p:nvPicPr>
        <p:blipFill>
          <a:blip r:embed="rId3"/>
          <a:stretch>
            <a:fillRect/>
          </a:stretch>
        </p:blipFill>
        <p:spPr>
          <a:xfrm>
            <a:off x="871732" y="3017520"/>
            <a:ext cx="1874519" cy="1054416"/>
          </a:xfrm>
          <a:prstGeom prst="rect">
            <a:avLst/>
          </a:prstGeom>
          <a:ln w="9525">
            <a:solidFill>
              <a:srgbClr val="DDE2F0"/>
            </a:solidFill>
          </a:ln>
          <a:effectLst>
            <a:outerShdw blurRad="177800" dist="50800" dir="2700000" rotWithShape="0">
              <a:srgbClr val="12173A">
                <a:alpha val="32000"/>
              </a:srgbClr>
            </a:outerShdw>
          </a:effectLst>
        </p:spPr>
      </p:pic>
      <p:sp>
        <p:nvSpPr>
          <p:cNvPr id="18" name="TextBox 17"/>
          <p:cNvSpPr txBox="1"/>
          <p:nvPr/>
        </p:nvSpPr>
        <p:spPr>
          <a:xfrm>
            <a:off x="734572" y="4163376"/>
            <a:ext cx="2148839" cy="274320"/>
          </a:xfrm>
          <a:prstGeom prst="rect">
            <a:avLst/>
          </a:prstGeom>
          <a:noFill/>
        </p:spPr>
        <p:txBody>
          <a:bodyPr wrap="square">
            <a:spAutoFit/>
          </a:bodyPr>
          <a:lstStyle/>
          <a:p>
            <a:pPr algn="ctr"/>
            <a:r>
              <a:rPr sz="1200" b="1" i="0">
                <a:solidFill>
                  <a:srgbClr val="12173A"/>
                </a:solidFill>
                <a:latin typeface="Calibri"/>
              </a:rPr>
              <a:t>1. No Occlusion</a:t>
            </a:r>
          </a:p>
        </p:txBody>
      </p:sp>
      <p:sp>
        <p:nvSpPr>
          <p:cNvPr id="19" name="TextBox 18"/>
          <p:cNvSpPr txBox="1"/>
          <p:nvPr/>
        </p:nvSpPr>
        <p:spPr>
          <a:xfrm>
            <a:off x="734572" y="4455984"/>
            <a:ext cx="2148839" cy="411480"/>
          </a:xfrm>
          <a:prstGeom prst="rect">
            <a:avLst/>
          </a:prstGeom>
          <a:noFill/>
        </p:spPr>
        <p:txBody>
          <a:bodyPr wrap="square">
            <a:spAutoFit/>
          </a:bodyPr>
          <a:lstStyle/>
          <a:p>
            <a:pPr algn="ctr">
              <a:lnSpc>
                <a:spcPct val="100000"/>
              </a:lnSpc>
            </a:pPr>
            <a:r>
              <a:rPr sz="1000" b="0" i="0">
                <a:solidFill>
                  <a:srgbClr val="69728C"/>
                </a:solidFill>
                <a:latin typeface="Calibri"/>
              </a:rPr>
              <a:t>Target fully visible</a:t>
            </a:r>
          </a:p>
        </p:txBody>
      </p:sp>
      <p:pic>
        <p:nvPicPr>
          <p:cNvPr id="20" name="Picture 19" descr="2_first_partial_occlusion.jpg"/>
          <p:cNvPicPr>
            <a:picLocks noChangeAspect="1"/>
          </p:cNvPicPr>
          <p:nvPr/>
        </p:nvPicPr>
        <p:blipFill>
          <a:blip r:embed="rId4"/>
          <a:stretch>
            <a:fillRect/>
          </a:stretch>
        </p:blipFill>
        <p:spPr>
          <a:xfrm>
            <a:off x="3038859" y="3017520"/>
            <a:ext cx="1874519" cy="1054416"/>
          </a:xfrm>
          <a:prstGeom prst="rect">
            <a:avLst/>
          </a:prstGeom>
          <a:ln w="9525">
            <a:solidFill>
              <a:srgbClr val="DDE2F0"/>
            </a:solidFill>
          </a:ln>
          <a:effectLst>
            <a:outerShdw blurRad="177800" dist="50800" dir="2700000" rotWithShape="0">
              <a:srgbClr val="12173A">
                <a:alpha val="32000"/>
              </a:srgbClr>
            </a:outerShdw>
          </a:effectLst>
        </p:spPr>
      </p:pic>
      <p:sp>
        <p:nvSpPr>
          <p:cNvPr id="21" name="TextBox 20"/>
          <p:cNvSpPr txBox="1"/>
          <p:nvPr/>
        </p:nvSpPr>
        <p:spPr>
          <a:xfrm>
            <a:off x="2746251" y="3407568"/>
            <a:ext cx="292608" cy="274320"/>
          </a:xfrm>
          <a:prstGeom prst="rect">
            <a:avLst/>
          </a:prstGeom>
          <a:noFill/>
        </p:spPr>
        <p:txBody>
          <a:bodyPr wrap="square">
            <a:spAutoFit/>
          </a:bodyPr>
          <a:lstStyle/>
          <a:p>
            <a:pPr algn="ctr"/>
            <a:r>
              <a:rPr sz="1800" b="1" i="0">
                <a:solidFill>
                  <a:srgbClr val="69728C"/>
                </a:solidFill>
                <a:latin typeface="Calibri"/>
              </a:rPr>
              <a:t>→</a:t>
            </a:r>
          </a:p>
        </p:txBody>
      </p:sp>
      <p:sp>
        <p:nvSpPr>
          <p:cNvPr id="22" name="TextBox 21"/>
          <p:cNvSpPr txBox="1"/>
          <p:nvPr/>
        </p:nvSpPr>
        <p:spPr>
          <a:xfrm>
            <a:off x="2901699" y="4163376"/>
            <a:ext cx="2148839" cy="274320"/>
          </a:xfrm>
          <a:prstGeom prst="rect">
            <a:avLst/>
          </a:prstGeom>
          <a:noFill/>
        </p:spPr>
        <p:txBody>
          <a:bodyPr wrap="square">
            <a:spAutoFit/>
          </a:bodyPr>
          <a:lstStyle/>
          <a:p>
            <a:pPr algn="ctr"/>
            <a:r>
              <a:rPr sz="1200" b="1" i="0">
                <a:solidFill>
                  <a:srgbClr val="12173A"/>
                </a:solidFill>
                <a:latin typeface="Calibri"/>
              </a:rPr>
              <a:t>2. First Partial</a:t>
            </a:r>
          </a:p>
        </p:txBody>
      </p:sp>
      <p:sp>
        <p:nvSpPr>
          <p:cNvPr id="23" name="TextBox 22"/>
          <p:cNvSpPr txBox="1"/>
          <p:nvPr/>
        </p:nvSpPr>
        <p:spPr>
          <a:xfrm>
            <a:off x="2901699" y="4455984"/>
            <a:ext cx="2148839" cy="411480"/>
          </a:xfrm>
          <a:prstGeom prst="rect">
            <a:avLst/>
          </a:prstGeom>
          <a:noFill/>
        </p:spPr>
        <p:txBody>
          <a:bodyPr wrap="square">
            <a:spAutoFit/>
          </a:bodyPr>
          <a:lstStyle/>
          <a:p>
            <a:pPr algn="ctr">
              <a:lnSpc>
                <a:spcPct val="100000"/>
              </a:lnSpc>
            </a:pPr>
            <a:r>
              <a:rPr sz="1000" b="0" i="0">
                <a:solidFill>
                  <a:srgbClr val="69728C"/>
                </a:solidFill>
                <a:latin typeface="Calibri"/>
              </a:rPr>
              <a:t>Occluder begins covering</a:t>
            </a:r>
          </a:p>
        </p:txBody>
      </p:sp>
      <p:pic>
        <p:nvPicPr>
          <p:cNvPr id="24" name="Picture 23" descr="3_full_occlusion.jpg"/>
          <p:cNvPicPr>
            <a:picLocks noChangeAspect="1"/>
          </p:cNvPicPr>
          <p:nvPr/>
        </p:nvPicPr>
        <p:blipFill>
          <a:blip r:embed="rId5"/>
          <a:stretch>
            <a:fillRect/>
          </a:stretch>
        </p:blipFill>
        <p:spPr>
          <a:xfrm>
            <a:off x="5205986" y="3017520"/>
            <a:ext cx="1874519" cy="1054416"/>
          </a:xfrm>
          <a:prstGeom prst="rect">
            <a:avLst/>
          </a:prstGeom>
          <a:ln w="9525">
            <a:solidFill>
              <a:srgbClr val="DDE2F0"/>
            </a:solidFill>
          </a:ln>
          <a:effectLst>
            <a:outerShdw blurRad="177800" dist="50800" dir="2700000" rotWithShape="0">
              <a:srgbClr val="12173A">
                <a:alpha val="32000"/>
              </a:srgbClr>
            </a:outerShdw>
          </a:effectLst>
        </p:spPr>
      </p:pic>
      <p:sp>
        <p:nvSpPr>
          <p:cNvPr id="25" name="TextBox 24"/>
          <p:cNvSpPr txBox="1"/>
          <p:nvPr/>
        </p:nvSpPr>
        <p:spPr>
          <a:xfrm>
            <a:off x="4913378" y="3407568"/>
            <a:ext cx="292608" cy="274320"/>
          </a:xfrm>
          <a:prstGeom prst="rect">
            <a:avLst/>
          </a:prstGeom>
          <a:noFill/>
        </p:spPr>
        <p:txBody>
          <a:bodyPr wrap="square">
            <a:spAutoFit/>
          </a:bodyPr>
          <a:lstStyle/>
          <a:p>
            <a:pPr algn="ctr"/>
            <a:r>
              <a:rPr sz="1800" b="1" i="0">
                <a:solidFill>
                  <a:srgbClr val="69728C"/>
                </a:solidFill>
                <a:latin typeface="Calibri"/>
              </a:rPr>
              <a:t>→</a:t>
            </a:r>
          </a:p>
        </p:txBody>
      </p:sp>
      <p:sp>
        <p:nvSpPr>
          <p:cNvPr id="26" name="TextBox 25"/>
          <p:cNvSpPr txBox="1"/>
          <p:nvPr/>
        </p:nvSpPr>
        <p:spPr>
          <a:xfrm>
            <a:off x="5068826" y="4163376"/>
            <a:ext cx="2148839" cy="274320"/>
          </a:xfrm>
          <a:prstGeom prst="rect">
            <a:avLst/>
          </a:prstGeom>
          <a:noFill/>
        </p:spPr>
        <p:txBody>
          <a:bodyPr wrap="square">
            <a:spAutoFit/>
          </a:bodyPr>
          <a:lstStyle/>
          <a:p>
            <a:pPr algn="ctr"/>
            <a:r>
              <a:rPr sz="1200" b="1" i="0">
                <a:solidFill>
                  <a:srgbClr val="12173A"/>
                </a:solidFill>
                <a:latin typeface="Calibri"/>
              </a:rPr>
              <a:t>3. Full Occlusion</a:t>
            </a:r>
          </a:p>
        </p:txBody>
      </p:sp>
      <p:sp>
        <p:nvSpPr>
          <p:cNvPr id="27" name="TextBox 26"/>
          <p:cNvSpPr txBox="1"/>
          <p:nvPr/>
        </p:nvSpPr>
        <p:spPr>
          <a:xfrm>
            <a:off x="5068826" y="4455984"/>
            <a:ext cx="2148839" cy="411480"/>
          </a:xfrm>
          <a:prstGeom prst="rect">
            <a:avLst/>
          </a:prstGeom>
          <a:noFill/>
        </p:spPr>
        <p:txBody>
          <a:bodyPr wrap="square">
            <a:spAutoFit/>
          </a:bodyPr>
          <a:lstStyle/>
          <a:p>
            <a:pPr algn="ctr">
              <a:lnSpc>
                <a:spcPct val="100000"/>
              </a:lnSpc>
            </a:pPr>
            <a:r>
              <a:rPr sz="1000" b="0" i="0">
                <a:solidFill>
                  <a:srgbClr val="69728C"/>
                </a:solidFill>
                <a:latin typeface="Calibri"/>
              </a:rPr>
              <a:t>Target entirely blocked</a:t>
            </a:r>
          </a:p>
        </p:txBody>
      </p:sp>
      <p:pic>
        <p:nvPicPr>
          <p:cNvPr id="28" name="Picture 27" descr="4_first_partial_appearance.jpg"/>
          <p:cNvPicPr>
            <a:picLocks noChangeAspect="1"/>
          </p:cNvPicPr>
          <p:nvPr/>
        </p:nvPicPr>
        <p:blipFill>
          <a:blip r:embed="rId6"/>
          <a:stretch>
            <a:fillRect/>
          </a:stretch>
        </p:blipFill>
        <p:spPr>
          <a:xfrm>
            <a:off x="7373113" y="3017520"/>
            <a:ext cx="1874519" cy="1054416"/>
          </a:xfrm>
          <a:prstGeom prst="rect">
            <a:avLst/>
          </a:prstGeom>
          <a:ln w="9525">
            <a:solidFill>
              <a:srgbClr val="DDE2F0"/>
            </a:solidFill>
          </a:ln>
          <a:effectLst>
            <a:outerShdw blurRad="177800" dist="50800" dir="2700000" rotWithShape="0">
              <a:srgbClr val="12173A">
                <a:alpha val="32000"/>
              </a:srgbClr>
            </a:outerShdw>
          </a:effectLst>
        </p:spPr>
      </p:pic>
      <p:sp>
        <p:nvSpPr>
          <p:cNvPr id="29" name="TextBox 28"/>
          <p:cNvSpPr txBox="1"/>
          <p:nvPr/>
        </p:nvSpPr>
        <p:spPr>
          <a:xfrm>
            <a:off x="7080505" y="3407568"/>
            <a:ext cx="292608" cy="274320"/>
          </a:xfrm>
          <a:prstGeom prst="rect">
            <a:avLst/>
          </a:prstGeom>
          <a:noFill/>
        </p:spPr>
        <p:txBody>
          <a:bodyPr wrap="square">
            <a:spAutoFit/>
          </a:bodyPr>
          <a:lstStyle/>
          <a:p>
            <a:pPr algn="ctr"/>
            <a:r>
              <a:rPr sz="1800" b="1" i="0">
                <a:solidFill>
                  <a:srgbClr val="69728C"/>
                </a:solidFill>
                <a:latin typeface="Calibri"/>
              </a:rPr>
              <a:t>→</a:t>
            </a:r>
          </a:p>
        </p:txBody>
      </p:sp>
      <p:sp>
        <p:nvSpPr>
          <p:cNvPr id="30" name="TextBox 29"/>
          <p:cNvSpPr txBox="1"/>
          <p:nvPr/>
        </p:nvSpPr>
        <p:spPr>
          <a:xfrm>
            <a:off x="7235953" y="4163376"/>
            <a:ext cx="2148839" cy="274320"/>
          </a:xfrm>
          <a:prstGeom prst="rect">
            <a:avLst/>
          </a:prstGeom>
          <a:noFill/>
        </p:spPr>
        <p:txBody>
          <a:bodyPr wrap="square">
            <a:spAutoFit/>
          </a:bodyPr>
          <a:lstStyle/>
          <a:p>
            <a:pPr algn="ctr"/>
            <a:r>
              <a:rPr sz="1200" b="1" i="0">
                <a:solidFill>
                  <a:srgbClr val="12173A"/>
                </a:solidFill>
                <a:latin typeface="Calibri"/>
              </a:rPr>
              <a:t>4. First Reappearance</a:t>
            </a:r>
          </a:p>
        </p:txBody>
      </p:sp>
      <p:sp>
        <p:nvSpPr>
          <p:cNvPr id="31" name="TextBox 30"/>
          <p:cNvSpPr txBox="1"/>
          <p:nvPr/>
        </p:nvSpPr>
        <p:spPr>
          <a:xfrm>
            <a:off x="7235953" y="4455984"/>
            <a:ext cx="2148839" cy="411480"/>
          </a:xfrm>
          <a:prstGeom prst="rect">
            <a:avLst/>
          </a:prstGeom>
          <a:noFill/>
        </p:spPr>
        <p:txBody>
          <a:bodyPr wrap="square">
            <a:spAutoFit/>
          </a:bodyPr>
          <a:lstStyle/>
          <a:p>
            <a:pPr algn="ctr">
              <a:lnSpc>
                <a:spcPct val="100000"/>
              </a:lnSpc>
            </a:pPr>
            <a:r>
              <a:rPr sz="1000" b="0" i="0">
                <a:solidFill>
                  <a:srgbClr val="69728C"/>
                </a:solidFill>
                <a:latin typeface="Calibri"/>
              </a:rPr>
              <a:t>Target partially visible</a:t>
            </a:r>
          </a:p>
        </p:txBody>
      </p:sp>
      <p:pic>
        <p:nvPicPr>
          <p:cNvPr id="32" name="Picture 31" descr="5_full_appearance.jpg"/>
          <p:cNvPicPr>
            <a:picLocks noChangeAspect="1"/>
          </p:cNvPicPr>
          <p:nvPr/>
        </p:nvPicPr>
        <p:blipFill>
          <a:blip r:embed="rId7"/>
          <a:stretch>
            <a:fillRect/>
          </a:stretch>
        </p:blipFill>
        <p:spPr>
          <a:xfrm>
            <a:off x="9540240" y="3017520"/>
            <a:ext cx="1874519" cy="1054416"/>
          </a:xfrm>
          <a:prstGeom prst="rect">
            <a:avLst/>
          </a:prstGeom>
          <a:ln w="9525">
            <a:solidFill>
              <a:srgbClr val="DDE2F0"/>
            </a:solidFill>
          </a:ln>
          <a:effectLst>
            <a:outerShdw blurRad="177800" dist="50800" dir="2700000" rotWithShape="0">
              <a:srgbClr val="12173A">
                <a:alpha val="32000"/>
              </a:srgbClr>
            </a:outerShdw>
          </a:effectLst>
        </p:spPr>
      </p:pic>
      <p:sp>
        <p:nvSpPr>
          <p:cNvPr id="33" name="TextBox 32"/>
          <p:cNvSpPr txBox="1"/>
          <p:nvPr/>
        </p:nvSpPr>
        <p:spPr>
          <a:xfrm>
            <a:off x="9247632" y="3407568"/>
            <a:ext cx="292608" cy="274320"/>
          </a:xfrm>
          <a:prstGeom prst="rect">
            <a:avLst/>
          </a:prstGeom>
          <a:noFill/>
        </p:spPr>
        <p:txBody>
          <a:bodyPr wrap="square">
            <a:spAutoFit/>
          </a:bodyPr>
          <a:lstStyle/>
          <a:p>
            <a:pPr algn="ctr"/>
            <a:r>
              <a:rPr sz="1800" b="1" i="0">
                <a:solidFill>
                  <a:srgbClr val="69728C"/>
                </a:solidFill>
                <a:latin typeface="Calibri"/>
              </a:rPr>
              <a:t>→</a:t>
            </a:r>
          </a:p>
        </p:txBody>
      </p:sp>
      <p:sp>
        <p:nvSpPr>
          <p:cNvPr id="34" name="TextBox 33"/>
          <p:cNvSpPr txBox="1"/>
          <p:nvPr/>
        </p:nvSpPr>
        <p:spPr>
          <a:xfrm>
            <a:off x="9403080" y="4163376"/>
            <a:ext cx="2148839" cy="274320"/>
          </a:xfrm>
          <a:prstGeom prst="rect">
            <a:avLst/>
          </a:prstGeom>
          <a:noFill/>
        </p:spPr>
        <p:txBody>
          <a:bodyPr wrap="square">
            <a:spAutoFit/>
          </a:bodyPr>
          <a:lstStyle/>
          <a:p>
            <a:pPr algn="ctr"/>
            <a:r>
              <a:rPr sz="1200" b="1" i="0">
                <a:solidFill>
                  <a:srgbClr val="12173A"/>
                </a:solidFill>
                <a:latin typeface="Calibri"/>
              </a:rPr>
              <a:t>5. Full Appearance</a:t>
            </a:r>
          </a:p>
        </p:txBody>
      </p:sp>
      <p:sp>
        <p:nvSpPr>
          <p:cNvPr id="35" name="TextBox 34"/>
          <p:cNvSpPr txBox="1"/>
          <p:nvPr/>
        </p:nvSpPr>
        <p:spPr>
          <a:xfrm>
            <a:off x="9403080" y="4455984"/>
            <a:ext cx="2148839" cy="411480"/>
          </a:xfrm>
          <a:prstGeom prst="rect">
            <a:avLst/>
          </a:prstGeom>
          <a:noFill/>
        </p:spPr>
        <p:txBody>
          <a:bodyPr wrap="square">
            <a:spAutoFit/>
          </a:bodyPr>
          <a:lstStyle/>
          <a:p>
            <a:pPr algn="ctr">
              <a:lnSpc>
                <a:spcPct val="100000"/>
              </a:lnSpc>
            </a:pPr>
            <a:r>
              <a:rPr sz="1000" b="0" i="0">
                <a:solidFill>
                  <a:srgbClr val="69728C"/>
                </a:solidFill>
                <a:latin typeface="Calibri"/>
              </a:rPr>
              <a:t>Target fully visible again</a:t>
            </a:r>
          </a:p>
        </p:txBody>
      </p:sp>
      <p:sp>
        <p:nvSpPr>
          <p:cNvPr id="7" name="Rectangle 6">
            <a:extLst>
              <a:ext uri="{FF2B5EF4-FFF2-40B4-BE49-F238E27FC236}">
                <a16:creationId xmlns:a16="http://schemas.microsoft.com/office/drawing/2014/main" id="{DBBEC2CC-E5B9-ADA9-B917-D77FF61C7198}"/>
              </a:ext>
            </a:extLst>
          </p:cNvPr>
          <p:cNvSpPr/>
          <p:nvPr/>
        </p:nvSpPr>
        <p:spPr>
          <a:xfrm>
            <a:off x="1" y="6288436"/>
            <a:ext cx="12192000" cy="569564"/>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5</a:t>
            </a:r>
          </a:p>
        </p:txBody>
      </p:sp>
    </p:spTree>
    <p:extLst>
      <p:ext uri="{BB962C8B-B14F-4D97-AF65-F5344CB8AC3E}">
        <p14:creationId xmlns:p14="http://schemas.microsoft.com/office/powerpoint/2010/main" val="3960727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7315200" cy="320040"/>
          </a:xfrm>
          <a:prstGeom prst="rect">
            <a:avLst/>
          </a:prstGeom>
          <a:noFill/>
        </p:spPr>
        <p:txBody>
          <a:bodyPr wrap="square">
            <a:spAutoFit/>
          </a:bodyPr>
          <a:lstStyle/>
          <a:p>
            <a:pPr algn="l"/>
            <a:r>
              <a:rPr sz="1300" b="1" i="0">
                <a:solidFill>
                  <a:srgbClr val="FFA630"/>
                </a:solidFill>
                <a:latin typeface="Calibri"/>
              </a:rPr>
              <a:t>STEP 1 · THE DETECTOR ALONE</a:t>
            </a:r>
          </a:p>
        </p:txBody>
      </p:sp>
      <p:sp>
        <p:nvSpPr>
          <p:cNvPr id="3" name="TextBox 2"/>
          <p:cNvSpPr txBox="1"/>
          <p:nvPr/>
        </p:nvSpPr>
        <p:spPr>
          <a:xfrm>
            <a:off x="640080" y="749808"/>
            <a:ext cx="10881360" cy="477054"/>
          </a:xfrm>
          <a:prstGeom prst="rect">
            <a:avLst/>
          </a:prstGeom>
          <a:noFill/>
        </p:spPr>
        <p:txBody>
          <a:bodyPr wrap="square">
            <a:spAutoFit/>
          </a:bodyPr>
          <a:lstStyle/>
          <a:p>
            <a:r>
              <a:rPr lang="en-GB" sz="2500" b="1" dirty="0">
                <a:solidFill>
                  <a:srgbClr val="12173A"/>
                </a:solidFill>
                <a:latin typeface="Cambria"/>
              </a:rPr>
              <a:t>Detection Performance Across Occlusion Stages</a:t>
            </a:r>
          </a:p>
        </p:txBody>
      </p:sp>
      <p:sp>
        <p:nvSpPr>
          <p:cNvPr id="4" name="Rectangle 3"/>
          <p:cNvSpPr/>
          <p:nvPr/>
        </p:nvSpPr>
        <p:spPr>
          <a:xfrm>
            <a:off x="640080" y="129844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911535" cy="365760"/>
          </a:xfrm>
          <a:prstGeom prst="rect">
            <a:avLst/>
          </a:prstGeom>
          <a:noFill/>
        </p:spPr>
        <p:txBody>
          <a:bodyPr wrap="square">
            <a:spAutoFit/>
          </a:bodyPr>
          <a:lstStyle/>
          <a:p>
            <a:pPr algn="l"/>
            <a:r>
              <a:rPr sz="1350" b="0" i="0">
                <a:solidFill>
                  <a:srgbClr val="2E3348"/>
                </a:solidFill>
                <a:latin typeface="Calibri"/>
              </a:rPr>
              <a:t>Pretrained YOLO nano, CPU-only, on 8 real nuScenes occlusion sequences — tracked through 5 stages, from clearly visible to fully hidden and back.</a:t>
            </a:r>
          </a:p>
        </p:txBody>
      </p:sp>
      <p:graphicFrame>
        <p:nvGraphicFramePr>
          <p:cNvPr id="6" name="Chart 5"/>
          <p:cNvGraphicFramePr>
            <a:graphicFrameLocks noGrp="1"/>
          </p:cNvGraphicFramePr>
          <p:nvPr/>
        </p:nvGraphicFramePr>
        <p:xfrm>
          <a:off x="640080" y="1783080"/>
          <a:ext cx="534924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p:cNvGraphicFramePr>
            <a:graphicFrameLocks noGrp="1"/>
          </p:cNvGraphicFramePr>
          <p:nvPr/>
        </p:nvGraphicFramePr>
        <p:xfrm>
          <a:off x="6263640" y="1783080"/>
          <a:ext cx="5349240" cy="2286000"/>
        </p:xfrm>
        <a:graphic>
          <a:graphicData uri="http://schemas.openxmlformats.org/drawingml/2006/chart">
            <c:chart xmlns:c="http://schemas.openxmlformats.org/drawingml/2006/chart" xmlns:r="http://schemas.openxmlformats.org/officeDocument/2006/relationships" r:id="rId4"/>
          </a:graphicData>
        </a:graphic>
      </p:graphicFrame>
      <p:pic>
        <p:nvPicPr>
          <p:cNvPr id="8" name="Picture 7" descr="assets_yolo_only_crop_sample_003.jpg"/>
          <p:cNvPicPr>
            <a:picLocks noChangeAspect="1"/>
          </p:cNvPicPr>
          <p:nvPr/>
        </p:nvPicPr>
        <p:blipFill>
          <a:blip r:embed="rId5"/>
          <a:stretch>
            <a:fillRect/>
          </a:stretch>
        </p:blipFill>
        <p:spPr>
          <a:xfrm>
            <a:off x="640080" y="4206240"/>
            <a:ext cx="3017520" cy="1697355"/>
          </a:xfrm>
          <a:prstGeom prst="rect">
            <a:avLst/>
          </a:prstGeom>
          <a:ln w="9525">
            <a:solidFill>
              <a:srgbClr val="DDE2F0"/>
            </a:solidFill>
          </a:ln>
          <a:effectLst>
            <a:outerShdw blurRad="177800" dist="50800" dir="2700000" rotWithShape="0">
              <a:srgbClr val="12173A">
                <a:alpha val="32000"/>
              </a:srgbClr>
            </a:outerShdw>
          </a:effectLst>
        </p:spPr>
      </p:pic>
      <p:sp>
        <p:nvSpPr>
          <p:cNvPr id="9" name="TextBox 8"/>
          <p:cNvSpPr txBox="1"/>
          <p:nvPr/>
        </p:nvSpPr>
        <p:spPr>
          <a:xfrm>
            <a:off x="640080" y="5958459"/>
            <a:ext cx="3017520" cy="548640"/>
          </a:xfrm>
          <a:prstGeom prst="rect">
            <a:avLst/>
          </a:prstGeom>
          <a:noFill/>
        </p:spPr>
        <p:txBody>
          <a:bodyPr wrap="square">
            <a:spAutoFit/>
          </a:bodyPr>
          <a:lstStyle/>
          <a:p>
            <a:pPr algn="ctr"/>
            <a:r>
              <a:rPr sz="1050" b="0" i="1">
                <a:solidFill>
                  <a:srgbClr val="69728C"/>
                </a:solidFill>
                <a:latin typeface="Calibri"/>
              </a:rPr>
              <a:t>Full occlusion, sample_003: the detector produces no bounding box for the target. This reflects a missed detection, not a misclassification.</a:t>
            </a:r>
          </a:p>
        </p:txBody>
      </p:sp>
      <p:sp>
        <p:nvSpPr>
          <p:cNvPr id="10" name="Rounded Rectangle 9"/>
          <p:cNvSpPr/>
          <p:nvPr/>
        </p:nvSpPr>
        <p:spPr>
          <a:xfrm>
            <a:off x="3931920" y="4494276"/>
            <a:ext cx="7619695" cy="1188720"/>
          </a:xfrm>
          <a:prstGeom prst="roundRect">
            <a:avLst>
              <a:gd name="adj" fmla="val 10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3919220" y="4746080"/>
            <a:ext cx="2539898" cy="430887"/>
          </a:xfrm>
          <a:prstGeom prst="rect">
            <a:avLst/>
          </a:prstGeom>
          <a:noFill/>
        </p:spPr>
        <p:txBody>
          <a:bodyPr wrap="square">
            <a:spAutoFit/>
          </a:bodyPr>
          <a:lstStyle/>
          <a:p>
            <a:pPr algn="ctr"/>
            <a:r>
              <a:rPr sz="2200" b="1" i="0" dirty="0">
                <a:solidFill>
                  <a:srgbClr val="FFA630"/>
                </a:solidFill>
                <a:latin typeface="Cambria"/>
              </a:rPr>
              <a:t>100% → 1</a:t>
            </a:r>
            <a:r>
              <a:rPr lang="en-GB" sz="2200" b="1" i="0" dirty="0">
                <a:solidFill>
                  <a:srgbClr val="FFA630"/>
                </a:solidFill>
                <a:latin typeface="Cambria"/>
              </a:rPr>
              <a:t>3</a:t>
            </a:r>
            <a:r>
              <a:rPr sz="2200" b="1" i="0" dirty="0">
                <a:solidFill>
                  <a:srgbClr val="FFA630"/>
                </a:solidFill>
                <a:latin typeface="Cambria"/>
              </a:rPr>
              <a:t>%</a:t>
            </a:r>
          </a:p>
        </p:txBody>
      </p:sp>
      <p:sp>
        <p:nvSpPr>
          <p:cNvPr id="12" name="TextBox 11"/>
          <p:cNvSpPr txBox="1"/>
          <p:nvPr/>
        </p:nvSpPr>
        <p:spPr>
          <a:xfrm>
            <a:off x="4069080" y="5311602"/>
            <a:ext cx="2265578" cy="320040"/>
          </a:xfrm>
          <a:prstGeom prst="rect">
            <a:avLst/>
          </a:prstGeom>
          <a:noFill/>
        </p:spPr>
        <p:txBody>
          <a:bodyPr wrap="square">
            <a:spAutoFit/>
          </a:bodyPr>
          <a:lstStyle/>
          <a:p>
            <a:pPr algn="ctr">
              <a:lnSpc>
                <a:spcPct val="105000"/>
              </a:lnSpc>
            </a:pPr>
            <a:r>
              <a:rPr sz="1050" b="0" i="0" dirty="0">
                <a:solidFill>
                  <a:srgbClr val="CADCFC"/>
                </a:solidFill>
                <a:latin typeface="Calibri"/>
              </a:rPr>
              <a:t>detection rate at full occlusion</a:t>
            </a:r>
          </a:p>
        </p:txBody>
      </p:sp>
      <p:sp>
        <p:nvSpPr>
          <p:cNvPr id="13" name="TextBox 12"/>
          <p:cNvSpPr txBox="1"/>
          <p:nvPr/>
        </p:nvSpPr>
        <p:spPr>
          <a:xfrm>
            <a:off x="6459118" y="4734877"/>
            <a:ext cx="2539898" cy="640080"/>
          </a:xfrm>
          <a:prstGeom prst="rect">
            <a:avLst/>
          </a:prstGeom>
          <a:noFill/>
        </p:spPr>
        <p:txBody>
          <a:bodyPr wrap="square">
            <a:spAutoFit/>
          </a:bodyPr>
          <a:lstStyle/>
          <a:p>
            <a:pPr algn="ctr"/>
            <a:r>
              <a:rPr sz="2200" b="1" i="0" dirty="0">
                <a:solidFill>
                  <a:srgbClr val="FFA630"/>
                </a:solidFill>
                <a:latin typeface="Cambria"/>
              </a:rPr>
              <a:t>0.77 → 0.03</a:t>
            </a:r>
          </a:p>
        </p:txBody>
      </p:sp>
      <p:sp>
        <p:nvSpPr>
          <p:cNvPr id="14" name="TextBox 13"/>
          <p:cNvSpPr txBox="1"/>
          <p:nvPr/>
        </p:nvSpPr>
        <p:spPr>
          <a:xfrm>
            <a:off x="6608978" y="5311602"/>
            <a:ext cx="2265578" cy="320040"/>
          </a:xfrm>
          <a:prstGeom prst="rect">
            <a:avLst/>
          </a:prstGeom>
          <a:noFill/>
        </p:spPr>
        <p:txBody>
          <a:bodyPr wrap="square">
            <a:spAutoFit/>
          </a:bodyPr>
          <a:lstStyle/>
          <a:p>
            <a:pPr algn="ctr">
              <a:lnSpc>
                <a:spcPct val="105000"/>
              </a:lnSpc>
            </a:pPr>
            <a:r>
              <a:rPr sz="1050" b="0" i="0" dirty="0">
                <a:solidFill>
                  <a:srgbClr val="CADCFC"/>
                </a:solidFill>
                <a:latin typeface="Calibri"/>
              </a:rPr>
              <a:t>mean confidence at full occlusion</a:t>
            </a:r>
          </a:p>
        </p:txBody>
      </p:sp>
      <p:sp>
        <p:nvSpPr>
          <p:cNvPr id="15" name="Rectangle 14"/>
          <p:cNvSpPr/>
          <p:nvPr/>
        </p:nvSpPr>
        <p:spPr>
          <a:xfrm>
            <a:off x="6471818" y="4407408"/>
            <a:ext cx="12700" cy="78638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11716" y="4690872"/>
            <a:ext cx="2539898" cy="640080"/>
          </a:xfrm>
          <a:prstGeom prst="rect">
            <a:avLst/>
          </a:prstGeom>
          <a:noFill/>
        </p:spPr>
        <p:txBody>
          <a:bodyPr wrap="square">
            <a:spAutoFit/>
          </a:bodyPr>
          <a:lstStyle/>
          <a:p>
            <a:pPr algn="ctr"/>
            <a:r>
              <a:rPr sz="2200" b="1" i="0" dirty="0">
                <a:solidFill>
                  <a:srgbClr val="FFA630"/>
                </a:solidFill>
                <a:latin typeface="Cambria"/>
              </a:rPr>
              <a:t>100%</a:t>
            </a:r>
          </a:p>
        </p:txBody>
      </p:sp>
      <p:sp>
        <p:nvSpPr>
          <p:cNvPr id="17" name="TextBox 16"/>
          <p:cNvSpPr txBox="1"/>
          <p:nvPr/>
        </p:nvSpPr>
        <p:spPr>
          <a:xfrm>
            <a:off x="9148876" y="5288781"/>
            <a:ext cx="2265578" cy="320040"/>
          </a:xfrm>
          <a:prstGeom prst="rect">
            <a:avLst/>
          </a:prstGeom>
          <a:noFill/>
        </p:spPr>
        <p:txBody>
          <a:bodyPr wrap="square">
            <a:spAutoFit/>
          </a:bodyPr>
          <a:lstStyle/>
          <a:p>
            <a:pPr algn="ctr">
              <a:lnSpc>
                <a:spcPct val="105000"/>
              </a:lnSpc>
            </a:pPr>
            <a:r>
              <a:rPr sz="1050" b="0" i="0" dirty="0">
                <a:solidFill>
                  <a:srgbClr val="CADCFC"/>
                </a:solidFill>
                <a:latin typeface="Calibri"/>
              </a:rPr>
              <a:t>correct class whenever detected</a:t>
            </a:r>
          </a:p>
        </p:txBody>
      </p:sp>
      <p:sp>
        <p:nvSpPr>
          <p:cNvPr id="18" name="Rectangle 17"/>
          <p:cNvSpPr/>
          <p:nvPr/>
        </p:nvSpPr>
        <p:spPr>
          <a:xfrm>
            <a:off x="9011716" y="4407408"/>
            <a:ext cx="12700" cy="78638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63818" y="5716456"/>
            <a:ext cx="7619695" cy="365760"/>
          </a:xfrm>
          <a:prstGeom prst="rect">
            <a:avLst/>
          </a:prstGeom>
          <a:noFill/>
        </p:spPr>
        <p:txBody>
          <a:bodyPr wrap="square">
            <a:spAutoFit/>
          </a:bodyPr>
          <a:lstStyle/>
          <a:p>
            <a:pPr algn="l"/>
            <a:r>
              <a:rPr sz="1100" b="0" i="1" dirty="0">
                <a:solidFill>
                  <a:srgbClr val="69728C"/>
                </a:solidFill>
                <a:latin typeface="Calibri"/>
              </a:rPr>
              <a:t>Partial-occlusion stages have small sample sizes (n=2-3) — interpret with caution.</a:t>
            </a:r>
          </a:p>
        </p:txBody>
      </p:sp>
      <p:sp>
        <p:nvSpPr>
          <p:cNvPr id="20" name="TextBox 19"/>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6</a:t>
            </a:r>
          </a:p>
        </p:txBody>
      </p:sp>
    </p:spTree>
    <p:extLst>
      <p:ext uri="{BB962C8B-B14F-4D97-AF65-F5344CB8AC3E}">
        <p14:creationId xmlns:p14="http://schemas.microsoft.com/office/powerpoint/2010/main" val="187489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7315200" cy="320040"/>
          </a:xfrm>
          <a:prstGeom prst="rect">
            <a:avLst/>
          </a:prstGeom>
          <a:noFill/>
        </p:spPr>
        <p:txBody>
          <a:bodyPr wrap="square">
            <a:spAutoFit/>
          </a:bodyPr>
          <a:lstStyle/>
          <a:p>
            <a:pPr algn="l"/>
            <a:r>
              <a:rPr sz="1300" b="1" i="0">
                <a:solidFill>
                  <a:srgbClr val="FFA630"/>
                </a:solidFill>
                <a:latin typeface="Calibri"/>
              </a:rPr>
              <a:t>STEP 2 · REMEMBERING THE LAST BOX</a:t>
            </a:r>
          </a:p>
        </p:txBody>
      </p:sp>
      <p:sp>
        <p:nvSpPr>
          <p:cNvPr id="3" name="TextBox 2"/>
          <p:cNvSpPr txBox="1"/>
          <p:nvPr/>
        </p:nvSpPr>
        <p:spPr>
          <a:xfrm>
            <a:off x="640080" y="749808"/>
            <a:ext cx="10881360" cy="477054"/>
          </a:xfrm>
          <a:prstGeom prst="rect">
            <a:avLst/>
          </a:prstGeom>
          <a:noFill/>
        </p:spPr>
        <p:txBody>
          <a:bodyPr wrap="square">
            <a:spAutoFit/>
          </a:bodyPr>
          <a:lstStyle/>
          <a:p>
            <a:pPr algn="l"/>
            <a:r>
              <a:rPr lang="en-GB" sz="2500" b="1" i="0" dirty="0">
                <a:solidFill>
                  <a:srgbClr val="12173A"/>
                </a:solidFill>
                <a:latin typeface="Cambria"/>
              </a:rPr>
              <a:t>Baseline Approach</a:t>
            </a:r>
            <a:r>
              <a:rPr sz="2500" b="1" i="0" dirty="0">
                <a:solidFill>
                  <a:srgbClr val="12173A"/>
                </a:solidFill>
                <a:latin typeface="Cambria"/>
              </a:rPr>
              <a:t>: Keep Showing Where It Used to Be</a:t>
            </a:r>
          </a:p>
        </p:txBody>
      </p:sp>
      <p:sp>
        <p:nvSpPr>
          <p:cNvPr id="4" name="Rectangle 3"/>
          <p:cNvSpPr/>
          <p:nvPr/>
        </p:nvSpPr>
        <p:spPr>
          <a:xfrm>
            <a:off x="640080" y="129844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911535" cy="320040"/>
          </a:xfrm>
          <a:prstGeom prst="rect">
            <a:avLst/>
          </a:prstGeom>
          <a:noFill/>
        </p:spPr>
        <p:txBody>
          <a:bodyPr wrap="square">
            <a:spAutoFit/>
          </a:bodyPr>
          <a:lstStyle/>
          <a:p>
            <a:pPr algn="l"/>
            <a:r>
              <a:rPr sz="1350" b="0" i="0">
                <a:solidFill>
                  <a:srgbClr val="2E3348"/>
                </a:solidFill>
                <a:latin typeface="Calibri"/>
              </a:rPr>
              <a:t>When the detector loses the car, we simply keep drawing the last box it saw instead of dropping it. The car keeps moving; the box does not.</a:t>
            </a:r>
          </a:p>
        </p:txBody>
      </p:sp>
      <p:sp>
        <p:nvSpPr>
          <p:cNvPr id="6" name="Rounded Rectangle 5"/>
          <p:cNvSpPr/>
          <p:nvPr/>
        </p:nvSpPr>
        <p:spPr>
          <a:xfrm>
            <a:off x="1203807" y="1828800"/>
            <a:ext cx="2011680" cy="384048"/>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Calibri"/>
              </a:rPr>
              <a:t>BEST CASE</a:t>
            </a:r>
          </a:p>
        </p:txBody>
      </p:sp>
      <p:sp>
        <p:nvSpPr>
          <p:cNvPr id="7" name="Rounded Rectangle 6"/>
          <p:cNvSpPr/>
          <p:nvPr/>
        </p:nvSpPr>
        <p:spPr>
          <a:xfrm>
            <a:off x="6233007" y="1828800"/>
            <a:ext cx="2103120" cy="384048"/>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Calibri"/>
              </a:rPr>
              <a:t>WORST CASE</a:t>
            </a:r>
          </a:p>
        </p:txBody>
      </p:sp>
      <p:pic>
        <p:nvPicPr>
          <p:cNvPr id="8" name="Picture 7" descr="comparison_2_reappearance.jpg"/>
          <p:cNvPicPr>
            <a:picLocks noChangeAspect="1"/>
          </p:cNvPicPr>
          <p:nvPr/>
        </p:nvPicPr>
        <p:blipFill>
          <a:blip r:embed="rId3"/>
          <a:stretch>
            <a:fillRect/>
          </a:stretch>
        </p:blipFill>
        <p:spPr>
          <a:xfrm>
            <a:off x="1203807" y="2212848"/>
            <a:ext cx="4754880" cy="2674620"/>
          </a:xfrm>
          <a:prstGeom prst="rect">
            <a:avLst/>
          </a:prstGeom>
          <a:ln w="9525">
            <a:solidFill>
              <a:srgbClr val="DDE2F0"/>
            </a:solidFill>
          </a:ln>
          <a:effectLst>
            <a:outerShdw blurRad="177800" dist="50800" dir="2700000" rotWithShape="0">
              <a:srgbClr val="12173A">
                <a:alpha val="32000"/>
              </a:srgbClr>
            </a:outerShdw>
          </a:effectLst>
        </p:spPr>
      </p:pic>
      <p:pic>
        <p:nvPicPr>
          <p:cNvPr id="9" name="Picture 8" descr="comparison_2_reappearance.jpg"/>
          <p:cNvPicPr>
            <a:picLocks noChangeAspect="1"/>
          </p:cNvPicPr>
          <p:nvPr/>
        </p:nvPicPr>
        <p:blipFill>
          <a:blip r:embed="rId4"/>
          <a:stretch>
            <a:fillRect/>
          </a:stretch>
        </p:blipFill>
        <p:spPr>
          <a:xfrm>
            <a:off x="6233007" y="2212848"/>
            <a:ext cx="4754880" cy="2674620"/>
          </a:xfrm>
          <a:prstGeom prst="rect">
            <a:avLst/>
          </a:prstGeom>
          <a:ln w="9525">
            <a:solidFill>
              <a:srgbClr val="DDE2F0"/>
            </a:solidFill>
          </a:ln>
          <a:effectLst>
            <a:outerShdw blurRad="177800" dist="50800" dir="2700000" rotWithShape="0">
              <a:srgbClr val="12173A">
                <a:alpha val="32000"/>
              </a:srgbClr>
            </a:outerShdw>
          </a:effectLst>
        </p:spPr>
      </p:pic>
      <p:sp>
        <p:nvSpPr>
          <p:cNvPr id="10" name="TextBox 9"/>
          <p:cNvSpPr txBox="1"/>
          <p:nvPr/>
        </p:nvSpPr>
        <p:spPr>
          <a:xfrm>
            <a:off x="1203807" y="4960620"/>
            <a:ext cx="4754880" cy="365760"/>
          </a:xfrm>
          <a:prstGeom prst="rect">
            <a:avLst/>
          </a:prstGeom>
          <a:noFill/>
        </p:spPr>
        <p:txBody>
          <a:bodyPr wrap="square">
            <a:spAutoFit/>
          </a:bodyPr>
          <a:lstStyle/>
          <a:p>
            <a:pPr algn="ctr"/>
            <a:r>
              <a:rPr sz="1150" b="0" i="1">
                <a:solidFill>
                  <a:srgbClr val="69728C"/>
                </a:solidFill>
                <a:latin typeface="Calibri"/>
              </a:rPr>
              <a:t>sample_003 — reappears next to a bus (83 px, IoU 0.34 — boxes barely overlap by a third)</a:t>
            </a:r>
          </a:p>
        </p:txBody>
      </p:sp>
      <p:sp>
        <p:nvSpPr>
          <p:cNvPr id="11" name="TextBox 10"/>
          <p:cNvSpPr txBox="1"/>
          <p:nvPr/>
        </p:nvSpPr>
        <p:spPr>
          <a:xfrm>
            <a:off x="6233007" y="4960620"/>
            <a:ext cx="4754880" cy="365760"/>
          </a:xfrm>
          <a:prstGeom prst="rect">
            <a:avLst/>
          </a:prstGeom>
          <a:noFill/>
        </p:spPr>
        <p:txBody>
          <a:bodyPr wrap="square">
            <a:spAutoFit/>
          </a:bodyPr>
          <a:lstStyle/>
          <a:p>
            <a:pPr algn="ctr"/>
            <a:r>
              <a:rPr sz="1150" b="0" i="1">
                <a:solidFill>
                  <a:srgbClr val="69728C"/>
                </a:solidFill>
                <a:latin typeface="Calibri"/>
              </a:rPr>
              <a:t>sample_006 — crossing an intersection (589 px, IoU 0.00)</a:t>
            </a:r>
          </a:p>
        </p:txBody>
      </p:sp>
      <p:sp>
        <p:nvSpPr>
          <p:cNvPr id="12" name="TextBox 11"/>
          <p:cNvSpPr txBox="1"/>
          <p:nvPr/>
        </p:nvSpPr>
        <p:spPr>
          <a:xfrm>
            <a:off x="640080" y="5344668"/>
            <a:ext cx="10911535" cy="274320"/>
          </a:xfrm>
          <a:prstGeom prst="rect">
            <a:avLst/>
          </a:prstGeom>
          <a:noFill/>
        </p:spPr>
        <p:txBody>
          <a:bodyPr wrap="square">
            <a:spAutoFit/>
          </a:bodyPr>
          <a:lstStyle/>
          <a:p>
            <a:pPr algn="ctr"/>
            <a:r>
              <a:rPr sz="1100" b="0" i="1">
                <a:solidFill>
                  <a:srgbClr val="69728C"/>
                </a:solidFill>
                <a:latin typeface="Calibri"/>
              </a:rPr>
              <a:t>Also tested: sample_001 (127px), sample_004 (423px), sample_005 (432px) — same pattern across all 5.</a:t>
            </a:r>
          </a:p>
        </p:txBody>
      </p:sp>
      <p:sp>
        <p:nvSpPr>
          <p:cNvPr id="13" name="Rounded Rectangle 12"/>
          <p:cNvSpPr/>
          <p:nvPr/>
        </p:nvSpPr>
        <p:spPr>
          <a:xfrm>
            <a:off x="640080" y="5623560"/>
            <a:ext cx="10911535" cy="1097280"/>
          </a:xfrm>
          <a:prstGeom prst="roundRect">
            <a:avLst>
              <a:gd name="adj" fmla="val 10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5788152"/>
            <a:ext cx="3637178" cy="640080"/>
          </a:xfrm>
          <a:prstGeom prst="rect">
            <a:avLst/>
          </a:prstGeom>
          <a:noFill/>
        </p:spPr>
        <p:txBody>
          <a:bodyPr wrap="square">
            <a:spAutoFit/>
          </a:bodyPr>
          <a:lstStyle/>
          <a:p>
            <a:pPr algn="ctr"/>
            <a:r>
              <a:rPr sz="2600" b="1" i="0">
                <a:solidFill>
                  <a:srgbClr val="FFA630"/>
                </a:solidFill>
                <a:latin typeface="Cambria"/>
              </a:rPr>
              <a:t>331 px</a:t>
            </a:r>
          </a:p>
        </p:txBody>
      </p:sp>
      <p:sp>
        <p:nvSpPr>
          <p:cNvPr id="15" name="TextBox 14"/>
          <p:cNvSpPr txBox="1"/>
          <p:nvPr/>
        </p:nvSpPr>
        <p:spPr>
          <a:xfrm>
            <a:off x="777240" y="6409944"/>
            <a:ext cx="3362858" cy="228600"/>
          </a:xfrm>
          <a:prstGeom prst="rect">
            <a:avLst/>
          </a:prstGeom>
          <a:noFill/>
        </p:spPr>
        <p:txBody>
          <a:bodyPr wrap="square">
            <a:spAutoFit/>
          </a:bodyPr>
          <a:lstStyle/>
          <a:p>
            <a:pPr algn="ctr">
              <a:lnSpc>
                <a:spcPct val="105000"/>
              </a:lnSpc>
            </a:pPr>
            <a:r>
              <a:rPr sz="1100" b="0" i="0">
                <a:solidFill>
                  <a:srgbClr val="CADCFC"/>
                </a:solidFill>
                <a:latin typeface="Calibri"/>
              </a:rPr>
              <a:t>mean center error on reappearance</a:t>
            </a:r>
          </a:p>
        </p:txBody>
      </p:sp>
      <p:sp>
        <p:nvSpPr>
          <p:cNvPr id="16" name="TextBox 15"/>
          <p:cNvSpPr txBox="1"/>
          <p:nvPr/>
        </p:nvSpPr>
        <p:spPr>
          <a:xfrm>
            <a:off x="4277258" y="5788152"/>
            <a:ext cx="3637178" cy="640080"/>
          </a:xfrm>
          <a:prstGeom prst="rect">
            <a:avLst/>
          </a:prstGeom>
          <a:noFill/>
        </p:spPr>
        <p:txBody>
          <a:bodyPr wrap="square">
            <a:spAutoFit/>
          </a:bodyPr>
          <a:lstStyle/>
          <a:p>
            <a:pPr algn="ctr"/>
            <a:r>
              <a:rPr sz="2600" b="1" i="0">
                <a:solidFill>
                  <a:srgbClr val="FFA630"/>
                </a:solidFill>
                <a:latin typeface="Cambria"/>
              </a:rPr>
              <a:t>0.085</a:t>
            </a:r>
          </a:p>
        </p:txBody>
      </p:sp>
      <p:sp>
        <p:nvSpPr>
          <p:cNvPr id="17" name="TextBox 16"/>
          <p:cNvSpPr txBox="1"/>
          <p:nvPr/>
        </p:nvSpPr>
        <p:spPr>
          <a:xfrm>
            <a:off x="4414418" y="6409944"/>
            <a:ext cx="3362858" cy="228600"/>
          </a:xfrm>
          <a:prstGeom prst="rect">
            <a:avLst/>
          </a:prstGeom>
          <a:noFill/>
        </p:spPr>
        <p:txBody>
          <a:bodyPr wrap="square">
            <a:spAutoFit/>
          </a:bodyPr>
          <a:lstStyle/>
          <a:p>
            <a:pPr algn="ctr">
              <a:lnSpc>
                <a:spcPct val="105000"/>
              </a:lnSpc>
            </a:pPr>
            <a:r>
              <a:rPr sz="1100" b="0" i="0">
                <a:solidFill>
                  <a:srgbClr val="CADCFC"/>
                </a:solidFill>
                <a:latin typeface="Calibri"/>
              </a:rPr>
              <a:t>mean IoU (median: 0.000)</a:t>
            </a:r>
          </a:p>
        </p:txBody>
      </p:sp>
      <p:sp>
        <p:nvSpPr>
          <p:cNvPr id="18" name="Rectangle 17"/>
          <p:cNvSpPr/>
          <p:nvPr/>
        </p:nvSpPr>
        <p:spPr>
          <a:xfrm>
            <a:off x="4277258" y="5824728"/>
            <a:ext cx="12700" cy="69494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14436" y="5788152"/>
            <a:ext cx="3637178" cy="640080"/>
          </a:xfrm>
          <a:prstGeom prst="rect">
            <a:avLst/>
          </a:prstGeom>
          <a:noFill/>
        </p:spPr>
        <p:txBody>
          <a:bodyPr wrap="square">
            <a:spAutoFit/>
          </a:bodyPr>
          <a:lstStyle/>
          <a:p>
            <a:pPr algn="ctr"/>
            <a:r>
              <a:rPr sz="2600" b="1" i="0">
                <a:solidFill>
                  <a:srgbClr val="FFA630"/>
                </a:solidFill>
                <a:latin typeface="Cambria"/>
              </a:rPr>
              <a:t>3 / 5</a:t>
            </a:r>
          </a:p>
        </p:txBody>
      </p:sp>
      <p:sp>
        <p:nvSpPr>
          <p:cNvPr id="20" name="TextBox 19"/>
          <p:cNvSpPr txBox="1"/>
          <p:nvPr/>
        </p:nvSpPr>
        <p:spPr>
          <a:xfrm>
            <a:off x="8051596" y="6409944"/>
            <a:ext cx="3362858" cy="228600"/>
          </a:xfrm>
          <a:prstGeom prst="rect">
            <a:avLst/>
          </a:prstGeom>
          <a:noFill/>
        </p:spPr>
        <p:txBody>
          <a:bodyPr wrap="square">
            <a:spAutoFit/>
          </a:bodyPr>
          <a:lstStyle/>
          <a:p>
            <a:pPr algn="ctr">
              <a:lnSpc>
                <a:spcPct val="105000"/>
              </a:lnSpc>
            </a:pPr>
            <a:r>
              <a:rPr sz="1100" b="0" i="0">
                <a:solidFill>
                  <a:srgbClr val="CADCFC"/>
                </a:solidFill>
                <a:latin typeface="Calibri"/>
              </a:rPr>
              <a:t>samples had zero box overlap</a:t>
            </a:r>
          </a:p>
        </p:txBody>
      </p:sp>
      <p:sp>
        <p:nvSpPr>
          <p:cNvPr id="21" name="Rectangle 20"/>
          <p:cNvSpPr/>
          <p:nvPr/>
        </p:nvSpPr>
        <p:spPr>
          <a:xfrm>
            <a:off x="7914436" y="5824728"/>
            <a:ext cx="12700" cy="69494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7</a:t>
            </a:r>
          </a:p>
        </p:txBody>
      </p:sp>
    </p:spTree>
    <p:extLst>
      <p:ext uri="{BB962C8B-B14F-4D97-AF65-F5344CB8AC3E}">
        <p14:creationId xmlns:p14="http://schemas.microsoft.com/office/powerpoint/2010/main" val="105989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4043"/>
            <a:ext cx="7315200" cy="320040"/>
          </a:xfrm>
          <a:prstGeom prst="rect">
            <a:avLst/>
          </a:prstGeom>
          <a:noFill/>
        </p:spPr>
        <p:txBody>
          <a:bodyPr wrap="square">
            <a:spAutoFit/>
          </a:bodyPr>
          <a:lstStyle/>
          <a:p>
            <a:pPr algn="l"/>
            <a:r>
              <a:rPr sz="1300" b="1" i="0">
                <a:solidFill>
                  <a:srgbClr val="FFA630"/>
                </a:solidFill>
                <a:latin typeface="Calibri"/>
              </a:rPr>
              <a:t>STEP 2 · REMEMBERING THE LAST BOX</a:t>
            </a:r>
          </a:p>
        </p:txBody>
      </p:sp>
      <p:sp>
        <p:nvSpPr>
          <p:cNvPr id="3" name="TextBox 2"/>
          <p:cNvSpPr txBox="1"/>
          <p:nvPr/>
        </p:nvSpPr>
        <p:spPr>
          <a:xfrm>
            <a:off x="640080" y="658368"/>
            <a:ext cx="10515600" cy="640080"/>
          </a:xfrm>
          <a:prstGeom prst="rect">
            <a:avLst/>
          </a:prstGeom>
          <a:noFill/>
        </p:spPr>
        <p:txBody>
          <a:bodyPr wrap="square">
            <a:spAutoFit/>
          </a:bodyPr>
          <a:lstStyle/>
          <a:p>
            <a:pPr algn="l"/>
            <a:r>
              <a:rPr sz="2400" b="1" i="0" dirty="0">
                <a:solidFill>
                  <a:srgbClr val="12173A"/>
                </a:solidFill>
                <a:latin typeface="Cambria"/>
              </a:rPr>
              <a:t>Watching That Idea Fail, Side by Side</a:t>
            </a:r>
          </a:p>
        </p:txBody>
      </p:sp>
      <p:sp>
        <p:nvSpPr>
          <p:cNvPr id="4" name="Rectangle 3"/>
          <p:cNvSpPr/>
          <p:nvPr/>
        </p:nvSpPr>
        <p:spPr>
          <a:xfrm>
            <a:off x="640080" y="1235964"/>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25880"/>
            <a:ext cx="10911840" cy="457200"/>
          </a:xfrm>
          <a:prstGeom prst="rect">
            <a:avLst/>
          </a:prstGeom>
          <a:noFill/>
        </p:spPr>
        <p:txBody>
          <a:bodyPr wrap="square">
            <a:spAutoFit/>
          </a:bodyPr>
          <a:lstStyle/>
          <a:p>
            <a:pPr algn="l"/>
            <a:r>
              <a:rPr sz="1350" b="0" i="0" dirty="0">
                <a:solidFill>
                  <a:srgbClr val="2E3348"/>
                </a:solidFill>
                <a:latin typeface="Calibri"/>
              </a:rPr>
              <a:t>Four views of the same sequence, shown side by side: the detector alone (track lost), static memory's retained position, motion-based prediction, and the withheld reference used to evaluate accuracy. The static-memory panel drifts away from the vehicle as it continues moving.</a:t>
            </a:r>
          </a:p>
        </p:txBody>
      </p:sp>
      <p:sp>
        <p:nvSpPr>
          <p:cNvPr id="7" name="TextBox 6"/>
          <p:cNvSpPr txBox="1"/>
          <p:nvPr/>
        </p:nvSpPr>
        <p:spPr>
          <a:xfrm>
            <a:off x="640080" y="6160770"/>
            <a:ext cx="10911840" cy="261610"/>
          </a:xfrm>
          <a:prstGeom prst="rect">
            <a:avLst/>
          </a:prstGeom>
          <a:noFill/>
        </p:spPr>
        <p:txBody>
          <a:bodyPr wrap="square">
            <a:spAutoFit/>
          </a:bodyPr>
          <a:lstStyle/>
          <a:p>
            <a:pPr algn="ctr"/>
            <a:r>
              <a:rPr sz="1100" b="0" i="1" dirty="0">
                <a:solidFill>
                  <a:srgbClr val="69728C"/>
                </a:solidFill>
                <a:latin typeface="Calibri"/>
              </a:rPr>
              <a:t>.</a:t>
            </a:r>
          </a:p>
        </p:txBody>
      </p:sp>
      <p:pic>
        <p:nvPicPr>
          <p:cNvPr id="8" name="Picture 7" descr="evidence2_comparison.gif"/>
          <p:cNvPicPr>
            <a:picLocks noChangeAspect="1"/>
          </p:cNvPicPr>
          <p:nvPr/>
        </p:nvPicPr>
        <p:blipFill>
          <a:blip r:embed="rId2"/>
          <a:stretch>
            <a:fillRect/>
          </a:stretch>
        </p:blipFill>
        <p:spPr>
          <a:xfrm>
            <a:off x="2093595" y="2115264"/>
            <a:ext cx="8004810" cy="4502706"/>
          </a:xfrm>
          <a:prstGeom prst="rect">
            <a:avLst/>
          </a:prstGeom>
          <a:ln w="9525">
            <a:solidFill>
              <a:srgbClr val="DDE2F0"/>
            </a:solidFill>
          </a:ln>
        </p:spPr>
      </p:pic>
      <p:sp>
        <p:nvSpPr>
          <p:cNvPr id="9" name="TextBox 8"/>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8</a:t>
            </a:r>
          </a:p>
        </p:txBody>
      </p:sp>
    </p:spTree>
    <p:extLst>
      <p:ext uri="{BB962C8B-B14F-4D97-AF65-F5344CB8AC3E}">
        <p14:creationId xmlns:p14="http://schemas.microsoft.com/office/powerpoint/2010/main" val="1974810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7315200" cy="320040"/>
          </a:xfrm>
          <a:prstGeom prst="rect">
            <a:avLst/>
          </a:prstGeom>
          <a:noFill/>
        </p:spPr>
        <p:txBody>
          <a:bodyPr wrap="square">
            <a:spAutoFit/>
          </a:bodyPr>
          <a:lstStyle/>
          <a:p>
            <a:pPr algn="l"/>
            <a:r>
              <a:rPr sz="1300" b="1" i="0">
                <a:solidFill>
                  <a:srgbClr val="FFA630"/>
                </a:solidFill>
                <a:latin typeface="Calibri"/>
              </a:rPr>
              <a:t>STEP 3 · PREDICTING MOVEMENT</a:t>
            </a:r>
          </a:p>
        </p:txBody>
      </p:sp>
      <p:sp>
        <p:nvSpPr>
          <p:cNvPr id="3" name="TextBox 2"/>
          <p:cNvSpPr txBox="1"/>
          <p:nvPr/>
        </p:nvSpPr>
        <p:spPr>
          <a:xfrm>
            <a:off x="640080" y="749808"/>
            <a:ext cx="10881360" cy="461665"/>
          </a:xfrm>
          <a:prstGeom prst="rect">
            <a:avLst/>
          </a:prstGeom>
          <a:noFill/>
        </p:spPr>
        <p:txBody>
          <a:bodyPr wrap="square">
            <a:spAutoFit/>
          </a:bodyPr>
          <a:lstStyle/>
          <a:p>
            <a:pPr algn="l"/>
            <a:r>
              <a:rPr sz="2400" b="1" i="0" dirty="0">
                <a:solidFill>
                  <a:srgbClr val="12173A"/>
                </a:solidFill>
                <a:latin typeface="Cambria"/>
              </a:rPr>
              <a:t>Second Try: Guess Where It Is Heading</a:t>
            </a:r>
            <a:r>
              <a:rPr lang="en-GB" sz="2400" b="1" i="0" dirty="0">
                <a:solidFill>
                  <a:srgbClr val="12173A"/>
                </a:solidFill>
                <a:latin typeface="Cambria"/>
              </a:rPr>
              <a:t>: SORT</a:t>
            </a:r>
            <a:endParaRPr sz="2400" b="1" i="0" dirty="0">
              <a:solidFill>
                <a:srgbClr val="12173A"/>
              </a:solidFill>
              <a:latin typeface="Cambria"/>
            </a:endParaRPr>
          </a:p>
        </p:txBody>
      </p:sp>
      <p:sp>
        <p:nvSpPr>
          <p:cNvPr id="4" name="Rectangle 3"/>
          <p:cNvSpPr/>
          <p:nvPr/>
        </p:nvSpPr>
        <p:spPr>
          <a:xfrm>
            <a:off x="640080" y="129844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911535" cy="320040"/>
          </a:xfrm>
          <a:prstGeom prst="rect">
            <a:avLst/>
          </a:prstGeom>
          <a:noFill/>
        </p:spPr>
        <p:txBody>
          <a:bodyPr wrap="square">
            <a:spAutoFit/>
          </a:bodyPr>
          <a:lstStyle/>
          <a:p>
            <a:pPr algn="l"/>
            <a:r>
              <a:rPr sz="1350" b="0" i="0" dirty="0">
                <a:solidFill>
                  <a:srgbClr val="2E3348"/>
                </a:solidFill>
                <a:latin typeface="Calibri"/>
              </a:rPr>
              <a:t>Instead of freezing the last box, this version works out how fast the car was moving and carries it forward while it is out of sight. Tested on 9 vehicles.</a:t>
            </a:r>
          </a:p>
        </p:txBody>
      </p:sp>
      <p:graphicFrame>
        <p:nvGraphicFramePr>
          <p:cNvPr id="6" name="Chart 5"/>
          <p:cNvGraphicFramePr>
            <a:graphicFrameLocks noGrp="1"/>
          </p:cNvGraphicFramePr>
          <p:nvPr/>
        </p:nvGraphicFramePr>
        <p:xfrm>
          <a:off x="640080" y="1828800"/>
          <a:ext cx="5349240" cy="2331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p:cNvGraphicFramePr>
            <a:graphicFrameLocks noGrp="1"/>
          </p:cNvGraphicFramePr>
          <p:nvPr/>
        </p:nvGraphicFramePr>
        <p:xfrm>
          <a:off x="6263640" y="1828800"/>
          <a:ext cx="5349240" cy="2331720"/>
        </p:xfrm>
        <a:graphic>
          <a:graphicData uri="http://schemas.openxmlformats.org/drawingml/2006/chart">
            <c:chart xmlns:c="http://schemas.openxmlformats.org/drawingml/2006/chart" xmlns:r="http://schemas.openxmlformats.org/officeDocument/2006/relationships" r:id="rId4"/>
          </a:graphicData>
        </a:graphic>
      </p:graphicFrame>
      <p:sp>
        <p:nvSpPr>
          <p:cNvPr id="8" name="Rounded Rectangle 7"/>
          <p:cNvSpPr/>
          <p:nvPr/>
        </p:nvSpPr>
        <p:spPr>
          <a:xfrm>
            <a:off x="640080" y="4297680"/>
            <a:ext cx="10911535" cy="1097280"/>
          </a:xfrm>
          <a:prstGeom prst="roundRect">
            <a:avLst>
              <a:gd name="adj" fmla="val 10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4462272"/>
            <a:ext cx="3637178" cy="640080"/>
          </a:xfrm>
          <a:prstGeom prst="rect">
            <a:avLst/>
          </a:prstGeom>
          <a:noFill/>
        </p:spPr>
        <p:txBody>
          <a:bodyPr wrap="square">
            <a:spAutoFit/>
          </a:bodyPr>
          <a:lstStyle/>
          <a:p>
            <a:pPr algn="ctr"/>
            <a:r>
              <a:rPr sz="2300" b="1" i="0">
                <a:solidFill>
                  <a:srgbClr val="FFA630"/>
                </a:solidFill>
                <a:latin typeface="Cambria"/>
              </a:rPr>
              <a:t>46 → 17 px</a:t>
            </a:r>
          </a:p>
        </p:txBody>
      </p:sp>
      <p:sp>
        <p:nvSpPr>
          <p:cNvPr id="10" name="TextBox 9"/>
          <p:cNvSpPr txBox="1"/>
          <p:nvPr/>
        </p:nvSpPr>
        <p:spPr>
          <a:xfrm>
            <a:off x="777240" y="5084064"/>
            <a:ext cx="3362858" cy="228600"/>
          </a:xfrm>
          <a:prstGeom prst="rect">
            <a:avLst/>
          </a:prstGeom>
          <a:noFill/>
        </p:spPr>
        <p:txBody>
          <a:bodyPr wrap="square">
            <a:spAutoFit/>
          </a:bodyPr>
          <a:lstStyle/>
          <a:p>
            <a:pPr algn="ctr">
              <a:lnSpc>
                <a:spcPct val="105000"/>
              </a:lnSpc>
            </a:pPr>
            <a:r>
              <a:rPr sz="1050" b="0" i="0" dirty="0">
                <a:solidFill>
                  <a:srgbClr val="CADCFC"/>
                </a:solidFill>
                <a:latin typeface="Calibri"/>
              </a:rPr>
              <a:t>mean center error, static → SORT</a:t>
            </a:r>
          </a:p>
        </p:txBody>
      </p:sp>
      <p:sp>
        <p:nvSpPr>
          <p:cNvPr id="11" name="TextBox 10"/>
          <p:cNvSpPr txBox="1"/>
          <p:nvPr/>
        </p:nvSpPr>
        <p:spPr>
          <a:xfrm>
            <a:off x="4318102" y="4511128"/>
            <a:ext cx="3637178" cy="446276"/>
          </a:xfrm>
          <a:prstGeom prst="rect">
            <a:avLst/>
          </a:prstGeom>
          <a:noFill/>
        </p:spPr>
        <p:txBody>
          <a:bodyPr wrap="square">
            <a:spAutoFit/>
          </a:bodyPr>
          <a:lstStyle/>
          <a:p>
            <a:pPr algn="ctr"/>
            <a:r>
              <a:rPr sz="2300" b="1" i="0" dirty="0">
                <a:solidFill>
                  <a:schemeClr val="accent6"/>
                </a:solidFill>
                <a:latin typeface="Cambria"/>
              </a:rPr>
              <a:t>0.67 → 0.72</a:t>
            </a:r>
          </a:p>
        </p:txBody>
      </p:sp>
      <p:sp>
        <p:nvSpPr>
          <p:cNvPr id="12" name="TextBox 11"/>
          <p:cNvSpPr txBox="1"/>
          <p:nvPr/>
        </p:nvSpPr>
        <p:spPr>
          <a:xfrm>
            <a:off x="4414418" y="5084064"/>
            <a:ext cx="3362858" cy="228600"/>
          </a:xfrm>
          <a:prstGeom prst="rect">
            <a:avLst/>
          </a:prstGeom>
          <a:noFill/>
        </p:spPr>
        <p:txBody>
          <a:bodyPr wrap="square">
            <a:spAutoFit/>
          </a:bodyPr>
          <a:lstStyle/>
          <a:p>
            <a:pPr algn="ctr">
              <a:lnSpc>
                <a:spcPct val="105000"/>
              </a:lnSpc>
            </a:pPr>
            <a:r>
              <a:rPr sz="1050" b="0" i="0">
                <a:solidFill>
                  <a:srgbClr val="CADCFC"/>
                </a:solidFill>
                <a:latin typeface="Calibri"/>
              </a:rPr>
              <a:t>mean IoU, static → SORT</a:t>
            </a:r>
          </a:p>
        </p:txBody>
      </p:sp>
      <p:sp>
        <p:nvSpPr>
          <p:cNvPr id="13" name="Rectangle 12"/>
          <p:cNvSpPr/>
          <p:nvPr/>
        </p:nvSpPr>
        <p:spPr>
          <a:xfrm>
            <a:off x="4277258" y="4498848"/>
            <a:ext cx="12700" cy="69494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14436" y="4462272"/>
            <a:ext cx="3637178" cy="640080"/>
          </a:xfrm>
          <a:prstGeom prst="rect">
            <a:avLst/>
          </a:prstGeom>
          <a:noFill/>
        </p:spPr>
        <p:txBody>
          <a:bodyPr wrap="square">
            <a:spAutoFit/>
          </a:bodyPr>
          <a:lstStyle/>
          <a:p>
            <a:pPr algn="ctr"/>
            <a:r>
              <a:rPr sz="2300" b="1" i="0">
                <a:solidFill>
                  <a:srgbClr val="FFA630"/>
                </a:solidFill>
                <a:latin typeface="Cambria"/>
              </a:rPr>
              <a:t>9 tracks</a:t>
            </a:r>
          </a:p>
        </p:txBody>
      </p:sp>
      <p:sp>
        <p:nvSpPr>
          <p:cNvPr id="15" name="TextBox 14"/>
          <p:cNvSpPr txBox="1"/>
          <p:nvPr/>
        </p:nvSpPr>
        <p:spPr>
          <a:xfrm>
            <a:off x="8051596" y="5084064"/>
            <a:ext cx="3362858" cy="228600"/>
          </a:xfrm>
          <a:prstGeom prst="rect">
            <a:avLst/>
          </a:prstGeom>
          <a:noFill/>
        </p:spPr>
        <p:txBody>
          <a:bodyPr wrap="square">
            <a:spAutoFit/>
          </a:bodyPr>
          <a:lstStyle/>
          <a:p>
            <a:pPr algn="ctr">
              <a:lnSpc>
                <a:spcPct val="105000"/>
              </a:lnSpc>
            </a:pPr>
            <a:r>
              <a:rPr sz="1050" b="0" i="0">
                <a:solidFill>
                  <a:srgbClr val="CADCFC"/>
                </a:solidFill>
                <a:latin typeface="Calibri"/>
              </a:rPr>
              <a:t>cars only, across 3 clips</a:t>
            </a:r>
          </a:p>
        </p:txBody>
      </p:sp>
      <p:sp>
        <p:nvSpPr>
          <p:cNvPr id="16" name="Rectangle 15"/>
          <p:cNvSpPr/>
          <p:nvPr/>
        </p:nvSpPr>
        <p:spPr>
          <a:xfrm>
            <a:off x="7914436" y="4498848"/>
            <a:ext cx="12700" cy="69494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40080" y="5486400"/>
            <a:ext cx="10911535" cy="1234440"/>
          </a:xfrm>
          <a:prstGeom prst="roundRect">
            <a:avLst>
              <a:gd name="adj" fmla="val 6000"/>
            </a:avLst>
          </a:prstGeom>
          <a:solidFill>
            <a:srgbClr val="F3F5FA"/>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74320" tIns="146304" rIns="274320" rtlCol="0" anchor="ctr"/>
          <a:lstStyle/>
          <a:p>
            <a:pPr algn="ctr"/>
            <a:r>
              <a:rPr sz="1150" b="1" dirty="0">
                <a:solidFill>
                  <a:srgbClr val="E0841C"/>
                </a:solidFill>
                <a:latin typeface="Calibri"/>
              </a:rPr>
              <a:t>THE CATCH</a:t>
            </a:r>
          </a:p>
          <a:p>
            <a:pPr>
              <a:spcBef>
                <a:spcPts val="300"/>
              </a:spcBef>
            </a:pPr>
            <a:r>
              <a:rPr sz="1250" dirty="0">
                <a:solidFill>
                  <a:srgbClr val="2E3348"/>
                </a:solidFill>
                <a:latin typeface="Calibri"/>
              </a:rPr>
              <a:t>Most of the improvement is concentrated in 2 of the 9 tracks; on the dominant clip, static memory performs comparably to SORT. The reference boxes used for evaluation were Kalman-corrected rather than raw YOLO detections, and gaps exceeding the tracker's configured expiry threshold were not enforced. This demonstrates motion extrapolation under controlled conditions, not an independent validation of SORT.</a:t>
            </a:r>
          </a:p>
        </p:txBody>
      </p:sp>
      <p:sp>
        <p:nvSpPr>
          <p:cNvPr id="18" name="TextBox 17"/>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9</a:t>
            </a:r>
          </a:p>
        </p:txBody>
      </p:sp>
    </p:spTree>
    <p:extLst>
      <p:ext uri="{BB962C8B-B14F-4D97-AF65-F5344CB8AC3E}">
        <p14:creationId xmlns:p14="http://schemas.microsoft.com/office/powerpoint/2010/main" val="3133023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7315200" cy="320040"/>
          </a:xfrm>
          <a:prstGeom prst="rect">
            <a:avLst/>
          </a:prstGeom>
          <a:noFill/>
        </p:spPr>
        <p:txBody>
          <a:bodyPr wrap="square">
            <a:spAutoFit/>
          </a:bodyPr>
          <a:lstStyle/>
          <a:p>
            <a:pPr algn="l"/>
            <a:r>
              <a:rPr sz="1300" b="1" i="0">
                <a:solidFill>
                  <a:srgbClr val="FFA630"/>
                </a:solidFill>
                <a:latin typeface="Calibri"/>
              </a:rPr>
              <a:t>STEP 4 · USING WEAK DETECTIONS</a:t>
            </a:r>
          </a:p>
        </p:txBody>
      </p:sp>
      <p:sp>
        <p:nvSpPr>
          <p:cNvPr id="3" name="TextBox 2"/>
          <p:cNvSpPr txBox="1"/>
          <p:nvPr/>
        </p:nvSpPr>
        <p:spPr>
          <a:xfrm>
            <a:off x="640080" y="749808"/>
            <a:ext cx="10881360" cy="477054"/>
          </a:xfrm>
          <a:prstGeom prst="rect">
            <a:avLst/>
          </a:prstGeom>
          <a:noFill/>
        </p:spPr>
        <p:txBody>
          <a:bodyPr wrap="square">
            <a:spAutoFit/>
          </a:bodyPr>
          <a:lstStyle/>
          <a:p>
            <a:pPr algn="l"/>
            <a:r>
              <a:rPr sz="2500" b="1" i="0" dirty="0">
                <a:solidFill>
                  <a:srgbClr val="12173A"/>
                </a:solidFill>
                <a:latin typeface="Cambria"/>
              </a:rPr>
              <a:t>Third Try: Do Not Throw Away Faint Sightings</a:t>
            </a:r>
            <a:r>
              <a:rPr lang="en-GB" sz="2500" b="1" i="0" dirty="0">
                <a:solidFill>
                  <a:srgbClr val="12173A"/>
                </a:solidFill>
                <a:latin typeface="Cambria"/>
              </a:rPr>
              <a:t>: </a:t>
            </a:r>
            <a:r>
              <a:rPr lang="en-GB" sz="2500" b="1" i="0" dirty="0" err="1">
                <a:solidFill>
                  <a:srgbClr val="12173A"/>
                </a:solidFill>
                <a:latin typeface="Cambria"/>
              </a:rPr>
              <a:t>ByteTrack</a:t>
            </a:r>
            <a:endParaRPr sz="2500" b="1" i="0" dirty="0">
              <a:solidFill>
                <a:srgbClr val="12173A"/>
              </a:solidFill>
              <a:latin typeface="Cambria"/>
            </a:endParaRPr>
          </a:p>
        </p:txBody>
      </p:sp>
      <p:sp>
        <p:nvSpPr>
          <p:cNvPr id="4" name="Rectangle 3"/>
          <p:cNvSpPr/>
          <p:nvPr/>
        </p:nvSpPr>
        <p:spPr>
          <a:xfrm>
            <a:off x="640080" y="129844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911840" cy="502920"/>
          </a:xfrm>
          <a:prstGeom prst="rect">
            <a:avLst/>
          </a:prstGeom>
          <a:noFill/>
        </p:spPr>
        <p:txBody>
          <a:bodyPr wrap="square">
            <a:spAutoFit/>
          </a:bodyPr>
          <a:lstStyle/>
          <a:p>
            <a:pPr algn="l"/>
            <a:r>
              <a:rPr sz="1350" b="0" i="0">
                <a:solidFill>
                  <a:srgbClr val="2E3348"/>
                </a:solidFill>
                <a:latin typeface="Calibri"/>
              </a:rPr>
              <a:t>Same test as the previous step. This time, faint detections the detector was unsure about are reused rather than thrown away — measured on 12 real weak-sighting events and 65 frames where the car was not detected at all.</a:t>
            </a:r>
          </a:p>
        </p:txBody>
      </p:sp>
      <p:sp>
        <p:nvSpPr>
          <p:cNvPr id="6" name="Rounded Rectangle 5"/>
          <p:cNvSpPr/>
          <p:nvPr/>
        </p:nvSpPr>
        <p:spPr>
          <a:xfrm>
            <a:off x="640080" y="2148840"/>
            <a:ext cx="10911840" cy="1417320"/>
          </a:xfrm>
          <a:prstGeom prst="roundRect">
            <a:avLst>
              <a:gd name="adj" fmla="val 10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331720"/>
            <a:ext cx="3637280" cy="594360"/>
          </a:xfrm>
          <a:prstGeom prst="rect">
            <a:avLst/>
          </a:prstGeom>
          <a:noFill/>
        </p:spPr>
        <p:txBody>
          <a:bodyPr wrap="square">
            <a:spAutoFit/>
          </a:bodyPr>
          <a:lstStyle/>
          <a:p>
            <a:pPr algn="ctr"/>
            <a:r>
              <a:rPr sz="2800" b="1" i="0">
                <a:solidFill>
                  <a:srgbClr val="FFA630"/>
                </a:solidFill>
                <a:latin typeface="Cambria"/>
              </a:rPr>
              <a:t>58% → 67%</a:t>
            </a:r>
          </a:p>
        </p:txBody>
      </p:sp>
      <p:sp>
        <p:nvSpPr>
          <p:cNvPr id="8" name="TextBox 7"/>
          <p:cNvSpPr txBox="1"/>
          <p:nvPr/>
        </p:nvSpPr>
        <p:spPr>
          <a:xfrm>
            <a:off x="777240" y="2926080"/>
            <a:ext cx="3362960" cy="457200"/>
          </a:xfrm>
          <a:prstGeom prst="rect">
            <a:avLst/>
          </a:prstGeom>
          <a:noFill/>
        </p:spPr>
        <p:txBody>
          <a:bodyPr wrap="square">
            <a:spAutoFit/>
          </a:bodyPr>
          <a:lstStyle/>
          <a:p>
            <a:pPr algn="ctr">
              <a:lnSpc>
                <a:spcPct val="105000"/>
              </a:lnSpc>
            </a:pPr>
            <a:r>
              <a:rPr sz="1200" b="0" i="0">
                <a:solidFill>
                  <a:srgbClr val="CADCFC"/>
                </a:solidFill>
                <a:latin typeface="Calibri"/>
              </a:rPr>
              <a:t>natural events recovered
(SORT → ByteTrack)</a:t>
            </a:r>
          </a:p>
        </p:txBody>
      </p:sp>
      <p:sp>
        <p:nvSpPr>
          <p:cNvPr id="9" name="TextBox 8"/>
          <p:cNvSpPr txBox="1"/>
          <p:nvPr/>
        </p:nvSpPr>
        <p:spPr>
          <a:xfrm>
            <a:off x="4277360" y="2331720"/>
            <a:ext cx="3637280" cy="594360"/>
          </a:xfrm>
          <a:prstGeom prst="rect">
            <a:avLst/>
          </a:prstGeom>
          <a:noFill/>
        </p:spPr>
        <p:txBody>
          <a:bodyPr wrap="square">
            <a:spAutoFit/>
          </a:bodyPr>
          <a:lstStyle/>
          <a:p>
            <a:pPr algn="ctr"/>
            <a:r>
              <a:rPr sz="2800" b="1" i="0">
                <a:solidFill>
                  <a:srgbClr val="FFA630"/>
                </a:solidFill>
                <a:latin typeface="Cambria"/>
              </a:rPr>
              <a:t>33% → 50%</a:t>
            </a:r>
          </a:p>
        </p:txBody>
      </p:sp>
      <p:sp>
        <p:nvSpPr>
          <p:cNvPr id="10" name="TextBox 9"/>
          <p:cNvSpPr txBox="1"/>
          <p:nvPr/>
        </p:nvSpPr>
        <p:spPr>
          <a:xfrm>
            <a:off x="4414520" y="2926080"/>
            <a:ext cx="3362960" cy="457200"/>
          </a:xfrm>
          <a:prstGeom prst="rect">
            <a:avLst/>
          </a:prstGeom>
          <a:noFill/>
        </p:spPr>
        <p:txBody>
          <a:bodyPr wrap="square">
            <a:spAutoFit/>
          </a:bodyPr>
          <a:lstStyle/>
          <a:p>
            <a:pPr algn="ctr">
              <a:lnSpc>
                <a:spcPct val="105000"/>
              </a:lnSpc>
            </a:pPr>
            <a:r>
              <a:rPr sz="1200" b="0" i="0">
                <a:solidFill>
                  <a:srgbClr val="CADCFC"/>
                </a:solidFill>
                <a:latin typeface="Calibri"/>
              </a:rPr>
              <a:t>identity preserved
through the event</a:t>
            </a:r>
          </a:p>
        </p:txBody>
      </p:sp>
      <p:sp>
        <p:nvSpPr>
          <p:cNvPr id="11" name="Rectangle 10"/>
          <p:cNvSpPr/>
          <p:nvPr/>
        </p:nvSpPr>
        <p:spPr>
          <a:xfrm>
            <a:off x="4277360" y="2350008"/>
            <a:ext cx="12700" cy="101498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14640" y="2331720"/>
            <a:ext cx="3637280" cy="594360"/>
          </a:xfrm>
          <a:prstGeom prst="rect">
            <a:avLst/>
          </a:prstGeom>
          <a:noFill/>
        </p:spPr>
        <p:txBody>
          <a:bodyPr wrap="square">
            <a:spAutoFit/>
          </a:bodyPr>
          <a:lstStyle/>
          <a:p>
            <a:pPr algn="ctr"/>
            <a:r>
              <a:rPr sz="2800" b="1" i="0">
                <a:solidFill>
                  <a:srgbClr val="FFA630"/>
                </a:solidFill>
                <a:latin typeface="Cambria"/>
              </a:rPr>
              <a:t>2 → 0</a:t>
            </a:r>
          </a:p>
        </p:txBody>
      </p:sp>
      <p:sp>
        <p:nvSpPr>
          <p:cNvPr id="13" name="TextBox 12"/>
          <p:cNvSpPr txBox="1"/>
          <p:nvPr/>
        </p:nvSpPr>
        <p:spPr>
          <a:xfrm>
            <a:off x="8051800" y="2926080"/>
            <a:ext cx="3362960" cy="457200"/>
          </a:xfrm>
          <a:prstGeom prst="rect">
            <a:avLst/>
          </a:prstGeom>
          <a:noFill/>
        </p:spPr>
        <p:txBody>
          <a:bodyPr wrap="square">
            <a:spAutoFit/>
          </a:bodyPr>
          <a:lstStyle/>
          <a:p>
            <a:pPr algn="ctr">
              <a:lnSpc>
                <a:spcPct val="105000"/>
              </a:lnSpc>
            </a:pPr>
            <a:r>
              <a:rPr sz="1200" b="0" i="0">
                <a:solidFill>
                  <a:srgbClr val="CADCFC"/>
                </a:solidFill>
                <a:latin typeface="Calibri"/>
              </a:rPr>
              <a:t>false associations during
complete detection absence</a:t>
            </a:r>
          </a:p>
        </p:txBody>
      </p:sp>
      <p:sp>
        <p:nvSpPr>
          <p:cNvPr id="14" name="Rectangle 13"/>
          <p:cNvSpPr/>
          <p:nvPr/>
        </p:nvSpPr>
        <p:spPr>
          <a:xfrm>
            <a:off x="7914640" y="2350008"/>
            <a:ext cx="12700" cy="1014984"/>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 y="3886200"/>
            <a:ext cx="10911840" cy="1417320"/>
          </a:xfrm>
          <a:prstGeom prst="roundRect">
            <a:avLst>
              <a:gd name="adj" fmla="val 6000"/>
            </a:avLst>
          </a:prstGeom>
          <a:solidFill>
            <a:srgbClr val="F3F5FA"/>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74320" tIns="146304" rIns="274320" rtlCol="0" anchor="ctr"/>
          <a:lstStyle/>
          <a:p>
            <a:pPr algn="ctr"/>
            <a:r>
              <a:rPr sz="1150" b="1">
                <a:solidFill>
                  <a:srgbClr val="E0841C"/>
                </a:solidFill>
                <a:latin typeface="Calibri"/>
              </a:rPr>
              <a:t>THE CATCH</a:t>
            </a:r>
          </a:p>
          <a:p>
            <a:pPr>
              <a:spcBef>
                <a:spcPts val="300"/>
              </a:spcBef>
            </a:pPr>
            <a:r>
              <a:rPr sz="1250">
                <a:solidFill>
                  <a:srgbClr val="2E3348"/>
                </a:solidFill>
                <a:latin typeface="Calibri"/>
              </a:rPr>
              <a:t>The improvement is concentrated in the pedestrian class (2 of 4 events) and is drawn from only 5 target tracks across 4 scenes. It also applies only when a weak detection still exists; when the object is entirely undetected, ByteTrack relies on the same motion prediction as SORT.</a:t>
            </a:r>
          </a:p>
        </p:txBody>
      </p:sp>
      <p:sp>
        <p:nvSpPr>
          <p:cNvPr id="16" name="TextBox 15"/>
          <p:cNvSpPr txBox="1"/>
          <p:nvPr/>
        </p:nvSpPr>
        <p:spPr>
          <a:xfrm>
            <a:off x="640080" y="5486400"/>
            <a:ext cx="10911840" cy="822960"/>
          </a:xfrm>
          <a:prstGeom prst="rect">
            <a:avLst/>
          </a:prstGeom>
          <a:noFill/>
        </p:spPr>
        <p:txBody>
          <a:bodyPr wrap="square">
            <a:spAutoFit/>
          </a:bodyPr>
          <a:lstStyle/>
          <a:p>
            <a:pPr algn="ctr">
              <a:lnSpc>
                <a:spcPct val="120000"/>
              </a:lnSpc>
            </a:pPr>
            <a:r>
              <a:rPr sz="1400" b="1" i="1">
                <a:solidFill>
                  <a:srgbClr val="12173A"/>
                </a:solidFill>
                <a:latin typeface="Calibri"/>
              </a:rPr>
              <a:t>This illustrates the distinction OATM's occlusion classifier is intended to model: weak-but-present evidence, where a secondary association step is beneficial, versus truly absent evidence, where only motion and uncertainty modeling can contribute.</a:t>
            </a:r>
          </a:p>
        </p:txBody>
      </p:sp>
      <p:sp>
        <p:nvSpPr>
          <p:cNvPr id="17" name="TextBox 16"/>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10</a:t>
            </a:r>
          </a:p>
        </p:txBody>
      </p:sp>
    </p:spTree>
    <p:extLst>
      <p:ext uri="{BB962C8B-B14F-4D97-AF65-F5344CB8AC3E}">
        <p14:creationId xmlns:p14="http://schemas.microsoft.com/office/powerpoint/2010/main" val="2914742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p:cNvGrpSpPr/>
        <p:nvPr/>
      </p:nvGrpSpPr>
      <p:grpSpPr>
        <a:xfrm>
          <a:off x="0" y="0"/>
          <a:ext cx="0" cy="0"/>
          <a:chOff x="0" y="0"/>
          <a:chExt cx="0" cy="0"/>
        </a:xfrm>
      </p:grpSpPr>
      <p:sp>
        <p:nvSpPr>
          <p:cNvPr id="2" name="TextBox 1"/>
          <p:cNvSpPr txBox="1"/>
          <p:nvPr/>
        </p:nvSpPr>
        <p:spPr>
          <a:xfrm>
            <a:off x="0" y="548640"/>
            <a:ext cx="12191695" cy="320040"/>
          </a:xfrm>
          <a:prstGeom prst="rect">
            <a:avLst/>
          </a:prstGeom>
          <a:noFill/>
        </p:spPr>
        <p:txBody>
          <a:bodyPr wrap="square">
            <a:spAutoFit/>
          </a:bodyPr>
          <a:lstStyle/>
          <a:p>
            <a:pPr algn="ctr"/>
            <a:r>
              <a:rPr sz="1300" b="1" i="0">
                <a:solidFill>
                  <a:srgbClr val="FFA630"/>
                </a:solidFill>
                <a:latin typeface="Calibri"/>
              </a:rPr>
              <a:t>STEP 5 · THE DIAGNOSIS</a:t>
            </a:r>
          </a:p>
        </p:txBody>
      </p:sp>
      <p:sp>
        <p:nvSpPr>
          <p:cNvPr id="3" name="TextBox 2"/>
          <p:cNvSpPr txBox="1"/>
          <p:nvPr/>
        </p:nvSpPr>
        <p:spPr>
          <a:xfrm>
            <a:off x="1188720" y="914400"/>
            <a:ext cx="9811512" cy="1188720"/>
          </a:xfrm>
          <a:prstGeom prst="rect">
            <a:avLst/>
          </a:prstGeom>
          <a:noFill/>
        </p:spPr>
        <p:txBody>
          <a:bodyPr wrap="square">
            <a:spAutoFit/>
          </a:bodyPr>
          <a:lstStyle/>
          <a:p>
            <a:pPr algn="ctr">
              <a:lnSpc>
                <a:spcPct val="112000"/>
              </a:lnSpc>
            </a:pPr>
            <a:r>
              <a:rPr sz="2700" b="1" i="0">
                <a:solidFill>
                  <a:srgbClr val="FFFFFF"/>
                </a:solidFill>
                <a:latin typeface="Cambria"/>
              </a:rPr>
              <a:t>Why None of These Are Enough</a:t>
            </a:r>
          </a:p>
        </p:txBody>
      </p:sp>
      <p:sp>
        <p:nvSpPr>
          <p:cNvPr id="4" name="TextBox 3"/>
          <p:cNvSpPr txBox="1"/>
          <p:nvPr/>
        </p:nvSpPr>
        <p:spPr>
          <a:xfrm>
            <a:off x="1554480" y="2148840"/>
            <a:ext cx="9079992" cy="777240"/>
          </a:xfrm>
          <a:prstGeom prst="rect">
            <a:avLst/>
          </a:prstGeom>
          <a:noFill/>
        </p:spPr>
        <p:txBody>
          <a:bodyPr wrap="square">
            <a:spAutoFit/>
          </a:bodyPr>
          <a:lstStyle/>
          <a:p>
            <a:pPr algn="ctr">
              <a:lnSpc>
                <a:spcPct val="120000"/>
              </a:lnSpc>
            </a:pPr>
            <a:r>
              <a:rPr sz="1400" b="0" i="0">
                <a:solidFill>
                  <a:srgbClr val="CADCFC"/>
                </a:solidFill>
                <a:latin typeface="Calibri"/>
              </a:rPr>
              <a:t>Real objects continue moving while hidden. A memory system that retains only a past position becomes increasingly inaccurate the longer the object remains occluded.</a:t>
            </a:r>
          </a:p>
        </p:txBody>
      </p:sp>
      <p:sp>
        <p:nvSpPr>
          <p:cNvPr id="5" name="Rectangle 4"/>
          <p:cNvSpPr/>
          <p:nvPr/>
        </p:nvSpPr>
        <p:spPr>
          <a:xfrm>
            <a:off x="4270248" y="3063240"/>
            <a:ext cx="3657600" cy="19050"/>
          </a:xfrm>
          <a:prstGeom prst="rect">
            <a:avLst/>
          </a:prstGeom>
          <a:solidFill>
            <a:srgbClr val="FFA63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3291840"/>
            <a:ext cx="12191695" cy="320040"/>
          </a:xfrm>
          <a:prstGeom prst="rect">
            <a:avLst/>
          </a:prstGeom>
          <a:noFill/>
        </p:spPr>
        <p:txBody>
          <a:bodyPr wrap="square">
            <a:spAutoFit/>
          </a:bodyPr>
          <a:lstStyle/>
          <a:p>
            <a:pPr algn="ctr"/>
            <a:r>
              <a:rPr sz="1300" b="1" i="0">
                <a:solidFill>
                  <a:srgbClr val="FFA630"/>
                </a:solidFill>
                <a:latin typeface="Calibri"/>
              </a:rPr>
              <a:t>THE GAP IN EXISTING TOOLS</a:t>
            </a:r>
          </a:p>
        </p:txBody>
      </p:sp>
      <p:sp>
        <p:nvSpPr>
          <p:cNvPr id="7" name="Rounded Rectangle 6"/>
          <p:cNvSpPr/>
          <p:nvPr/>
        </p:nvSpPr>
        <p:spPr>
          <a:xfrm>
            <a:off x="442913" y="3847147"/>
            <a:ext cx="5440680" cy="77724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82880" rtlCol="0" anchor="ctr"/>
          <a:lstStyle/>
          <a:p>
            <a:r>
              <a:rPr sz="1350" b="1" dirty="0">
                <a:solidFill>
                  <a:srgbClr val="FFA630"/>
                </a:solidFill>
                <a:latin typeface="Calibri"/>
              </a:rPr>
              <a:t>Single-frame detection</a:t>
            </a:r>
          </a:p>
          <a:p>
            <a:r>
              <a:rPr sz="1250" dirty="0">
                <a:solidFill>
                  <a:srgbClr val="CADCFC"/>
                </a:solidFill>
                <a:latin typeface="Calibri"/>
              </a:rPr>
              <a:t>Retains no information across frames; an occluded object is treated as absent</a:t>
            </a:r>
          </a:p>
        </p:txBody>
      </p:sp>
      <p:sp>
        <p:nvSpPr>
          <p:cNvPr id="8" name="Rounded Rectangle 7"/>
          <p:cNvSpPr/>
          <p:nvPr/>
        </p:nvSpPr>
        <p:spPr>
          <a:xfrm>
            <a:off x="6308409" y="3847147"/>
            <a:ext cx="5440680" cy="77724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82880" rtlCol="0" anchor="ctr"/>
          <a:lstStyle/>
          <a:p>
            <a:r>
              <a:rPr sz="1350" b="1" dirty="0">
                <a:solidFill>
                  <a:srgbClr val="FFA630"/>
                </a:solidFill>
                <a:latin typeface="Calibri"/>
              </a:rPr>
              <a:t>SORT</a:t>
            </a:r>
          </a:p>
          <a:p>
            <a:r>
              <a:rPr sz="1250" dirty="0">
                <a:solidFill>
                  <a:srgbClr val="CADCFC"/>
                </a:solidFill>
                <a:latin typeface="Calibri"/>
              </a:rPr>
              <a:t>Reduces center error from 46 to 17 px on smooth trajectories; evaluated on 9 vehicle tracks with a circular reference</a:t>
            </a:r>
          </a:p>
        </p:txBody>
      </p:sp>
      <p:sp>
        <p:nvSpPr>
          <p:cNvPr id="9" name="Rounded Rectangle 8"/>
          <p:cNvSpPr/>
          <p:nvPr/>
        </p:nvSpPr>
        <p:spPr>
          <a:xfrm>
            <a:off x="442913" y="4732020"/>
            <a:ext cx="5440680" cy="77724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82880" rtlCol="0" anchor="ctr"/>
          <a:lstStyle/>
          <a:p>
            <a:r>
              <a:rPr sz="1350" b="1" dirty="0" err="1">
                <a:solidFill>
                  <a:srgbClr val="FFA630"/>
                </a:solidFill>
                <a:latin typeface="Calibri"/>
              </a:rPr>
              <a:t>ByteTrack</a:t>
            </a:r>
            <a:endParaRPr sz="1350" b="1" dirty="0">
              <a:solidFill>
                <a:srgbClr val="FFA630"/>
              </a:solidFill>
              <a:latin typeface="Calibri"/>
            </a:endParaRPr>
          </a:p>
          <a:p>
            <a:r>
              <a:rPr sz="1250" dirty="0">
                <a:solidFill>
                  <a:srgbClr val="CADCFC"/>
                </a:solidFill>
                <a:latin typeface="Calibri"/>
              </a:rPr>
              <a:t>Requires at least partial detection evidence to associate a track</a:t>
            </a:r>
          </a:p>
        </p:txBody>
      </p:sp>
      <p:sp>
        <p:nvSpPr>
          <p:cNvPr id="10" name="Rounded Rectangle 9"/>
          <p:cNvSpPr/>
          <p:nvPr/>
        </p:nvSpPr>
        <p:spPr>
          <a:xfrm>
            <a:off x="6321553" y="4709160"/>
            <a:ext cx="5440680" cy="777240"/>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82880" rtlCol="0" anchor="ctr"/>
          <a:lstStyle/>
          <a:p>
            <a:r>
              <a:rPr sz="1350" b="1" dirty="0">
                <a:solidFill>
                  <a:srgbClr val="FFA630"/>
                </a:solidFill>
                <a:latin typeface="Calibri"/>
              </a:rPr>
              <a:t>Fixed temporal memory</a:t>
            </a:r>
          </a:p>
          <a:p>
            <a:r>
              <a:rPr sz="1250" dirty="0">
                <a:solidFill>
                  <a:srgbClr val="CADCFC"/>
                </a:solidFill>
                <a:latin typeface="Calibri"/>
              </a:rPr>
              <a:t>Does not model motion and risks retaining tracks after the object has left the scene</a:t>
            </a:r>
          </a:p>
        </p:txBody>
      </p:sp>
      <p:sp>
        <p:nvSpPr>
          <p:cNvPr id="11" name="TextBox 10"/>
          <p:cNvSpPr txBox="1"/>
          <p:nvPr/>
        </p:nvSpPr>
        <p:spPr>
          <a:xfrm>
            <a:off x="1554480" y="5806440"/>
            <a:ext cx="9079992" cy="457200"/>
          </a:xfrm>
          <a:prstGeom prst="rect">
            <a:avLst/>
          </a:prstGeom>
          <a:noFill/>
        </p:spPr>
        <p:txBody>
          <a:bodyPr wrap="square">
            <a:spAutoFit/>
          </a:bodyPr>
          <a:lstStyle/>
          <a:p>
            <a:pPr algn="ctr"/>
            <a:r>
              <a:rPr sz="1450" b="1" i="1">
                <a:solidFill>
                  <a:srgbClr val="FFA630"/>
                </a:solidFill>
                <a:latin typeface="Calibri"/>
              </a:rPr>
              <a:t>None of these methods distinguish between an occluded, lost, or exited object, or adjust confidence accordingly — this is the gap OATM is designed to address.</a:t>
            </a:r>
          </a:p>
        </p:txBody>
      </p:sp>
      <p:sp>
        <p:nvSpPr>
          <p:cNvPr id="12" name="TextBox 11"/>
          <p:cNvSpPr txBox="1"/>
          <p:nvPr/>
        </p:nvSpPr>
        <p:spPr>
          <a:xfrm>
            <a:off x="11430000" y="6355080"/>
            <a:ext cx="502920" cy="274320"/>
          </a:xfrm>
          <a:prstGeom prst="rect">
            <a:avLst/>
          </a:prstGeom>
          <a:noFill/>
        </p:spPr>
        <p:txBody>
          <a:bodyPr wrap="none">
            <a:spAutoFit/>
          </a:bodyPr>
          <a:lstStyle/>
          <a:p>
            <a:pPr algn="r"/>
            <a:r>
              <a:rPr sz="1050">
                <a:solidFill>
                  <a:srgbClr val="8A93AD"/>
                </a:solidFill>
                <a:latin typeface="Calibri"/>
              </a:rPr>
              <a:t>11</a:t>
            </a:r>
          </a:p>
        </p:txBody>
      </p:sp>
    </p:spTree>
    <p:extLst>
      <p:ext uri="{BB962C8B-B14F-4D97-AF65-F5344CB8AC3E}">
        <p14:creationId xmlns:p14="http://schemas.microsoft.com/office/powerpoint/2010/main" val="2553193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320040"/>
          </a:xfrm>
          <a:prstGeom prst="rect">
            <a:avLst/>
          </a:prstGeom>
          <a:noFill/>
        </p:spPr>
        <p:txBody>
          <a:bodyPr wrap="square">
            <a:spAutoFit/>
          </a:bodyPr>
          <a:lstStyle/>
          <a:p>
            <a:pPr algn="l"/>
            <a:r>
              <a:rPr sz="1300" b="1" i="0">
                <a:solidFill>
                  <a:srgbClr val="FFA630"/>
                </a:solidFill>
                <a:latin typeface="Calibri"/>
              </a:rPr>
              <a:t>WHAT MAKES OATM DIFFERENT</a:t>
            </a:r>
          </a:p>
        </p:txBody>
      </p:sp>
      <p:sp>
        <p:nvSpPr>
          <p:cNvPr id="3" name="TextBox 2"/>
          <p:cNvSpPr txBox="1"/>
          <p:nvPr/>
        </p:nvSpPr>
        <p:spPr>
          <a:xfrm>
            <a:off x="640080" y="795528"/>
            <a:ext cx="10881360" cy="640080"/>
          </a:xfrm>
          <a:prstGeom prst="rect">
            <a:avLst/>
          </a:prstGeom>
          <a:noFill/>
        </p:spPr>
        <p:txBody>
          <a:bodyPr wrap="square">
            <a:spAutoFit/>
          </a:bodyPr>
          <a:lstStyle/>
          <a:p>
            <a:pPr algn="l"/>
            <a:r>
              <a:rPr sz="2600" b="1" i="0">
                <a:solidFill>
                  <a:srgbClr val="12173A"/>
                </a:solidFill>
                <a:latin typeface="Cambria"/>
              </a:rPr>
              <a:t>Four Ideas Standard Tracking Does Not Have</a:t>
            </a:r>
          </a:p>
        </p:txBody>
      </p:sp>
      <p:sp>
        <p:nvSpPr>
          <p:cNvPr id="4" name="Rectangle 3"/>
          <p:cNvSpPr/>
          <p:nvPr/>
        </p:nvSpPr>
        <p:spPr>
          <a:xfrm>
            <a:off x="640080" y="1417320"/>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691640"/>
            <a:ext cx="5303520" cy="1965960"/>
          </a:xfrm>
          <a:prstGeom prst="roundRect">
            <a:avLst>
              <a:gd name="adj" fmla="val 6000"/>
            </a:avLst>
          </a:prstGeom>
          <a:solidFill>
            <a:srgbClr val="F3F5FA"/>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691640"/>
            <a:ext cx="68580" cy="196596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837944"/>
            <a:ext cx="548640" cy="457200"/>
          </a:xfrm>
          <a:prstGeom prst="rect">
            <a:avLst/>
          </a:prstGeom>
          <a:noFill/>
        </p:spPr>
        <p:txBody>
          <a:bodyPr wrap="square">
            <a:spAutoFit/>
          </a:bodyPr>
          <a:lstStyle/>
          <a:p>
            <a:pPr algn="l"/>
            <a:r>
              <a:rPr sz="3000" b="1" i="0">
                <a:solidFill>
                  <a:srgbClr val="FFA630"/>
                </a:solidFill>
                <a:latin typeface="Cambria"/>
              </a:rPr>
              <a:t>1</a:t>
            </a:r>
          </a:p>
        </p:txBody>
      </p:sp>
      <p:sp>
        <p:nvSpPr>
          <p:cNvPr id="8" name="TextBox 7"/>
          <p:cNvSpPr txBox="1"/>
          <p:nvPr/>
        </p:nvSpPr>
        <p:spPr>
          <a:xfrm>
            <a:off x="1508760" y="1874520"/>
            <a:ext cx="4160520" cy="384048"/>
          </a:xfrm>
          <a:prstGeom prst="rect">
            <a:avLst/>
          </a:prstGeom>
          <a:noFill/>
        </p:spPr>
        <p:txBody>
          <a:bodyPr wrap="square">
            <a:spAutoFit/>
          </a:bodyPr>
          <a:lstStyle/>
          <a:p>
            <a:pPr algn="l"/>
            <a:r>
              <a:rPr sz="1650" b="1" i="0">
                <a:solidFill>
                  <a:srgbClr val="12173A"/>
                </a:solidFill>
                <a:latin typeface="Cambria"/>
              </a:rPr>
              <a:t>It looks for what is blocking</a:t>
            </a:r>
          </a:p>
        </p:txBody>
      </p:sp>
      <p:sp>
        <p:nvSpPr>
          <p:cNvPr id="9" name="TextBox 8"/>
          <p:cNvSpPr txBox="1"/>
          <p:nvPr/>
        </p:nvSpPr>
        <p:spPr>
          <a:xfrm>
            <a:off x="1508760" y="2350008"/>
            <a:ext cx="4160520" cy="777240"/>
          </a:xfrm>
          <a:prstGeom prst="rect">
            <a:avLst/>
          </a:prstGeom>
          <a:noFill/>
        </p:spPr>
        <p:txBody>
          <a:bodyPr wrap="square">
            <a:spAutoFit/>
          </a:bodyPr>
          <a:lstStyle/>
          <a:p>
            <a:pPr algn="l">
              <a:lnSpc>
                <a:spcPct val="118000"/>
              </a:lnSpc>
            </a:pPr>
            <a:r>
              <a:rPr sz="1250" b="0" i="0">
                <a:solidFill>
                  <a:srgbClr val="2E3348"/>
                </a:solidFill>
                <a:latin typeface="Calibri"/>
              </a:rPr>
              <a:t>A hidden object is only kept alive if something visible could genuinely be hiding it — it is never granted automatically.</a:t>
            </a:r>
          </a:p>
        </p:txBody>
      </p:sp>
      <p:sp>
        <p:nvSpPr>
          <p:cNvPr id="10" name="TextBox 9"/>
          <p:cNvSpPr txBox="1"/>
          <p:nvPr/>
        </p:nvSpPr>
        <p:spPr>
          <a:xfrm>
            <a:off x="1508760" y="3200400"/>
            <a:ext cx="4160520" cy="274320"/>
          </a:xfrm>
          <a:prstGeom prst="rect">
            <a:avLst/>
          </a:prstGeom>
          <a:noFill/>
        </p:spPr>
        <p:txBody>
          <a:bodyPr wrap="square">
            <a:spAutoFit/>
          </a:bodyPr>
          <a:lstStyle/>
          <a:p>
            <a:pPr algn="l"/>
            <a:r>
              <a:rPr sz="1000" b="0" i="1">
                <a:solidFill>
                  <a:srgbClr val="69728C"/>
                </a:solidFill>
                <a:latin typeface="Calibri"/>
              </a:rPr>
              <a:t>target–occluder relational memory</a:t>
            </a:r>
          </a:p>
        </p:txBody>
      </p:sp>
      <p:sp>
        <p:nvSpPr>
          <p:cNvPr id="11" name="Rounded Rectangle 10"/>
          <p:cNvSpPr/>
          <p:nvPr/>
        </p:nvSpPr>
        <p:spPr>
          <a:xfrm>
            <a:off x="6245352" y="1691640"/>
            <a:ext cx="5303520" cy="1965960"/>
          </a:xfrm>
          <a:prstGeom prst="roundRect">
            <a:avLst>
              <a:gd name="adj" fmla="val 6000"/>
            </a:avLst>
          </a:prstGeom>
          <a:solidFill>
            <a:srgbClr val="F3F5FA"/>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45352" y="1691640"/>
            <a:ext cx="68580" cy="196596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1837944"/>
            <a:ext cx="548640" cy="457200"/>
          </a:xfrm>
          <a:prstGeom prst="rect">
            <a:avLst/>
          </a:prstGeom>
          <a:noFill/>
        </p:spPr>
        <p:txBody>
          <a:bodyPr wrap="square">
            <a:spAutoFit/>
          </a:bodyPr>
          <a:lstStyle/>
          <a:p>
            <a:pPr algn="l"/>
            <a:r>
              <a:rPr sz="3000" b="1" i="0">
                <a:solidFill>
                  <a:srgbClr val="FFA630"/>
                </a:solidFill>
                <a:latin typeface="Cambria"/>
              </a:rPr>
              <a:t>2</a:t>
            </a:r>
          </a:p>
        </p:txBody>
      </p:sp>
      <p:sp>
        <p:nvSpPr>
          <p:cNvPr id="14" name="TextBox 13"/>
          <p:cNvSpPr txBox="1"/>
          <p:nvPr/>
        </p:nvSpPr>
        <p:spPr>
          <a:xfrm>
            <a:off x="7114032" y="1874520"/>
            <a:ext cx="4160520" cy="384048"/>
          </a:xfrm>
          <a:prstGeom prst="rect">
            <a:avLst/>
          </a:prstGeom>
          <a:noFill/>
        </p:spPr>
        <p:txBody>
          <a:bodyPr wrap="square">
            <a:spAutoFit/>
          </a:bodyPr>
          <a:lstStyle/>
          <a:p>
            <a:pPr algn="l"/>
            <a:r>
              <a:rPr sz="1650" b="1" i="0">
                <a:solidFill>
                  <a:srgbClr val="12173A"/>
                </a:solidFill>
                <a:latin typeface="Cambria"/>
              </a:rPr>
              <a:t>It works out where the object went</a:t>
            </a:r>
          </a:p>
        </p:txBody>
      </p:sp>
      <p:sp>
        <p:nvSpPr>
          <p:cNvPr id="15" name="TextBox 14"/>
          <p:cNvSpPr txBox="1"/>
          <p:nvPr/>
        </p:nvSpPr>
        <p:spPr>
          <a:xfrm>
            <a:off x="7114032" y="2350008"/>
            <a:ext cx="4160520" cy="777240"/>
          </a:xfrm>
          <a:prstGeom prst="rect">
            <a:avLst/>
          </a:prstGeom>
          <a:noFill/>
        </p:spPr>
        <p:txBody>
          <a:bodyPr wrap="square">
            <a:spAutoFit/>
          </a:bodyPr>
          <a:lstStyle/>
          <a:p>
            <a:pPr algn="l">
              <a:lnSpc>
                <a:spcPct val="118000"/>
              </a:lnSpc>
            </a:pPr>
            <a:r>
              <a:rPr sz="1250" b="0" i="0">
                <a:solidFill>
                  <a:srgbClr val="2E3348"/>
                </a:solidFill>
                <a:latin typeface="Calibri"/>
              </a:rPr>
              <a:t>The hidden position is read off the blocking vehicle's movement, and only believed if a separate motion estimate agrees with it.</a:t>
            </a:r>
          </a:p>
        </p:txBody>
      </p:sp>
      <p:sp>
        <p:nvSpPr>
          <p:cNvPr id="16" name="TextBox 15"/>
          <p:cNvSpPr txBox="1"/>
          <p:nvPr/>
        </p:nvSpPr>
        <p:spPr>
          <a:xfrm>
            <a:off x="7114032" y="3200400"/>
            <a:ext cx="4160520" cy="274320"/>
          </a:xfrm>
          <a:prstGeom prst="rect">
            <a:avLst/>
          </a:prstGeom>
          <a:noFill/>
        </p:spPr>
        <p:txBody>
          <a:bodyPr wrap="square">
            <a:spAutoFit/>
          </a:bodyPr>
          <a:lstStyle/>
          <a:p>
            <a:pPr algn="l"/>
            <a:r>
              <a:rPr sz="1000" b="0" i="1">
                <a:solidFill>
                  <a:srgbClr val="69728C"/>
                </a:solidFill>
                <a:latin typeface="Calibri"/>
              </a:rPr>
              <a:t>occluder-centric geometry with motion consistency</a:t>
            </a:r>
          </a:p>
        </p:txBody>
      </p:sp>
      <p:sp>
        <p:nvSpPr>
          <p:cNvPr id="17" name="Rounded Rectangle 16"/>
          <p:cNvSpPr/>
          <p:nvPr/>
        </p:nvSpPr>
        <p:spPr>
          <a:xfrm>
            <a:off x="640080" y="3931920"/>
            <a:ext cx="5303520" cy="1965960"/>
          </a:xfrm>
          <a:prstGeom prst="roundRect">
            <a:avLst>
              <a:gd name="adj" fmla="val 6000"/>
            </a:avLst>
          </a:prstGeom>
          <a:solidFill>
            <a:srgbClr val="F3F5FA"/>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3931920"/>
            <a:ext cx="68580" cy="196596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 y="4078224"/>
            <a:ext cx="548640" cy="457200"/>
          </a:xfrm>
          <a:prstGeom prst="rect">
            <a:avLst/>
          </a:prstGeom>
          <a:noFill/>
        </p:spPr>
        <p:txBody>
          <a:bodyPr wrap="square">
            <a:spAutoFit/>
          </a:bodyPr>
          <a:lstStyle/>
          <a:p>
            <a:pPr algn="l"/>
            <a:r>
              <a:rPr sz="3000" b="1" i="0">
                <a:solidFill>
                  <a:srgbClr val="FFA630"/>
                </a:solidFill>
                <a:latin typeface="Cambria"/>
              </a:rPr>
              <a:t>3</a:t>
            </a:r>
          </a:p>
        </p:txBody>
      </p:sp>
      <p:sp>
        <p:nvSpPr>
          <p:cNvPr id="20" name="TextBox 19"/>
          <p:cNvSpPr txBox="1"/>
          <p:nvPr/>
        </p:nvSpPr>
        <p:spPr>
          <a:xfrm>
            <a:off x="1508760" y="4114800"/>
            <a:ext cx="4160520" cy="384048"/>
          </a:xfrm>
          <a:prstGeom prst="rect">
            <a:avLst/>
          </a:prstGeom>
          <a:noFill/>
        </p:spPr>
        <p:txBody>
          <a:bodyPr wrap="square">
            <a:spAutoFit/>
          </a:bodyPr>
          <a:lstStyle/>
          <a:p>
            <a:pPr algn="l"/>
            <a:r>
              <a:rPr sz="1650" b="1" i="0">
                <a:solidFill>
                  <a:srgbClr val="12173A"/>
                </a:solidFill>
                <a:latin typeface="Cambria"/>
              </a:rPr>
              <a:t>It knows when to stop waiting</a:t>
            </a:r>
          </a:p>
        </p:txBody>
      </p:sp>
      <p:sp>
        <p:nvSpPr>
          <p:cNvPr id="21" name="TextBox 20"/>
          <p:cNvSpPr txBox="1"/>
          <p:nvPr/>
        </p:nvSpPr>
        <p:spPr>
          <a:xfrm>
            <a:off x="1508760" y="4590288"/>
            <a:ext cx="4160520" cy="777240"/>
          </a:xfrm>
          <a:prstGeom prst="rect">
            <a:avLst/>
          </a:prstGeom>
          <a:noFill/>
        </p:spPr>
        <p:txBody>
          <a:bodyPr wrap="square">
            <a:spAutoFit/>
          </a:bodyPr>
          <a:lstStyle/>
          <a:p>
            <a:pPr algn="l">
              <a:lnSpc>
                <a:spcPct val="118000"/>
              </a:lnSpc>
            </a:pPr>
            <a:r>
              <a:rPr sz="1250" b="0" i="0">
                <a:solidFill>
                  <a:srgbClr val="2E3348"/>
                </a:solidFill>
                <a:latin typeface="Calibri"/>
              </a:rPr>
              <a:t>OATM predicts when the object should come back into view, and drops the track cleanly if it does not appear.</a:t>
            </a:r>
          </a:p>
        </p:txBody>
      </p:sp>
      <p:sp>
        <p:nvSpPr>
          <p:cNvPr id="22" name="TextBox 21"/>
          <p:cNvSpPr txBox="1"/>
          <p:nvPr/>
        </p:nvSpPr>
        <p:spPr>
          <a:xfrm>
            <a:off x="1508760" y="5440680"/>
            <a:ext cx="4160520" cy="274320"/>
          </a:xfrm>
          <a:prstGeom prst="rect">
            <a:avLst/>
          </a:prstGeom>
          <a:noFill/>
        </p:spPr>
        <p:txBody>
          <a:bodyPr wrap="square">
            <a:spAutoFit/>
          </a:bodyPr>
          <a:lstStyle/>
          <a:p>
            <a:pPr algn="l"/>
            <a:r>
              <a:rPr sz="1000" b="0" i="1">
                <a:solidFill>
                  <a:srgbClr val="69728C"/>
                </a:solidFill>
                <a:latin typeface="Calibri"/>
              </a:rPr>
              <a:t>expected clearance and uncertainty termination</a:t>
            </a:r>
          </a:p>
        </p:txBody>
      </p:sp>
      <p:sp>
        <p:nvSpPr>
          <p:cNvPr id="23" name="Rounded Rectangle 22"/>
          <p:cNvSpPr/>
          <p:nvPr/>
        </p:nvSpPr>
        <p:spPr>
          <a:xfrm>
            <a:off x="6245352" y="3931920"/>
            <a:ext cx="5303520" cy="1965960"/>
          </a:xfrm>
          <a:prstGeom prst="roundRect">
            <a:avLst>
              <a:gd name="adj" fmla="val 6000"/>
            </a:avLst>
          </a:prstGeom>
          <a:solidFill>
            <a:srgbClr val="F3F5FA"/>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45352" y="3931920"/>
            <a:ext cx="68580" cy="196596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37960" y="4078224"/>
            <a:ext cx="548640" cy="457200"/>
          </a:xfrm>
          <a:prstGeom prst="rect">
            <a:avLst/>
          </a:prstGeom>
          <a:noFill/>
        </p:spPr>
        <p:txBody>
          <a:bodyPr wrap="square">
            <a:spAutoFit/>
          </a:bodyPr>
          <a:lstStyle/>
          <a:p>
            <a:pPr algn="l"/>
            <a:r>
              <a:rPr sz="3000" b="1" i="0">
                <a:solidFill>
                  <a:srgbClr val="FFA630"/>
                </a:solidFill>
                <a:latin typeface="Cambria"/>
              </a:rPr>
              <a:t>4</a:t>
            </a:r>
          </a:p>
        </p:txBody>
      </p:sp>
      <p:sp>
        <p:nvSpPr>
          <p:cNvPr id="26" name="TextBox 25"/>
          <p:cNvSpPr txBox="1"/>
          <p:nvPr/>
        </p:nvSpPr>
        <p:spPr>
          <a:xfrm>
            <a:off x="7114032" y="4114800"/>
            <a:ext cx="4160520" cy="384048"/>
          </a:xfrm>
          <a:prstGeom prst="rect">
            <a:avLst/>
          </a:prstGeom>
          <a:noFill/>
        </p:spPr>
        <p:txBody>
          <a:bodyPr wrap="square">
            <a:spAutoFit/>
          </a:bodyPr>
          <a:lstStyle/>
          <a:p>
            <a:pPr algn="l"/>
            <a:r>
              <a:rPr sz="1650" b="1" i="0">
                <a:solidFill>
                  <a:srgbClr val="12173A"/>
                </a:solidFill>
                <a:latin typeface="Cambria"/>
              </a:rPr>
              <a:t>It protects the identity</a:t>
            </a:r>
          </a:p>
        </p:txBody>
      </p:sp>
      <p:sp>
        <p:nvSpPr>
          <p:cNvPr id="27" name="TextBox 26"/>
          <p:cNvSpPr txBox="1"/>
          <p:nvPr/>
        </p:nvSpPr>
        <p:spPr>
          <a:xfrm>
            <a:off x="7114032" y="4590288"/>
            <a:ext cx="4160520" cy="777240"/>
          </a:xfrm>
          <a:prstGeom prst="rect">
            <a:avLst/>
          </a:prstGeom>
          <a:noFill/>
        </p:spPr>
        <p:txBody>
          <a:bodyPr wrap="square">
            <a:spAutoFit/>
          </a:bodyPr>
          <a:lstStyle/>
          <a:p>
            <a:pPr algn="l">
              <a:lnSpc>
                <a:spcPct val="118000"/>
              </a:lnSpc>
            </a:pPr>
            <a:r>
              <a:rPr sz="1250" b="0" i="0">
                <a:solidFill>
                  <a:srgbClr val="2E3348"/>
                </a:solidFill>
                <a:latin typeface="Calibri"/>
              </a:rPr>
              <a:t>A stricter re-matching check stops the track from latching onto the wrong vehicle when it reappears.</a:t>
            </a:r>
          </a:p>
        </p:txBody>
      </p:sp>
      <p:sp>
        <p:nvSpPr>
          <p:cNvPr id="28" name="TextBox 27"/>
          <p:cNvSpPr txBox="1"/>
          <p:nvPr/>
        </p:nvSpPr>
        <p:spPr>
          <a:xfrm>
            <a:off x="7114032" y="5440680"/>
            <a:ext cx="4160520" cy="274320"/>
          </a:xfrm>
          <a:prstGeom prst="rect">
            <a:avLst/>
          </a:prstGeom>
          <a:noFill/>
        </p:spPr>
        <p:txBody>
          <a:bodyPr wrap="square">
            <a:spAutoFit/>
          </a:bodyPr>
          <a:lstStyle/>
          <a:p>
            <a:pPr algn="l"/>
            <a:r>
              <a:rPr sz="1000" b="0" i="1">
                <a:solidFill>
                  <a:srgbClr val="69728C"/>
                </a:solidFill>
                <a:latin typeface="Calibri"/>
              </a:rPr>
              <a:t>protected reappearance stage</a:t>
            </a:r>
          </a:p>
        </p:txBody>
      </p:sp>
      <p:sp>
        <p:nvSpPr>
          <p:cNvPr id="29" name="TextBox 28"/>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320040"/>
          </a:xfrm>
          <a:prstGeom prst="rect">
            <a:avLst/>
          </a:prstGeom>
          <a:noFill/>
        </p:spPr>
        <p:txBody>
          <a:bodyPr wrap="square">
            <a:spAutoFit/>
          </a:bodyPr>
          <a:lstStyle/>
          <a:p>
            <a:pPr algn="l"/>
            <a:r>
              <a:rPr sz="1300" b="1" i="0">
                <a:solidFill>
                  <a:srgbClr val="FFA630"/>
                </a:solidFill>
                <a:latin typeface="Calibri"/>
              </a:rPr>
              <a:t>HOW IT WORKS</a:t>
            </a:r>
          </a:p>
        </p:txBody>
      </p:sp>
      <p:sp>
        <p:nvSpPr>
          <p:cNvPr id="3" name="TextBox 2"/>
          <p:cNvSpPr txBox="1"/>
          <p:nvPr/>
        </p:nvSpPr>
        <p:spPr>
          <a:xfrm>
            <a:off x="640080" y="795528"/>
            <a:ext cx="8229600" cy="640080"/>
          </a:xfrm>
          <a:prstGeom prst="rect">
            <a:avLst/>
          </a:prstGeom>
          <a:noFill/>
        </p:spPr>
        <p:txBody>
          <a:bodyPr wrap="square">
            <a:spAutoFit/>
          </a:bodyPr>
          <a:lstStyle/>
          <a:p>
            <a:pPr algn="l"/>
            <a:r>
              <a:rPr sz="2600" b="1" i="0">
                <a:solidFill>
                  <a:srgbClr val="12173A"/>
                </a:solidFill>
                <a:latin typeface="Cambria"/>
              </a:rPr>
              <a:t>What OATM Does, Step by Step</a:t>
            </a:r>
          </a:p>
        </p:txBody>
      </p:sp>
      <p:sp>
        <p:nvSpPr>
          <p:cNvPr id="4" name="Rectangle 3"/>
          <p:cNvSpPr/>
          <p:nvPr/>
        </p:nvSpPr>
        <p:spPr>
          <a:xfrm>
            <a:off x="640080" y="1417320"/>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WhatsApp methodology pic.jpeg"/>
          <p:cNvPicPr>
            <a:picLocks noChangeAspect="1"/>
          </p:cNvPicPr>
          <p:nvPr/>
        </p:nvPicPr>
        <p:blipFill>
          <a:blip r:embed="rId3"/>
          <a:stretch>
            <a:fillRect/>
          </a:stretch>
        </p:blipFill>
        <p:spPr>
          <a:xfrm>
            <a:off x="640080" y="1691640"/>
            <a:ext cx="10908792" cy="4636236"/>
          </a:xfrm>
          <a:prstGeom prst="rect">
            <a:avLst/>
          </a:prstGeom>
          <a:ln w="9525">
            <a:solidFill>
              <a:srgbClr val="DDE2F0"/>
            </a:solidFill>
          </a:ln>
          <a:effectLst>
            <a:outerShdw blurRad="177800" dist="50800" dir="2700000" rotWithShape="0">
              <a:srgbClr val="12173A">
                <a:alpha val="32000"/>
              </a:srgbClr>
            </a:outerShdw>
          </a:effectLst>
        </p:spPr>
      </p:pic>
      <p:sp>
        <p:nvSpPr>
          <p:cNvPr id="6" name="TextBox 5"/>
          <p:cNvSpPr txBox="1"/>
          <p:nvPr/>
        </p:nvSpPr>
        <p:spPr>
          <a:xfrm>
            <a:off x="640080" y="6465036"/>
            <a:ext cx="10911535" cy="365760"/>
          </a:xfrm>
          <a:prstGeom prst="rect">
            <a:avLst/>
          </a:prstGeom>
          <a:noFill/>
        </p:spPr>
        <p:txBody>
          <a:bodyPr wrap="square">
            <a:spAutoFit/>
          </a:bodyPr>
          <a:lstStyle/>
          <a:p>
            <a:pPr algn="ctr"/>
            <a:r>
              <a:rPr sz="1250" b="0" i="1">
                <a:solidFill>
                  <a:srgbClr val="69728C"/>
                </a:solidFill>
                <a:latin typeface="Calibri"/>
              </a:rPr>
              <a:t>Relational OATM activates only for an established track that goes unmatched — every other detection follows ordinary ByteTrack association.</a:t>
            </a:r>
          </a:p>
        </p:txBody>
      </p:sp>
      <p:sp>
        <p:nvSpPr>
          <p:cNvPr id="7" name="TextBox 6"/>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7315200" cy="320040"/>
          </a:xfrm>
          <a:prstGeom prst="rect">
            <a:avLst/>
          </a:prstGeom>
          <a:noFill/>
        </p:spPr>
        <p:txBody>
          <a:bodyPr wrap="square">
            <a:spAutoFit/>
          </a:bodyPr>
          <a:lstStyle/>
          <a:p>
            <a:pPr algn="l"/>
            <a:r>
              <a:rPr sz="1300" b="1" i="0">
                <a:solidFill>
                  <a:srgbClr val="FFA630"/>
                </a:solidFill>
                <a:latin typeface="Calibri"/>
              </a:rPr>
              <a:t>SEEING IT WORK</a:t>
            </a:r>
          </a:p>
        </p:txBody>
      </p:sp>
      <p:sp>
        <p:nvSpPr>
          <p:cNvPr id="3" name="TextBox 2"/>
          <p:cNvSpPr txBox="1"/>
          <p:nvPr/>
        </p:nvSpPr>
        <p:spPr>
          <a:xfrm>
            <a:off x="640080" y="658368"/>
            <a:ext cx="10515600" cy="640080"/>
          </a:xfrm>
          <a:prstGeom prst="rect">
            <a:avLst/>
          </a:prstGeom>
          <a:noFill/>
        </p:spPr>
        <p:txBody>
          <a:bodyPr wrap="square">
            <a:spAutoFit/>
          </a:bodyPr>
          <a:lstStyle/>
          <a:p>
            <a:pPr algn="l"/>
            <a:r>
              <a:rPr sz="2400" b="1" i="0">
                <a:solidFill>
                  <a:srgbClr val="12173A"/>
                </a:solidFill>
                <a:latin typeface="Cambria"/>
              </a:rPr>
              <a:t>OATM Holding On to a Car It Cannot See</a:t>
            </a:r>
          </a:p>
        </p:txBody>
      </p:sp>
      <p:sp>
        <p:nvSpPr>
          <p:cNvPr id="4" name="Rectangle 3"/>
          <p:cNvSpPr/>
          <p:nvPr/>
        </p:nvSpPr>
        <p:spPr>
          <a:xfrm>
            <a:off x="640080" y="1234440"/>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25880"/>
            <a:ext cx="10908792" cy="457200"/>
          </a:xfrm>
          <a:prstGeom prst="rect">
            <a:avLst/>
          </a:prstGeom>
          <a:noFill/>
        </p:spPr>
        <p:txBody>
          <a:bodyPr wrap="square">
            <a:spAutoFit/>
          </a:bodyPr>
          <a:lstStyle/>
          <a:p>
            <a:pPr algn="l">
              <a:lnSpc>
                <a:spcPct val="110000"/>
              </a:lnSpc>
            </a:pPr>
            <a:r>
              <a:rPr sz="1350" b="0" i="0">
                <a:solidFill>
                  <a:srgbClr val="2E3348"/>
                </a:solidFill>
                <a:latin typeface="Calibri"/>
              </a:rPr>
              <a:t>The real tracker, running on camera frames only. A black SUV moves across the car being followed; the detector stops seeing it, but OATM keeps the identity alive and carries the box forward until it comes back.</a:t>
            </a:r>
          </a:p>
        </p:txBody>
      </p:sp>
      <p:pic>
        <p:nvPicPr>
          <p:cNvPr id="6" name="Picture 5" descr="assets_oatm_tracking.gif"/>
          <p:cNvPicPr>
            <a:picLocks noChangeAspect="1"/>
          </p:cNvPicPr>
          <p:nvPr/>
        </p:nvPicPr>
        <p:blipFill>
          <a:blip r:embed="rId3"/>
          <a:stretch>
            <a:fillRect/>
          </a:stretch>
        </p:blipFill>
        <p:spPr>
          <a:xfrm>
            <a:off x="2397760" y="2039112"/>
            <a:ext cx="7396480" cy="4160520"/>
          </a:xfrm>
          <a:prstGeom prst="rect">
            <a:avLst/>
          </a:prstGeom>
        </p:spPr>
      </p:pic>
      <p:sp>
        <p:nvSpPr>
          <p:cNvPr id="7" name="TextBox 6"/>
          <p:cNvSpPr txBox="1"/>
          <p:nvPr/>
        </p:nvSpPr>
        <p:spPr>
          <a:xfrm>
            <a:off x="640080" y="6355080"/>
            <a:ext cx="10908792" cy="502920"/>
          </a:xfrm>
          <a:prstGeom prst="rect">
            <a:avLst/>
          </a:prstGeom>
          <a:noFill/>
        </p:spPr>
        <p:txBody>
          <a:bodyPr wrap="square">
            <a:spAutoFit/>
          </a:bodyPr>
          <a:lstStyle/>
          <a:p>
            <a:pPr algn="l"/>
            <a:r>
              <a:rPr sz="1100" b="0" i="1" dirty="0">
                <a:solidFill>
                  <a:srgbClr val="69728C"/>
                </a:solidFill>
                <a:latin typeface="Calibri"/>
              </a:rPr>
              <a:t>Scene </a:t>
            </a:r>
            <a:r>
              <a:rPr sz="1100" b="0" i="1" dirty="0" err="1">
                <a:solidFill>
                  <a:srgbClr val="69728C"/>
                </a:solidFill>
                <a:latin typeface="Calibri"/>
              </a:rPr>
              <a:t>fcbccedd</a:t>
            </a:r>
            <a:r>
              <a:rPr sz="1100" b="0" i="1" dirty="0">
                <a:solidFill>
                  <a:srgbClr val="69728C"/>
                </a:solidFill>
                <a:latin typeface="Calibri"/>
              </a:rPr>
              <a:t>, frames 68-142. Green = detected this frame · orange = the vehicle OATM blamed for the occlusion · dashed blue = held from memory, with no detection at all. Plays automatically in slideshow.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320040"/>
          </a:xfrm>
          <a:prstGeom prst="rect">
            <a:avLst/>
          </a:prstGeom>
          <a:noFill/>
        </p:spPr>
        <p:txBody>
          <a:bodyPr wrap="square">
            <a:spAutoFit/>
          </a:bodyPr>
          <a:lstStyle/>
          <a:p>
            <a:pPr algn="l"/>
            <a:r>
              <a:rPr sz="1300" b="1" i="0">
                <a:solidFill>
                  <a:srgbClr val="FFA630"/>
                </a:solidFill>
                <a:latin typeface="Calibri"/>
              </a:rPr>
              <a:t>CHECKING THE ANSWERS</a:t>
            </a:r>
          </a:p>
        </p:txBody>
      </p:sp>
      <p:sp>
        <p:nvSpPr>
          <p:cNvPr id="3" name="TextBox 2"/>
          <p:cNvSpPr txBox="1"/>
          <p:nvPr/>
        </p:nvSpPr>
        <p:spPr>
          <a:xfrm>
            <a:off x="640080" y="795528"/>
            <a:ext cx="10515600" cy="640080"/>
          </a:xfrm>
          <a:prstGeom prst="rect">
            <a:avLst/>
          </a:prstGeom>
          <a:noFill/>
        </p:spPr>
        <p:txBody>
          <a:bodyPr wrap="square">
            <a:spAutoFit/>
          </a:bodyPr>
          <a:lstStyle/>
          <a:p>
            <a:pPr algn="l"/>
            <a:r>
              <a:rPr sz="2300" b="1" i="0">
                <a:solidFill>
                  <a:srgbClr val="12173A"/>
                </a:solidFill>
                <a:latin typeface="Cambria"/>
              </a:rPr>
              <a:t>Marking OATM Against LiDAR, Not Against Itself</a:t>
            </a:r>
          </a:p>
        </p:txBody>
      </p:sp>
      <p:sp>
        <p:nvSpPr>
          <p:cNvPr id="4" name="Rectangle 3"/>
          <p:cNvSpPr/>
          <p:nvPr/>
        </p:nvSpPr>
        <p:spPr>
          <a:xfrm>
            <a:off x="640080" y="1371600"/>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40080" y="5989320"/>
            <a:ext cx="10911535" cy="640080"/>
          </a:xfrm>
          <a:prstGeom prst="roundRect">
            <a:avLst>
              <a:gd name="adj" fmla="val 12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1400" b="1" i="1">
                <a:solidFill>
                  <a:srgbClr val="FFA630"/>
                </a:solidFill>
                <a:latin typeface="Calibri"/>
              </a:rPr>
              <a:t>LiDAR provides positional information independent of the camera, allowing OATM's predictions to be evaluated even when the target is not visible to the camera.</a:t>
            </a:r>
          </a:p>
        </p:txBody>
      </p:sp>
      <p:pic>
        <p:nvPicPr>
          <p:cNvPr id="15" name="Picture 14">
            <a:extLst>
              <a:ext uri="{FF2B5EF4-FFF2-40B4-BE49-F238E27FC236}">
                <a16:creationId xmlns:a16="http://schemas.microsoft.com/office/drawing/2014/main" id="{078C2393-6AC1-85B5-ACB4-3972B02DBB04}"/>
              </a:ext>
            </a:extLst>
          </p:cNvPr>
          <p:cNvPicPr>
            <a:picLocks noChangeAspect="1"/>
          </p:cNvPicPr>
          <p:nvPr/>
        </p:nvPicPr>
        <p:blipFill>
          <a:blip r:embed="rId3"/>
          <a:stretch>
            <a:fillRect/>
          </a:stretch>
        </p:blipFill>
        <p:spPr>
          <a:xfrm>
            <a:off x="7329489" y="1435608"/>
            <a:ext cx="4458080" cy="4063248"/>
          </a:xfrm>
          <a:prstGeom prst="rect">
            <a:avLst/>
          </a:prstGeom>
        </p:spPr>
      </p:pic>
      <p:sp>
        <p:nvSpPr>
          <p:cNvPr id="16" name="Rectangle 15"/>
          <p:cNvSpPr/>
          <p:nvPr/>
        </p:nvSpPr>
        <p:spPr>
          <a:xfrm>
            <a:off x="620107" y="2743200"/>
            <a:ext cx="1417320" cy="100584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050" b="1" dirty="0">
                <a:solidFill>
                  <a:srgbClr val="12173A"/>
                </a:solidFill>
                <a:latin typeface="Calibri"/>
              </a:rPr>
              <a:t>3D + LiDAR Ground Truth</a:t>
            </a:r>
          </a:p>
          <a:p>
            <a:pPr algn="ctr">
              <a:spcBef>
                <a:spcPts val="200"/>
              </a:spcBef>
            </a:pPr>
            <a:r>
              <a:rPr sz="900" dirty="0" err="1">
                <a:solidFill>
                  <a:srgbClr val="69728C"/>
                </a:solidFill>
                <a:latin typeface="Calibri"/>
              </a:rPr>
              <a:t>nuScenes</a:t>
            </a:r>
            <a:r>
              <a:rPr sz="900" dirty="0">
                <a:solidFill>
                  <a:srgbClr val="69728C"/>
                </a:solidFill>
                <a:latin typeface="Calibri"/>
              </a:rPr>
              <a:t> annotations, independent of camera</a:t>
            </a:r>
          </a:p>
        </p:txBody>
      </p:sp>
      <p:sp>
        <p:nvSpPr>
          <p:cNvPr id="17" name="TextBox 16"/>
          <p:cNvSpPr txBox="1"/>
          <p:nvPr/>
        </p:nvSpPr>
        <p:spPr>
          <a:xfrm>
            <a:off x="2057400" y="3108960"/>
            <a:ext cx="109728" cy="274320"/>
          </a:xfrm>
          <a:prstGeom prst="rect">
            <a:avLst/>
          </a:prstGeom>
          <a:noFill/>
        </p:spPr>
        <p:txBody>
          <a:bodyPr wrap="square">
            <a:spAutoFit/>
          </a:bodyPr>
          <a:lstStyle/>
          <a:p>
            <a:pPr algn="ctr"/>
            <a:r>
              <a:rPr sz="1100" b="1" i="0">
                <a:solidFill>
                  <a:srgbClr val="8A93AD"/>
                </a:solidFill>
                <a:latin typeface="Calibri"/>
              </a:rPr>
              <a:t>→</a:t>
            </a:r>
          </a:p>
        </p:txBody>
      </p:sp>
      <p:sp>
        <p:nvSpPr>
          <p:cNvPr id="18" name="Rectangle 17"/>
          <p:cNvSpPr/>
          <p:nvPr/>
        </p:nvSpPr>
        <p:spPr>
          <a:xfrm>
            <a:off x="2207075" y="2743200"/>
            <a:ext cx="1417320" cy="100584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050" b="1" dirty="0">
                <a:solidFill>
                  <a:srgbClr val="12173A"/>
                </a:solidFill>
                <a:latin typeface="Calibri"/>
              </a:rPr>
              <a:t>Project to CAM_FRONT</a:t>
            </a:r>
          </a:p>
          <a:p>
            <a:pPr algn="ctr">
              <a:spcBef>
                <a:spcPts val="200"/>
              </a:spcBef>
            </a:pPr>
            <a:r>
              <a:rPr sz="900" dirty="0">
                <a:solidFill>
                  <a:srgbClr val="69728C"/>
                </a:solidFill>
                <a:latin typeface="Calibri"/>
              </a:rPr>
              <a:t>Standard transform chain into the camera view</a:t>
            </a:r>
          </a:p>
        </p:txBody>
      </p:sp>
      <p:sp>
        <p:nvSpPr>
          <p:cNvPr id="19" name="TextBox 18"/>
          <p:cNvSpPr txBox="1"/>
          <p:nvPr/>
        </p:nvSpPr>
        <p:spPr>
          <a:xfrm>
            <a:off x="3637941" y="3125121"/>
            <a:ext cx="109728" cy="274320"/>
          </a:xfrm>
          <a:prstGeom prst="rect">
            <a:avLst/>
          </a:prstGeom>
          <a:noFill/>
        </p:spPr>
        <p:txBody>
          <a:bodyPr wrap="square">
            <a:spAutoFit/>
          </a:bodyPr>
          <a:lstStyle/>
          <a:p>
            <a:pPr algn="ctr"/>
            <a:r>
              <a:rPr sz="1100" b="1" i="0" dirty="0">
                <a:solidFill>
                  <a:srgbClr val="8A93AD"/>
                </a:solidFill>
                <a:latin typeface="Calibri"/>
              </a:rPr>
              <a:t>→</a:t>
            </a:r>
          </a:p>
        </p:txBody>
      </p:sp>
      <p:sp>
        <p:nvSpPr>
          <p:cNvPr id="20" name="Rectangle 19"/>
          <p:cNvSpPr/>
          <p:nvPr/>
        </p:nvSpPr>
        <p:spPr>
          <a:xfrm>
            <a:off x="3803904" y="2743200"/>
            <a:ext cx="1417320" cy="100584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050" b="1" dirty="0">
                <a:solidFill>
                  <a:srgbClr val="12173A"/>
                </a:solidFill>
                <a:latin typeface="Calibri"/>
              </a:rPr>
              <a:t>Run OATM (Blind)</a:t>
            </a:r>
          </a:p>
          <a:p>
            <a:pPr algn="ctr">
              <a:spcBef>
                <a:spcPts val="200"/>
              </a:spcBef>
            </a:pPr>
            <a:r>
              <a:rPr sz="900" dirty="0">
                <a:solidFill>
                  <a:srgbClr val="69728C"/>
                </a:solidFill>
                <a:latin typeface="Calibri"/>
              </a:rPr>
              <a:t>CAM_FRONT only, genuinely occluded</a:t>
            </a:r>
          </a:p>
        </p:txBody>
      </p:sp>
      <p:sp>
        <p:nvSpPr>
          <p:cNvPr id="21" name="TextBox 20"/>
          <p:cNvSpPr txBox="1"/>
          <p:nvPr/>
        </p:nvSpPr>
        <p:spPr>
          <a:xfrm>
            <a:off x="5221224" y="3112105"/>
            <a:ext cx="109728" cy="274320"/>
          </a:xfrm>
          <a:prstGeom prst="rect">
            <a:avLst/>
          </a:prstGeom>
          <a:noFill/>
        </p:spPr>
        <p:txBody>
          <a:bodyPr wrap="square">
            <a:spAutoFit/>
          </a:bodyPr>
          <a:lstStyle/>
          <a:p>
            <a:pPr algn="ctr"/>
            <a:r>
              <a:rPr sz="1100" b="1" i="0" dirty="0">
                <a:solidFill>
                  <a:srgbClr val="8A93AD"/>
                </a:solidFill>
                <a:latin typeface="Calibri"/>
              </a:rPr>
              <a:t>→</a:t>
            </a:r>
          </a:p>
        </p:txBody>
      </p:sp>
      <p:sp>
        <p:nvSpPr>
          <p:cNvPr id="22" name="Rectangle 21"/>
          <p:cNvSpPr/>
          <p:nvPr/>
        </p:nvSpPr>
        <p:spPr>
          <a:xfrm>
            <a:off x="5387187" y="2743200"/>
            <a:ext cx="1417320" cy="1005840"/>
          </a:xfrm>
          <a:prstGeom prst="rect">
            <a:avLst/>
          </a:prstGeom>
          <a:solidFill>
            <a:srgbClr val="FFFFFF"/>
          </a:solidFill>
          <a:ln w="15875">
            <a:solidFill>
              <a:srgbClr val="12173A"/>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050" b="1" dirty="0">
                <a:solidFill>
                  <a:srgbClr val="12173A"/>
                </a:solidFill>
                <a:latin typeface="Calibri"/>
              </a:rPr>
              <a:t>Score vs. Ground Truth</a:t>
            </a:r>
          </a:p>
          <a:p>
            <a:pPr algn="ctr">
              <a:spcBef>
                <a:spcPts val="200"/>
              </a:spcBef>
            </a:pPr>
            <a:r>
              <a:rPr sz="900" dirty="0">
                <a:solidFill>
                  <a:srgbClr val="69728C"/>
                </a:solidFill>
                <a:latin typeface="Calibri"/>
              </a:rPr>
              <a:t>Never against another camera-based tracker</a:t>
            </a:r>
          </a:p>
        </p:txBody>
      </p:sp>
      <p:sp>
        <p:nvSpPr>
          <p:cNvPr id="23" name="TextBox 22"/>
          <p:cNvSpPr txBox="1"/>
          <p:nvPr/>
        </p:nvSpPr>
        <p:spPr>
          <a:xfrm>
            <a:off x="640080" y="3977640"/>
            <a:ext cx="5998464" cy="461665"/>
          </a:xfrm>
          <a:prstGeom prst="rect">
            <a:avLst/>
          </a:prstGeom>
          <a:noFill/>
        </p:spPr>
        <p:txBody>
          <a:bodyPr wrap="square">
            <a:spAutoFit/>
          </a:bodyPr>
          <a:lstStyle/>
          <a:p>
            <a:pPr algn="l"/>
            <a:r>
              <a:rPr sz="1200" b="0" i="1" dirty="0">
                <a:solidFill>
                  <a:srgbClr val="69728C"/>
                </a:solidFill>
                <a:latin typeface="Calibri"/>
              </a:rPr>
              <a:t>This ordering fixes the circular test in Step 3, where the answers being marked against came from the very same motion model being tested.</a:t>
            </a:r>
          </a:p>
        </p:txBody>
      </p:sp>
      <p:sp>
        <p:nvSpPr>
          <p:cNvPr id="24" name="TextBox 23"/>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14</a:t>
            </a:r>
          </a:p>
        </p:txBody>
      </p:sp>
    </p:spTree>
    <p:extLst>
      <p:ext uri="{BB962C8B-B14F-4D97-AF65-F5344CB8AC3E}">
        <p14:creationId xmlns:p14="http://schemas.microsoft.com/office/powerpoint/2010/main" val="684393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320040"/>
          </a:xfrm>
          <a:prstGeom prst="rect">
            <a:avLst/>
          </a:prstGeom>
          <a:noFill/>
        </p:spPr>
        <p:txBody>
          <a:bodyPr wrap="square">
            <a:spAutoFit/>
          </a:bodyPr>
          <a:lstStyle/>
          <a:p>
            <a:pPr algn="l"/>
            <a:r>
              <a:rPr sz="1300" b="1" i="0">
                <a:solidFill>
                  <a:srgbClr val="FFA630"/>
                </a:solidFill>
                <a:latin typeface="Calibri"/>
              </a:rPr>
              <a:t>KEEPING THE TEST FAIR</a:t>
            </a:r>
          </a:p>
        </p:txBody>
      </p:sp>
      <p:sp>
        <p:nvSpPr>
          <p:cNvPr id="3" name="TextBox 2"/>
          <p:cNvSpPr txBox="1"/>
          <p:nvPr/>
        </p:nvSpPr>
        <p:spPr>
          <a:xfrm>
            <a:off x="640080" y="795528"/>
            <a:ext cx="10881360" cy="548640"/>
          </a:xfrm>
          <a:prstGeom prst="rect">
            <a:avLst/>
          </a:prstGeom>
          <a:noFill/>
        </p:spPr>
        <p:txBody>
          <a:bodyPr wrap="square">
            <a:spAutoFit/>
          </a:bodyPr>
          <a:lstStyle/>
          <a:p>
            <a:pPr algn="l"/>
            <a:r>
              <a:rPr sz="2500" b="1" i="0">
                <a:solidFill>
                  <a:srgbClr val="12173A"/>
                </a:solidFill>
                <a:latin typeface="Cambria"/>
              </a:rPr>
              <a:t>What OATM Sees, and What Only the Marking Sees</a:t>
            </a:r>
          </a:p>
        </p:txBody>
      </p:sp>
      <p:sp>
        <p:nvSpPr>
          <p:cNvPr id="4" name="Rectangle 3"/>
          <p:cNvSpPr/>
          <p:nvPr/>
        </p:nvSpPr>
        <p:spPr>
          <a:xfrm>
            <a:off x="640080" y="134416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63040"/>
            <a:ext cx="10911535" cy="365760"/>
          </a:xfrm>
          <a:prstGeom prst="rect">
            <a:avLst/>
          </a:prstGeom>
          <a:noFill/>
        </p:spPr>
        <p:txBody>
          <a:bodyPr wrap="square">
            <a:spAutoFit/>
          </a:bodyPr>
          <a:lstStyle/>
          <a:p>
            <a:pPr algn="l">
              <a:lnSpc>
                <a:spcPct val="115000"/>
              </a:lnSpc>
            </a:pPr>
            <a:r>
              <a:rPr sz="1300" b="0" i="0">
                <a:solidFill>
                  <a:srgbClr val="2E3348"/>
                </a:solidFill>
                <a:latin typeface="Calibri"/>
              </a:rPr>
              <a:t>Online, the tracker only ever sees CAM_FRONT frames and its own history. Offline, after the tracker has already saved its output, the evaluator brings in projected ground truth to grade it — with no feedback path back to the tracker.</a:t>
            </a:r>
          </a:p>
        </p:txBody>
      </p:sp>
      <p:pic>
        <p:nvPicPr>
          <p:cNvPr id="6" name="Picture 5" descr="WhatsApp Image 2026-08-06 at 10.48.30 AM.jpeg"/>
          <p:cNvPicPr>
            <a:picLocks noChangeAspect="1"/>
          </p:cNvPicPr>
          <p:nvPr/>
        </p:nvPicPr>
        <p:blipFill>
          <a:blip r:embed="rId3"/>
          <a:stretch>
            <a:fillRect/>
          </a:stretch>
        </p:blipFill>
        <p:spPr>
          <a:xfrm>
            <a:off x="1203807" y="2148840"/>
            <a:ext cx="9784080" cy="2507170"/>
          </a:xfrm>
          <a:prstGeom prst="rect">
            <a:avLst/>
          </a:prstGeom>
          <a:ln w="9525">
            <a:solidFill>
              <a:srgbClr val="DDE2F0"/>
            </a:solidFill>
          </a:ln>
          <a:effectLst>
            <a:outerShdw blurRad="177800" dist="50800" dir="2700000" rotWithShape="0">
              <a:srgbClr val="12173A">
                <a:alpha val="32000"/>
              </a:srgbClr>
            </a:outerShdw>
          </a:effectLst>
        </p:spPr>
      </p:pic>
      <p:sp>
        <p:nvSpPr>
          <p:cNvPr id="7" name="Rounded Rectangle 6"/>
          <p:cNvSpPr/>
          <p:nvPr/>
        </p:nvSpPr>
        <p:spPr>
          <a:xfrm>
            <a:off x="640080" y="4884610"/>
            <a:ext cx="10911535" cy="77724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ctr"/>
            <a:r>
              <a:rPr sz="1250" i="1">
                <a:solidFill>
                  <a:srgbClr val="CADCFC"/>
                </a:solidFill>
                <a:latin typeface="Calibri"/>
              </a:rPr>
              <a:t>LiDAR point count is not an occlusion classifier. The most-occluded evaluation bin comes from nuScenes visibility token 1 (0–40% visible), never from LiDAR alone.</a:t>
            </a:r>
          </a:p>
        </p:txBody>
      </p:sp>
      <p:sp>
        <p:nvSpPr>
          <p:cNvPr id="8" name="TextBox 7"/>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320040"/>
          </a:xfrm>
          <a:prstGeom prst="rect">
            <a:avLst/>
          </a:prstGeom>
          <a:noFill/>
        </p:spPr>
        <p:txBody>
          <a:bodyPr wrap="square">
            <a:spAutoFit/>
          </a:bodyPr>
          <a:lstStyle/>
          <a:p>
            <a:pPr algn="l"/>
            <a:r>
              <a:rPr sz="1300" b="1" i="0">
                <a:solidFill>
                  <a:srgbClr val="FFA630"/>
                </a:solidFill>
                <a:latin typeface="Calibri"/>
              </a:rPr>
              <a:t>THE RESULTS</a:t>
            </a:r>
          </a:p>
        </p:txBody>
      </p:sp>
      <p:sp>
        <p:nvSpPr>
          <p:cNvPr id="3" name="TextBox 2"/>
          <p:cNvSpPr txBox="1"/>
          <p:nvPr/>
        </p:nvSpPr>
        <p:spPr>
          <a:xfrm>
            <a:off x="640080" y="795528"/>
            <a:ext cx="10881360" cy="548640"/>
          </a:xfrm>
          <a:prstGeom prst="rect">
            <a:avLst/>
          </a:prstGeom>
          <a:noFill/>
        </p:spPr>
        <p:txBody>
          <a:bodyPr wrap="square">
            <a:spAutoFit/>
          </a:bodyPr>
          <a:lstStyle/>
          <a:p>
            <a:pPr algn="l"/>
            <a:r>
              <a:rPr sz="2400" b="1" i="0">
                <a:solidFill>
                  <a:srgbClr val="12173A"/>
                </a:solidFill>
                <a:latin typeface="Cambria"/>
              </a:rPr>
              <a:t>How OATM Did Against ByteTrack</a:t>
            </a:r>
          </a:p>
        </p:txBody>
      </p:sp>
      <p:sp>
        <p:nvSpPr>
          <p:cNvPr id="4" name="Rectangle 3"/>
          <p:cNvSpPr/>
          <p:nvPr/>
        </p:nvSpPr>
        <p:spPr>
          <a:xfrm>
            <a:off x="640080" y="134416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911535" cy="365760"/>
          </a:xfrm>
          <a:prstGeom prst="rect">
            <a:avLst/>
          </a:prstGeom>
          <a:noFill/>
        </p:spPr>
        <p:txBody>
          <a:bodyPr wrap="square">
            <a:spAutoFit/>
          </a:bodyPr>
          <a:lstStyle/>
          <a:p>
            <a:pPr algn="l"/>
            <a:r>
              <a:rPr sz="1250" b="0" i="1">
                <a:solidFill>
                  <a:srgbClr val="69728C"/>
                </a:solidFill>
                <a:latin typeface="Calibri"/>
              </a:rPr>
              <a:t>All three methods were given exactly the same detections, so any difference comes from the tracking alone. 10 scenes, 1,873 checked objects — run lidar-fixes-20260805.</a:t>
            </a:r>
          </a:p>
        </p:txBody>
      </p:sp>
      <p:sp>
        <p:nvSpPr>
          <p:cNvPr id="6" name="Rounded Rectangle 5"/>
          <p:cNvSpPr/>
          <p:nvPr/>
        </p:nvSpPr>
        <p:spPr>
          <a:xfrm>
            <a:off x="640080" y="1997964"/>
            <a:ext cx="10980114" cy="2560320"/>
          </a:xfrm>
          <a:prstGeom prst="roundRect">
            <a:avLst>
              <a:gd name="adj" fmla="val 3000"/>
            </a:avLst>
          </a:prstGeom>
          <a:solidFill>
            <a:srgbClr val="FFFFFF"/>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extLst>
              <p:ext uri="{D42A27DB-BD31-4B8C-83A1-F6EECF244321}">
                <p14:modId xmlns:p14="http://schemas.microsoft.com/office/powerpoint/2010/main" val="3149006450"/>
              </p:ext>
            </p:extLst>
          </p:nvPr>
        </p:nvGraphicFramePr>
        <p:xfrm>
          <a:off x="685800" y="2079927"/>
          <a:ext cx="10875974" cy="2377440"/>
        </p:xfrm>
        <a:graphic>
          <a:graphicData uri="http://schemas.openxmlformats.org/drawingml/2006/table">
            <a:tbl>
              <a:tblPr firstRow="1" bandRow="1">
                <a:tableStyleId>{5C22544A-7EE6-4342-B048-85BDC9FD1C3A}</a:tableStyleId>
              </a:tblPr>
              <a:tblGrid>
                <a:gridCol w="2053832">
                  <a:extLst>
                    <a:ext uri="{9D8B030D-6E8A-4147-A177-3AD203B41FA5}">
                      <a16:colId xmlns:a16="http://schemas.microsoft.com/office/drawing/2014/main" val="20000"/>
                    </a:ext>
                  </a:extLst>
                </a:gridCol>
                <a:gridCol w="1493696">
                  <a:extLst>
                    <a:ext uri="{9D8B030D-6E8A-4147-A177-3AD203B41FA5}">
                      <a16:colId xmlns:a16="http://schemas.microsoft.com/office/drawing/2014/main" val="20001"/>
                    </a:ext>
                  </a:extLst>
                </a:gridCol>
                <a:gridCol w="1306984">
                  <a:extLst>
                    <a:ext uri="{9D8B030D-6E8A-4147-A177-3AD203B41FA5}">
                      <a16:colId xmlns:a16="http://schemas.microsoft.com/office/drawing/2014/main" val="20002"/>
                    </a:ext>
                  </a:extLst>
                </a:gridCol>
                <a:gridCol w="1306984">
                  <a:extLst>
                    <a:ext uri="{9D8B030D-6E8A-4147-A177-3AD203B41FA5}">
                      <a16:colId xmlns:a16="http://schemas.microsoft.com/office/drawing/2014/main" val="20003"/>
                    </a:ext>
                  </a:extLst>
                </a:gridCol>
                <a:gridCol w="1306984">
                  <a:extLst>
                    <a:ext uri="{9D8B030D-6E8A-4147-A177-3AD203B41FA5}">
                      <a16:colId xmlns:a16="http://schemas.microsoft.com/office/drawing/2014/main" val="20004"/>
                    </a:ext>
                  </a:extLst>
                </a:gridCol>
                <a:gridCol w="1633730">
                  <a:extLst>
                    <a:ext uri="{9D8B030D-6E8A-4147-A177-3AD203B41FA5}">
                      <a16:colId xmlns:a16="http://schemas.microsoft.com/office/drawing/2014/main" val="20005"/>
                    </a:ext>
                  </a:extLst>
                </a:gridCol>
                <a:gridCol w="1773764">
                  <a:extLst>
                    <a:ext uri="{9D8B030D-6E8A-4147-A177-3AD203B41FA5}">
                      <a16:colId xmlns:a16="http://schemas.microsoft.com/office/drawing/2014/main" val="20006"/>
                    </a:ext>
                  </a:extLst>
                </a:gridCol>
              </a:tblGrid>
              <a:tr h="594360">
                <a:tc>
                  <a:txBody>
                    <a:bodyPr/>
                    <a:lstStyle/>
                    <a:p>
                      <a:pPr algn="l"/>
                      <a:r>
                        <a:rPr sz="1300" b="1">
                          <a:solidFill>
                            <a:srgbClr val="FFFFFF"/>
                          </a:solidFill>
                          <a:latin typeface="Calibri"/>
                        </a:rPr>
                        <a:t>Method</a:t>
                      </a:r>
                    </a:p>
                  </a:txBody>
                  <a:tcPr marL="109728" anchor="ctr">
                    <a:solidFill>
                      <a:srgbClr val="12173A"/>
                    </a:solidFill>
                  </a:tcPr>
                </a:tc>
                <a:tc>
                  <a:txBody>
                    <a:bodyPr/>
                    <a:lstStyle/>
                    <a:p>
                      <a:pPr algn="ctr"/>
                      <a:r>
                        <a:rPr sz="1300" b="1">
                          <a:solidFill>
                            <a:srgbClr val="FFFFFF"/>
                          </a:solidFill>
                          <a:latin typeface="Calibri"/>
                        </a:rPr>
                        <a:t>Precision</a:t>
                      </a:r>
                    </a:p>
                  </a:txBody>
                  <a:tcPr marL="109728" anchor="ctr">
                    <a:solidFill>
                      <a:srgbClr val="12173A"/>
                    </a:solidFill>
                  </a:tcPr>
                </a:tc>
                <a:tc>
                  <a:txBody>
                    <a:bodyPr/>
                    <a:lstStyle/>
                    <a:p>
                      <a:pPr algn="ctr"/>
                      <a:r>
                        <a:rPr sz="1300" b="1">
                          <a:solidFill>
                            <a:srgbClr val="FFFFFF"/>
                          </a:solidFill>
                          <a:latin typeface="Calibri"/>
                        </a:rPr>
                        <a:t>F1</a:t>
                      </a:r>
                    </a:p>
                  </a:txBody>
                  <a:tcPr marL="109728" anchor="ctr">
                    <a:solidFill>
                      <a:srgbClr val="12173A"/>
                    </a:solidFill>
                  </a:tcPr>
                </a:tc>
                <a:tc>
                  <a:txBody>
                    <a:bodyPr/>
                    <a:lstStyle/>
                    <a:p>
                      <a:pPr algn="ctr"/>
                      <a:r>
                        <a:rPr sz="1300" b="1">
                          <a:solidFill>
                            <a:srgbClr val="FFFFFF"/>
                          </a:solidFill>
                          <a:latin typeface="Calibri"/>
                        </a:rPr>
                        <a:t>MOTA</a:t>
                      </a:r>
                    </a:p>
                  </a:txBody>
                  <a:tcPr marL="109728" anchor="ctr">
                    <a:solidFill>
                      <a:srgbClr val="12173A"/>
                    </a:solidFill>
                  </a:tcPr>
                </a:tc>
                <a:tc>
                  <a:txBody>
                    <a:bodyPr/>
                    <a:lstStyle/>
                    <a:p>
                      <a:pPr algn="ctr"/>
                      <a:r>
                        <a:rPr sz="1300" b="1">
                          <a:solidFill>
                            <a:srgbClr val="FFFFFF"/>
                          </a:solidFill>
                          <a:latin typeface="Calibri"/>
                        </a:rPr>
                        <a:t>IDF1</a:t>
                      </a:r>
                    </a:p>
                  </a:txBody>
                  <a:tcPr marL="109728" anchor="ctr">
                    <a:solidFill>
                      <a:srgbClr val="12173A"/>
                    </a:solidFill>
                  </a:tcPr>
                </a:tc>
                <a:tc>
                  <a:txBody>
                    <a:bodyPr/>
                    <a:lstStyle/>
                    <a:p>
                      <a:pPr algn="ctr"/>
                      <a:r>
                        <a:rPr sz="1300" b="1">
                          <a:solidFill>
                            <a:srgbClr val="FFFFFF"/>
                          </a:solidFill>
                          <a:latin typeface="Calibri"/>
                        </a:rPr>
                        <a:t>ID switches</a:t>
                      </a:r>
                    </a:p>
                  </a:txBody>
                  <a:tcPr marL="109728" anchor="ctr">
                    <a:solidFill>
                      <a:srgbClr val="12173A"/>
                    </a:solidFill>
                  </a:tcPr>
                </a:tc>
                <a:tc>
                  <a:txBody>
                    <a:bodyPr/>
                    <a:lstStyle/>
                    <a:p>
                      <a:pPr algn="ctr"/>
                      <a:r>
                        <a:rPr sz="1300" b="1" dirty="0">
                          <a:solidFill>
                            <a:srgbClr val="FFFFFF"/>
                          </a:solidFill>
                          <a:latin typeface="Calibri"/>
                        </a:rPr>
                        <a:t>Center error</a:t>
                      </a:r>
                    </a:p>
                  </a:txBody>
                  <a:tcPr marL="109728" anchor="ctr">
                    <a:solidFill>
                      <a:srgbClr val="12173A"/>
                    </a:solidFill>
                  </a:tcPr>
                </a:tc>
                <a:extLst>
                  <a:ext uri="{0D108BD9-81ED-4DB2-BD59-A6C34878D82A}">
                    <a16:rowId xmlns:a16="http://schemas.microsoft.com/office/drawing/2014/main" val="10000"/>
                  </a:ext>
                </a:extLst>
              </a:tr>
              <a:tr h="594360">
                <a:tc>
                  <a:txBody>
                    <a:bodyPr/>
                    <a:lstStyle/>
                    <a:p>
                      <a:pPr algn="l"/>
                      <a:r>
                        <a:rPr sz="1300" dirty="0">
                          <a:solidFill>
                            <a:srgbClr val="2E3348"/>
                          </a:solidFill>
                          <a:latin typeface="Calibri"/>
                        </a:rPr>
                        <a:t>ByteTrack-5</a:t>
                      </a:r>
                    </a:p>
                  </a:txBody>
                  <a:tcPr marL="109728" anchor="ctr">
                    <a:solidFill>
                      <a:srgbClr val="FFFFFF"/>
                    </a:solidFill>
                  </a:tcPr>
                </a:tc>
                <a:tc>
                  <a:txBody>
                    <a:bodyPr/>
                    <a:lstStyle/>
                    <a:p>
                      <a:pPr algn="ctr"/>
                      <a:r>
                        <a:rPr sz="1300">
                          <a:solidFill>
                            <a:srgbClr val="2E3348"/>
                          </a:solidFill>
                          <a:latin typeface="Calibri"/>
                        </a:rPr>
                        <a:t>73.4%</a:t>
                      </a:r>
                    </a:p>
                  </a:txBody>
                  <a:tcPr marL="109728" anchor="ctr">
                    <a:solidFill>
                      <a:srgbClr val="FFFFFF"/>
                    </a:solidFill>
                  </a:tcPr>
                </a:tc>
                <a:tc>
                  <a:txBody>
                    <a:bodyPr/>
                    <a:lstStyle/>
                    <a:p>
                      <a:pPr algn="ctr"/>
                      <a:r>
                        <a:rPr sz="1300">
                          <a:solidFill>
                            <a:srgbClr val="2E3348"/>
                          </a:solidFill>
                          <a:latin typeface="Calibri"/>
                        </a:rPr>
                        <a:t>40.1%</a:t>
                      </a:r>
                    </a:p>
                  </a:txBody>
                  <a:tcPr marL="109728" anchor="ctr">
                    <a:solidFill>
                      <a:srgbClr val="FFFFFF"/>
                    </a:solidFill>
                  </a:tcPr>
                </a:tc>
                <a:tc>
                  <a:txBody>
                    <a:bodyPr/>
                    <a:lstStyle/>
                    <a:p>
                      <a:pPr algn="ctr"/>
                      <a:r>
                        <a:rPr sz="1300">
                          <a:solidFill>
                            <a:srgbClr val="2E3348"/>
                          </a:solidFill>
                          <a:latin typeface="Calibri"/>
                        </a:rPr>
                        <a:t>14.2%</a:t>
                      </a:r>
                    </a:p>
                  </a:txBody>
                  <a:tcPr marL="109728" anchor="ctr">
                    <a:solidFill>
                      <a:srgbClr val="FFFFFF"/>
                    </a:solidFill>
                  </a:tcPr>
                </a:tc>
                <a:tc>
                  <a:txBody>
                    <a:bodyPr/>
                    <a:lstStyle/>
                    <a:p>
                      <a:pPr algn="ctr"/>
                      <a:r>
                        <a:rPr sz="1300">
                          <a:solidFill>
                            <a:srgbClr val="2E3348"/>
                          </a:solidFill>
                          <a:latin typeface="Calibri"/>
                        </a:rPr>
                        <a:t>29.6%</a:t>
                      </a:r>
                    </a:p>
                  </a:txBody>
                  <a:tcPr marL="109728" anchor="ctr">
                    <a:solidFill>
                      <a:srgbClr val="FFFFFF"/>
                    </a:solidFill>
                  </a:tcPr>
                </a:tc>
                <a:tc>
                  <a:txBody>
                    <a:bodyPr/>
                    <a:lstStyle/>
                    <a:p>
                      <a:pPr algn="ctr"/>
                      <a:r>
                        <a:rPr sz="1300">
                          <a:solidFill>
                            <a:srgbClr val="2E3348"/>
                          </a:solidFill>
                          <a:latin typeface="Calibri"/>
                        </a:rPr>
                        <a:t>64</a:t>
                      </a:r>
                    </a:p>
                  </a:txBody>
                  <a:tcPr marL="109728" anchor="ctr">
                    <a:solidFill>
                      <a:srgbClr val="FFFFFF"/>
                    </a:solidFill>
                  </a:tcPr>
                </a:tc>
                <a:tc>
                  <a:txBody>
                    <a:bodyPr/>
                    <a:lstStyle/>
                    <a:p>
                      <a:pPr algn="ctr"/>
                      <a:r>
                        <a:rPr sz="1300">
                          <a:solidFill>
                            <a:srgbClr val="2E3348"/>
                          </a:solidFill>
                          <a:latin typeface="Calibri"/>
                        </a:rPr>
                        <a:t>21.084 px</a:t>
                      </a:r>
                    </a:p>
                  </a:txBody>
                  <a:tcPr marL="109728" anchor="ctr">
                    <a:solidFill>
                      <a:srgbClr val="FFFFFF"/>
                    </a:solidFill>
                  </a:tcPr>
                </a:tc>
                <a:extLst>
                  <a:ext uri="{0D108BD9-81ED-4DB2-BD59-A6C34878D82A}">
                    <a16:rowId xmlns:a16="http://schemas.microsoft.com/office/drawing/2014/main" val="10001"/>
                  </a:ext>
                </a:extLst>
              </a:tr>
              <a:tr h="594360">
                <a:tc>
                  <a:txBody>
                    <a:bodyPr/>
                    <a:lstStyle/>
                    <a:p>
                      <a:pPr algn="l"/>
                      <a:r>
                        <a:rPr sz="1300">
                          <a:solidFill>
                            <a:srgbClr val="2E3348"/>
                          </a:solidFill>
                          <a:latin typeface="Calibri"/>
                        </a:rPr>
                        <a:t>ByteTrack-12</a:t>
                      </a:r>
                    </a:p>
                  </a:txBody>
                  <a:tcPr marL="109728" anchor="ctr">
                    <a:solidFill>
                      <a:srgbClr val="F3F5FA"/>
                    </a:solidFill>
                  </a:tcPr>
                </a:tc>
                <a:tc>
                  <a:txBody>
                    <a:bodyPr/>
                    <a:lstStyle/>
                    <a:p>
                      <a:pPr algn="ctr"/>
                      <a:r>
                        <a:rPr sz="1300">
                          <a:solidFill>
                            <a:srgbClr val="2E3348"/>
                          </a:solidFill>
                          <a:latin typeface="Calibri"/>
                        </a:rPr>
                        <a:t>55.3%</a:t>
                      </a:r>
                    </a:p>
                  </a:txBody>
                  <a:tcPr marL="109728" anchor="ctr">
                    <a:solidFill>
                      <a:srgbClr val="F3F5FA"/>
                    </a:solidFill>
                  </a:tcPr>
                </a:tc>
                <a:tc>
                  <a:txBody>
                    <a:bodyPr/>
                    <a:lstStyle/>
                    <a:p>
                      <a:pPr algn="ctr"/>
                      <a:r>
                        <a:rPr sz="1300">
                          <a:solidFill>
                            <a:srgbClr val="2E3348"/>
                          </a:solidFill>
                          <a:latin typeface="Calibri"/>
                        </a:rPr>
                        <a:t>37.7%</a:t>
                      </a:r>
                    </a:p>
                  </a:txBody>
                  <a:tcPr marL="109728" anchor="ctr">
                    <a:solidFill>
                      <a:srgbClr val="F3F5FA"/>
                    </a:solidFill>
                  </a:tcPr>
                </a:tc>
                <a:tc>
                  <a:txBody>
                    <a:bodyPr/>
                    <a:lstStyle/>
                    <a:p>
                      <a:pPr algn="ctr"/>
                      <a:r>
                        <a:rPr sz="1300">
                          <a:solidFill>
                            <a:srgbClr val="2E3348"/>
                          </a:solidFill>
                          <a:latin typeface="Calibri"/>
                        </a:rPr>
                        <a:t>1.1%</a:t>
                      </a:r>
                    </a:p>
                  </a:txBody>
                  <a:tcPr marL="109728" anchor="ctr">
                    <a:solidFill>
                      <a:srgbClr val="F3F5FA"/>
                    </a:solidFill>
                  </a:tcPr>
                </a:tc>
                <a:tc>
                  <a:txBody>
                    <a:bodyPr/>
                    <a:lstStyle/>
                    <a:p>
                      <a:pPr algn="ctr"/>
                      <a:r>
                        <a:rPr sz="1300">
                          <a:solidFill>
                            <a:srgbClr val="2E3348"/>
                          </a:solidFill>
                          <a:latin typeface="Calibri"/>
                        </a:rPr>
                        <a:t>27.4%</a:t>
                      </a:r>
                    </a:p>
                  </a:txBody>
                  <a:tcPr marL="109728" anchor="ctr">
                    <a:solidFill>
                      <a:srgbClr val="F3F5FA"/>
                    </a:solidFill>
                  </a:tcPr>
                </a:tc>
                <a:tc>
                  <a:txBody>
                    <a:bodyPr/>
                    <a:lstStyle/>
                    <a:p>
                      <a:pPr algn="ctr"/>
                      <a:r>
                        <a:rPr sz="1300" dirty="0">
                          <a:solidFill>
                            <a:srgbClr val="2E3348"/>
                          </a:solidFill>
                          <a:latin typeface="Calibri"/>
                        </a:rPr>
                        <a:t>82</a:t>
                      </a:r>
                    </a:p>
                  </a:txBody>
                  <a:tcPr marL="109728" anchor="ctr">
                    <a:solidFill>
                      <a:srgbClr val="F3F5FA"/>
                    </a:solidFill>
                  </a:tcPr>
                </a:tc>
                <a:tc>
                  <a:txBody>
                    <a:bodyPr/>
                    <a:lstStyle/>
                    <a:p>
                      <a:pPr algn="ctr"/>
                      <a:r>
                        <a:rPr sz="1300" dirty="0">
                          <a:solidFill>
                            <a:srgbClr val="2E3348"/>
                          </a:solidFill>
                          <a:latin typeface="Calibri"/>
                        </a:rPr>
                        <a:t>21.361 </a:t>
                      </a:r>
                      <a:r>
                        <a:rPr sz="1300" dirty="0" err="1">
                          <a:solidFill>
                            <a:srgbClr val="2E3348"/>
                          </a:solidFill>
                          <a:latin typeface="Calibri"/>
                        </a:rPr>
                        <a:t>px</a:t>
                      </a:r>
                      <a:endParaRPr sz="1300" dirty="0">
                        <a:solidFill>
                          <a:srgbClr val="2E3348"/>
                        </a:solidFill>
                        <a:latin typeface="Calibri"/>
                      </a:endParaRPr>
                    </a:p>
                  </a:txBody>
                  <a:tcPr marL="109728" anchor="ctr">
                    <a:solidFill>
                      <a:srgbClr val="F3F5FA"/>
                    </a:solidFill>
                  </a:tcPr>
                </a:tc>
                <a:extLst>
                  <a:ext uri="{0D108BD9-81ED-4DB2-BD59-A6C34878D82A}">
                    <a16:rowId xmlns:a16="http://schemas.microsoft.com/office/drawing/2014/main" val="10002"/>
                  </a:ext>
                </a:extLst>
              </a:tr>
              <a:tr h="594360">
                <a:tc>
                  <a:txBody>
                    <a:bodyPr/>
                    <a:lstStyle/>
                    <a:p>
                      <a:pPr algn="l"/>
                      <a:r>
                        <a:rPr sz="1300" b="1">
                          <a:solidFill>
                            <a:srgbClr val="12173A"/>
                          </a:solidFill>
                          <a:latin typeface="Calibri"/>
                        </a:rPr>
                        <a:t>OATM</a:t>
                      </a:r>
                    </a:p>
                  </a:txBody>
                  <a:tcPr marL="109728" anchor="ctr">
                    <a:solidFill>
                      <a:srgbClr val="FFF3E0"/>
                    </a:solidFill>
                  </a:tcPr>
                </a:tc>
                <a:tc>
                  <a:txBody>
                    <a:bodyPr/>
                    <a:lstStyle/>
                    <a:p>
                      <a:pPr algn="ctr"/>
                      <a:r>
                        <a:rPr sz="1300" b="1" dirty="0">
                          <a:solidFill>
                            <a:srgbClr val="12173A"/>
                          </a:solidFill>
                          <a:latin typeface="Calibri"/>
                        </a:rPr>
                        <a:t>84.1%</a:t>
                      </a:r>
                    </a:p>
                  </a:txBody>
                  <a:tcPr marL="109728" anchor="ctr">
                    <a:solidFill>
                      <a:srgbClr val="FFF3E0"/>
                    </a:solidFill>
                  </a:tcPr>
                </a:tc>
                <a:tc>
                  <a:txBody>
                    <a:bodyPr/>
                    <a:lstStyle/>
                    <a:p>
                      <a:pPr algn="ctr"/>
                      <a:r>
                        <a:rPr sz="1300" b="1" dirty="0">
                          <a:solidFill>
                            <a:srgbClr val="12173A"/>
                          </a:solidFill>
                          <a:latin typeface="Calibri"/>
                        </a:rPr>
                        <a:t>40.4%</a:t>
                      </a:r>
                    </a:p>
                  </a:txBody>
                  <a:tcPr marL="109728" anchor="ctr">
                    <a:solidFill>
                      <a:srgbClr val="FFF3E0"/>
                    </a:solidFill>
                  </a:tcPr>
                </a:tc>
                <a:tc>
                  <a:txBody>
                    <a:bodyPr/>
                    <a:lstStyle/>
                    <a:p>
                      <a:pPr algn="ctr"/>
                      <a:r>
                        <a:rPr sz="1300" b="1">
                          <a:solidFill>
                            <a:srgbClr val="12173A"/>
                          </a:solidFill>
                          <a:latin typeface="Calibri"/>
                        </a:rPr>
                        <a:t>18.4%</a:t>
                      </a:r>
                    </a:p>
                  </a:txBody>
                  <a:tcPr marL="109728" anchor="ctr">
                    <a:solidFill>
                      <a:srgbClr val="FFF3E0"/>
                    </a:solidFill>
                  </a:tcPr>
                </a:tc>
                <a:tc>
                  <a:txBody>
                    <a:bodyPr/>
                    <a:lstStyle/>
                    <a:p>
                      <a:pPr algn="ctr"/>
                      <a:r>
                        <a:rPr sz="1300" b="1">
                          <a:solidFill>
                            <a:srgbClr val="12173A"/>
                          </a:solidFill>
                          <a:latin typeface="Calibri"/>
                        </a:rPr>
                        <a:t>30.3%</a:t>
                      </a:r>
                    </a:p>
                  </a:txBody>
                  <a:tcPr marL="109728" anchor="ctr">
                    <a:solidFill>
                      <a:srgbClr val="FFF3E0"/>
                    </a:solidFill>
                  </a:tcPr>
                </a:tc>
                <a:tc>
                  <a:txBody>
                    <a:bodyPr/>
                    <a:lstStyle/>
                    <a:p>
                      <a:pPr algn="ctr"/>
                      <a:r>
                        <a:rPr sz="1300" b="1">
                          <a:solidFill>
                            <a:srgbClr val="12173A"/>
                          </a:solidFill>
                          <a:latin typeface="Calibri"/>
                        </a:rPr>
                        <a:t>59</a:t>
                      </a:r>
                    </a:p>
                  </a:txBody>
                  <a:tcPr marL="109728" anchor="ctr">
                    <a:solidFill>
                      <a:srgbClr val="FFF3E0"/>
                    </a:solidFill>
                  </a:tcPr>
                </a:tc>
                <a:tc>
                  <a:txBody>
                    <a:bodyPr/>
                    <a:lstStyle/>
                    <a:p>
                      <a:pPr algn="ctr"/>
                      <a:r>
                        <a:rPr sz="1300" b="1" dirty="0">
                          <a:solidFill>
                            <a:srgbClr val="12173A"/>
                          </a:solidFill>
                          <a:latin typeface="Calibri"/>
                        </a:rPr>
                        <a:t>20.055 </a:t>
                      </a:r>
                      <a:r>
                        <a:rPr sz="1300" b="1" dirty="0" err="1">
                          <a:solidFill>
                            <a:srgbClr val="12173A"/>
                          </a:solidFill>
                          <a:latin typeface="Calibri"/>
                        </a:rPr>
                        <a:t>px</a:t>
                      </a:r>
                      <a:endParaRPr sz="1300" b="1" dirty="0">
                        <a:solidFill>
                          <a:srgbClr val="12173A"/>
                        </a:solidFill>
                        <a:latin typeface="Calibri"/>
                      </a:endParaRPr>
                    </a:p>
                  </a:txBody>
                  <a:tcPr marL="109728" anchor="ctr">
                    <a:solidFill>
                      <a:srgbClr val="FFF3E0"/>
                    </a:solidFill>
                  </a:tcPr>
                </a:tc>
                <a:extLst>
                  <a:ext uri="{0D108BD9-81ED-4DB2-BD59-A6C34878D82A}">
                    <a16:rowId xmlns:a16="http://schemas.microsoft.com/office/drawing/2014/main" val="10003"/>
                  </a:ext>
                </a:extLst>
              </a:tr>
            </a:tbl>
          </a:graphicData>
        </a:graphic>
      </p:graphicFrame>
      <p:sp>
        <p:nvSpPr>
          <p:cNvPr id="8" name="Rounded Rectangle 7"/>
          <p:cNvSpPr/>
          <p:nvPr/>
        </p:nvSpPr>
        <p:spPr>
          <a:xfrm>
            <a:off x="640080" y="4883587"/>
            <a:ext cx="10911535" cy="1417320"/>
          </a:xfrm>
          <a:prstGeom prst="roundRect">
            <a:avLst>
              <a:gd name="adj" fmla="val 10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5025319"/>
            <a:ext cx="3637178" cy="566928"/>
          </a:xfrm>
          <a:prstGeom prst="rect">
            <a:avLst/>
          </a:prstGeom>
          <a:noFill/>
        </p:spPr>
        <p:txBody>
          <a:bodyPr wrap="square">
            <a:spAutoFit/>
          </a:bodyPr>
          <a:lstStyle/>
          <a:p>
            <a:pPr algn="ctr"/>
            <a:r>
              <a:rPr sz="2700" b="1" i="0">
                <a:solidFill>
                  <a:srgbClr val="FFA630"/>
                </a:solidFill>
                <a:latin typeface="Cambria"/>
              </a:rPr>
              <a:t>39.4%</a:t>
            </a:r>
          </a:p>
        </p:txBody>
      </p:sp>
      <p:sp>
        <p:nvSpPr>
          <p:cNvPr id="10" name="TextBox 9"/>
          <p:cNvSpPr txBox="1"/>
          <p:nvPr/>
        </p:nvSpPr>
        <p:spPr>
          <a:xfrm>
            <a:off x="685800" y="5642193"/>
            <a:ext cx="3454298" cy="640080"/>
          </a:xfrm>
          <a:prstGeom prst="rect">
            <a:avLst/>
          </a:prstGeom>
          <a:noFill/>
        </p:spPr>
        <p:txBody>
          <a:bodyPr wrap="square">
            <a:spAutoFit/>
          </a:bodyPr>
          <a:lstStyle/>
          <a:p>
            <a:pPr algn="ctr">
              <a:lnSpc>
                <a:spcPct val="100000"/>
              </a:lnSpc>
            </a:pPr>
            <a:r>
              <a:rPr sz="1100" b="0" i="0">
                <a:solidFill>
                  <a:srgbClr val="CADCFC"/>
                </a:solidFill>
                <a:latin typeface="Calibri"/>
              </a:rPr>
              <a:t>predicted-hidden precision (vs. 25.0% / 14.0%)</a:t>
            </a:r>
          </a:p>
        </p:txBody>
      </p:sp>
      <p:sp>
        <p:nvSpPr>
          <p:cNvPr id="11" name="TextBox 10"/>
          <p:cNvSpPr txBox="1"/>
          <p:nvPr/>
        </p:nvSpPr>
        <p:spPr>
          <a:xfrm>
            <a:off x="4333138" y="5010420"/>
            <a:ext cx="3637178" cy="566928"/>
          </a:xfrm>
          <a:prstGeom prst="rect">
            <a:avLst/>
          </a:prstGeom>
          <a:noFill/>
        </p:spPr>
        <p:txBody>
          <a:bodyPr wrap="square">
            <a:spAutoFit/>
          </a:bodyPr>
          <a:lstStyle/>
          <a:p>
            <a:pPr algn="ctr"/>
            <a:r>
              <a:rPr sz="2700" b="1" i="0">
                <a:solidFill>
                  <a:srgbClr val="FFA630"/>
                </a:solidFill>
                <a:latin typeface="Cambria"/>
              </a:rPr>
              <a:t>7.8%</a:t>
            </a:r>
          </a:p>
        </p:txBody>
      </p:sp>
      <p:sp>
        <p:nvSpPr>
          <p:cNvPr id="12" name="TextBox 11"/>
          <p:cNvSpPr txBox="1"/>
          <p:nvPr/>
        </p:nvSpPr>
        <p:spPr>
          <a:xfrm>
            <a:off x="4345838" y="5642193"/>
            <a:ext cx="3454298" cy="640080"/>
          </a:xfrm>
          <a:prstGeom prst="rect">
            <a:avLst/>
          </a:prstGeom>
          <a:noFill/>
        </p:spPr>
        <p:txBody>
          <a:bodyPr wrap="square">
            <a:spAutoFit/>
          </a:bodyPr>
          <a:lstStyle/>
          <a:p>
            <a:pPr algn="ctr">
              <a:lnSpc>
                <a:spcPct val="100000"/>
              </a:lnSpc>
            </a:pPr>
            <a:r>
              <a:rPr sz="1100" b="0" i="0">
                <a:solidFill>
                  <a:srgbClr val="CADCFC"/>
                </a:solidFill>
                <a:latin typeface="Calibri"/>
              </a:rPr>
              <a:t>unsupported-track rate (vs. 25.9% / 22.1%)</a:t>
            </a:r>
          </a:p>
        </p:txBody>
      </p:sp>
      <p:sp>
        <p:nvSpPr>
          <p:cNvPr id="13" name="Rectangle 12"/>
          <p:cNvSpPr/>
          <p:nvPr/>
        </p:nvSpPr>
        <p:spPr>
          <a:xfrm>
            <a:off x="4267098" y="5025319"/>
            <a:ext cx="12700" cy="1088136"/>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24596" y="5037507"/>
            <a:ext cx="3637178" cy="566928"/>
          </a:xfrm>
          <a:prstGeom prst="rect">
            <a:avLst/>
          </a:prstGeom>
          <a:noFill/>
        </p:spPr>
        <p:txBody>
          <a:bodyPr wrap="square">
            <a:spAutoFit/>
          </a:bodyPr>
          <a:lstStyle/>
          <a:p>
            <a:pPr algn="ctr"/>
            <a:r>
              <a:rPr sz="2700" b="1" i="0" dirty="0">
                <a:solidFill>
                  <a:srgbClr val="FFA630"/>
                </a:solidFill>
                <a:latin typeface="Cambria"/>
              </a:rPr>
              <a:t>28</a:t>
            </a:r>
          </a:p>
        </p:txBody>
      </p:sp>
      <p:sp>
        <p:nvSpPr>
          <p:cNvPr id="15" name="TextBox 14"/>
          <p:cNvSpPr txBox="1"/>
          <p:nvPr/>
        </p:nvSpPr>
        <p:spPr>
          <a:xfrm>
            <a:off x="8067142" y="5642193"/>
            <a:ext cx="3454298" cy="640080"/>
          </a:xfrm>
          <a:prstGeom prst="rect">
            <a:avLst/>
          </a:prstGeom>
          <a:noFill/>
        </p:spPr>
        <p:txBody>
          <a:bodyPr wrap="square">
            <a:spAutoFit/>
          </a:bodyPr>
          <a:lstStyle/>
          <a:p>
            <a:pPr algn="ctr">
              <a:lnSpc>
                <a:spcPct val="100000"/>
              </a:lnSpc>
            </a:pPr>
            <a:r>
              <a:rPr sz="1100" b="0" i="0" dirty="0">
                <a:solidFill>
                  <a:srgbClr val="CADCFC"/>
                </a:solidFill>
                <a:latin typeface="Calibri"/>
              </a:rPr>
              <a:t>fragmentations — fewest of all three methods</a:t>
            </a:r>
          </a:p>
        </p:txBody>
      </p:sp>
      <p:sp>
        <p:nvSpPr>
          <p:cNvPr id="16" name="Rectangle 15"/>
          <p:cNvSpPr/>
          <p:nvPr/>
        </p:nvSpPr>
        <p:spPr>
          <a:xfrm>
            <a:off x="7914436" y="5011284"/>
            <a:ext cx="12700" cy="1088136"/>
          </a:xfrm>
          <a:prstGeom prst="rect">
            <a:avLst/>
          </a:prstGeom>
          <a:solidFill>
            <a:srgbClr val="CADCFC">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7315200" cy="320040"/>
          </a:xfrm>
          <a:prstGeom prst="rect">
            <a:avLst/>
          </a:prstGeom>
          <a:noFill/>
        </p:spPr>
        <p:txBody>
          <a:bodyPr wrap="square">
            <a:spAutoFit/>
          </a:bodyPr>
          <a:lstStyle/>
          <a:p>
            <a:pPr algn="l"/>
            <a:r>
              <a:rPr sz="1300" b="1" i="0">
                <a:solidFill>
                  <a:srgbClr val="FFA630"/>
                </a:solidFill>
                <a:latin typeface="Calibri"/>
              </a:rPr>
              <a:t>SENSOR CHOICES</a:t>
            </a:r>
          </a:p>
        </p:txBody>
      </p:sp>
      <p:sp>
        <p:nvSpPr>
          <p:cNvPr id="3" name="TextBox 2"/>
          <p:cNvSpPr txBox="1"/>
          <p:nvPr/>
        </p:nvSpPr>
        <p:spPr>
          <a:xfrm>
            <a:off x="640080" y="795528"/>
            <a:ext cx="8229600" cy="548640"/>
          </a:xfrm>
          <a:prstGeom prst="rect">
            <a:avLst/>
          </a:prstGeom>
          <a:noFill/>
        </p:spPr>
        <p:txBody>
          <a:bodyPr wrap="square">
            <a:spAutoFit/>
          </a:bodyPr>
          <a:lstStyle/>
          <a:p>
            <a:pPr algn="l"/>
            <a:r>
              <a:rPr sz="2400" b="1" i="0">
                <a:solidFill>
                  <a:srgbClr val="12173A"/>
                </a:solidFill>
                <a:latin typeface="Cambria"/>
              </a:rPr>
              <a:t>What Each Sensor Setup Can and Cannot Do</a:t>
            </a:r>
          </a:p>
        </p:txBody>
      </p:sp>
      <p:sp>
        <p:nvSpPr>
          <p:cNvPr id="4" name="Rectangle 3"/>
          <p:cNvSpPr/>
          <p:nvPr/>
        </p:nvSpPr>
        <p:spPr>
          <a:xfrm>
            <a:off x="640080" y="1371600"/>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63040"/>
            <a:ext cx="10911535" cy="365760"/>
          </a:xfrm>
          <a:prstGeom prst="rect">
            <a:avLst/>
          </a:prstGeom>
          <a:noFill/>
        </p:spPr>
        <p:txBody>
          <a:bodyPr wrap="square">
            <a:spAutoFit/>
          </a:bodyPr>
          <a:lstStyle/>
          <a:p>
            <a:pPr algn="l"/>
            <a:r>
              <a:rPr sz="1300" b="0" i="1">
                <a:solidFill>
                  <a:srgbClr val="69728C"/>
                </a:solidFill>
                <a:latin typeface="Calibri"/>
              </a:rPr>
              <a:t>A generic comparison of sensor configurations used in autonomous vehicle perception. OATM's own row now reflects an implemented tracking method with a real, final nuScenes-mini validation result (see Results); the sensor-modality comparison itself remains a conceptual framing.</a:t>
            </a:r>
          </a:p>
        </p:txBody>
      </p:sp>
      <p:sp>
        <p:nvSpPr>
          <p:cNvPr id="6" name="Rounded Rectangle 5"/>
          <p:cNvSpPr/>
          <p:nvPr/>
        </p:nvSpPr>
        <p:spPr>
          <a:xfrm>
            <a:off x="530352" y="2020824"/>
            <a:ext cx="11130991" cy="4379976"/>
          </a:xfrm>
          <a:prstGeom prst="roundRect">
            <a:avLst>
              <a:gd name="adj" fmla="val 3000"/>
            </a:avLst>
          </a:prstGeom>
          <a:solidFill>
            <a:srgbClr val="FFFFFF"/>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extLst>
              <p:ext uri="{D42A27DB-BD31-4B8C-83A1-F6EECF244321}">
                <p14:modId xmlns:p14="http://schemas.microsoft.com/office/powerpoint/2010/main" val="1527896998"/>
              </p:ext>
            </p:extLst>
          </p:nvPr>
        </p:nvGraphicFramePr>
        <p:xfrm>
          <a:off x="640080" y="2130552"/>
          <a:ext cx="10908792" cy="416052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3410712">
                  <a:extLst>
                    <a:ext uri="{9D8B030D-6E8A-4147-A177-3AD203B41FA5}">
                      <a16:colId xmlns:a16="http://schemas.microsoft.com/office/drawing/2014/main" val="20002"/>
                    </a:ext>
                  </a:extLst>
                </a:gridCol>
              </a:tblGrid>
              <a:tr h="693420">
                <a:tc>
                  <a:txBody>
                    <a:bodyPr/>
                    <a:lstStyle/>
                    <a:p>
                      <a:r>
                        <a:rPr sz="1350" b="1">
                          <a:solidFill>
                            <a:srgbClr val="FFFFFF"/>
                          </a:solidFill>
                          <a:latin typeface="Calibri"/>
                        </a:rPr>
                        <a:t>Configuration</a:t>
                      </a:r>
                    </a:p>
                  </a:txBody>
                  <a:tcPr marL="164592" marR="137160" anchor="ctr">
                    <a:solidFill>
                      <a:srgbClr val="12173A"/>
                    </a:solidFill>
                  </a:tcPr>
                </a:tc>
                <a:tc>
                  <a:txBody>
                    <a:bodyPr/>
                    <a:lstStyle/>
                    <a:p>
                      <a:r>
                        <a:rPr sz="1350" b="1">
                          <a:solidFill>
                            <a:srgbClr val="FFFFFF"/>
                          </a:solidFill>
                          <a:latin typeface="Calibri"/>
                        </a:rPr>
                        <a:t>Description</a:t>
                      </a:r>
                    </a:p>
                  </a:txBody>
                  <a:tcPr marL="164592" marR="137160" anchor="ctr">
                    <a:solidFill>
                      <a:srgbClr val="12173A"/>
                    </a:solidFill>
                  </a:tcPr>
                </a:tc>
                <a:tc>
                  <a:txBody>
                    <a:bodyPr/>
                    <a:lstStyle/>
                    <a:p>
                      <a:r>
                        <a:rPr sz="1350" b="1">
                          <a:solidFill>
                            <a:srgbClr val="FFFFFF"/>
                          </a:solidFill>
                          <a:latin typeface="Calibri"/>
                        </a:rPr>
                        <a:t>Video Understanding Capability</a:t>
                      </a:r>
                    </a:p>
                  </a:txBody>
                  <a:tcPr marL="164592" marR="137160" anchor="ctr">
                    <a:solidFill>
                      <a:srgbClr val="12173A"/>
                    </a:solidFill>
                  </a:tcPr>
                </a:tc>
                <a:extLst>
                  <a:ext uri="{0D108BD9-81ED-4DB2-BD59-A6C34878D82A}">
                    <a16:rowId xmlns:a16="http://schemas.microsoft.com/office/drawing/2014/main" val="10000"/>
                  </a:ext>
                </a:extLst>
              </a:tr>
              <a:tr h="693420">
                <a:tc>
                  <a:txBody>
                    <a:bodyPr/>
                    <a:lstStyle/>
                    <a:p>
                      <a:r>
                        <a:rPr sz="1250">
                          <a:solidFill>
                            <a:srgbClr val="2E3348"/>
                          </a:solidFill>
                          <a:latin typeface="Calibri"/>
                        </a:rPr>
                        <a:t>Single camera</a:t>
                      </a:r>
                    </a:p>
                  </a:txBody>
                  <a:tcPr marL="164592" marR="137160" anchor="ctr">
                    <a:solidFill>
                      <a:srgbClr val="FFFFFF"/>
                    </a:solidFill>
                  </a:tcPr>
                </a:tc>
                <a:tc>
                  <a:txBody>
                    <a:bodyPr/>
                    <a:lstStyle/>
                    <a:p>
                      <a:r>
                        <a:rPr sz="1250">
                          <a:solidFill>
                            <a:srgbClr val="2E3348"/>
                          </a:solidFill>
                          <a:latin typeface="Calibri"/>
                        </a:rPr>
                        <a:t>One forward-facing monocular camera</a:t>
                      </a:r>
                    </a:p>
                  </a:txBody>
                  <a:tcPr marL="164592" marR="137160" anchor="ctr">
                    <a:solidFill>
                      <a:srgbClr val="FFFFFF"/>
                    </a:solidFill>
                  </a:tcPr>
                </a:tc>
                <a:tc>
                  <a:txBody>
                    <a:bodyPr/>
                    <a:lstStyle/>
                    <a:p>
                      <a:r>
                        <a:rPr sz="1250">
                          <a:solidFill>
                            <a:srgbClr val="2E3348"/>
                          </a:solidFill>
                          <a:latin typeface="Calibri"/>
                        </a:rPr>
                        <a:t>No temporal reasoning by default — each frame is processed independently</a:t>
                      </a:r>
                    </a:p>
                  </a:txBody>
                  <a:tcPr marL="164592" marR="137160" anchor="ctr">
                    <a:solidFill>
                      <a:srgbClr val="FFFFFF"/>
                    </a:solidFill>
                  </a:tcPr>
                </a:tc>
                <a:extLst>
                  <a:ext uri="{0D108BD9-81ED-4DB2-BD59-A6C34878D82A}">
                    <a16:rowId xmlns:a16="http://schemas.microsoft.com/office/drawing/2014/main" val="10001"/>
                  </a:ext>
                </a:extLst>
              </a:tr>
              <a:tr h="693420">
                <a:tc>
                  <a:txBody>
                    <a:bodyPr/>
                    <a:lstStyle/>
                    <a:p>
                      <a:r>
                        <a:rPr sz="1250">
                          <a:solidFill>
                            <a:srgbClr val="2E3348"/>
                          </a:solidFill>
                          <a:latin typeface="Calibri"/>
                        </a:rPr>
                        <a:t>LiDAR only</a:t>
                      </a:r>
                    </a:p>
                  </a:txBody>
                  <a:tcPr marL="164592" marR="137160" anchor="ctr">
                    <a:solidFill>
                      <a:srgbClr val="F3F5FA"/>
                    </a:solidFill>
                  </a:tcPr>
                </a:tc>
                <a:tc>
                  <a:txBody>
                    <a:bodyPr/>
                    <a:lstStyle/>
                    <a:p>
                      <a:r>
                        <a:rPr sz="1250" dirty="0">
                          <a:solidFill>
                            <a:srgbClr val="2E3348"/>
                          </a:solidFill>
                          <a:latin typeface="Calibri"/>
                        </a:rPr>
                        <a:t>360-degree point cloud, no camera imagery</a:t>
                      </a:r>
                    </a:p>
                  </a:txBody>
                  <a:tcPr marL="164592" marR="137160" anchor="ctr">
                    <a:solidFill>
                      <a:srgbClr val="F3F5FA"/>
                    </a:solidFill>
                  </a:tcPr>
                </a:tc>
                <a:tc>
                  <a:txBody>
                    <a:bodyPr/>
                    <a:lstStyle/>
                    <a:p>
                      <a:r>
                        <a:rPr sz="1250">
                          <a:solidFill>
                            <a:srgbClr val="2E3348"/>
                          </a:solidFill>
                          <a:latin typeface="Calibri"/>
                        </a:rPr>
                        <a:t>Tracks geometry continuously, but has no visual or semantic content to reason with</a:t>
                      </a:r>
                    </a:p>
                  </a:txBody>
                  <a:tcPr marL="164592" marR="137160" anchor="ctr">
                    <a:solidFill>
                      <a:srgbClr val="F3F5FA"/>
                    </a:solidFill>
                  </a:tcPr>
                </a:tc>
                <a:extLst>
                  <a:ext uri="{0D108BD9-81ED-4DB2-BD59-A6C34878D82A}">
                    <a16:rowId xmlns:a16="http://schemas.microsoft.com/office/drawing/2014/main" val="10002"/>
                  </a:ext>
                </a:extLst>
              </a:tr>
              <a:tr h="693420">
                <a:tc>
                  <a:txBody>
                    <a:bodyPr/>
                    <a:lstStyle/>
                    <a:p>
                      <a:r>
                        <a:rPr sz="1250">
                          <a:solidFill>
                            <a:srgbClr val="2E3348"/>
                          </a:solidFill>
                          <a:latin typeface="Calibri"/>
                        </a:rPr>
                        <a:t>Multi-camera (5-6 cameras)</a:t>
                      </a:r>
                    </a:p>
                  </a:txBody>
                  <a:tcPr marL="164592" marR="137160" anchor="ctr">
                    <a:solidFill>
                      <a:srgbClr val="FFFFFF"/>
                    </a:solidFill>
                  </a:tcPr>
                </a:tc>
                <a:tc>
                  <a:txBody>
                    <a:bodyPr/>
                    <a:lstStyle/>
                    <a:p>
                      <a:r>
                        <a:rPr sz="1250">
                          <a:solidFill>
                            <a:srgbClr val="2E3348"/>
                          </a:solidFill>
                          <a:latin typeface="Calibri"/>
                        </a:rPr>
                        <a:t>Full surround visual coverage</a:t>
                      </a:r>
                    </a:p>
                  </a:txBody>
                  <a:tcPr marL="164592" marR="137160" anchor="ctr">
                    <a:solidFill>
                      <a:srgbClr val="FFFFFF"/>
                    </a:solidFill>
                  </a:tcPr>
                </a:tc>
                <a:tc>
                  <a:txBody>
                    <a:bodyPr/>
                    <a:lstStyle/>
                    <a:p>
                      <a:r>
                        <a:rPr sz="1250">
                          <a:solidFill>
                            <a:srgbClr val="2E3348"/>
                          </a:solidFill>
                          <a:latin typeface="Calibri"/>
                        </a:rPr>
                        <a:t>Wider visual context, but each stream is still typically processed frame by frame</a:t>
                      </a:r>
                    </a:p>
                  </a:txBody>
                  <a:tcPr marL="164592" marR="137160" anchor="ctr">
                    <a:solidFill>
                      <a:srgbClr val="FFFFFF"/>
                    </a:solidFill>
                  </a:tcPr>
                </a:tc>
                <a:extLst>
                  <a:ext uri="{0D108BD9-81ED-4DB2-BD59-A6C34878D82A}">
                    <a16:rowId xmlns:a16="http://schemas.microsoft.com/office/drawing/2014/main" val="10003"/>
                  </a:ext>
                </a:extLst>
              </a:tr>
              <a:tr h="693420">
                <a:tc>
                  <a:txBody>
                    <a:bodyPr/>
                    <a:lstStyle/>
                    <a:p>
                      <a:r>
                        <a:rPr sz="1250">
                          <a:solidFill>
                            <a:srgbClr val="2E3348"/>
                          </a:solidFill>
                          <a:latin typeface="Calibri"/>
                        </a:rPr>
                        <a:t>Camera + LiDAR fusion</a:t>
                      </a:r>
                    </a:p>
                  </a:txBody>
                  <a:tcPr marL="164592" marR="137160" anchor="ctr">
                    <a:solidFill>
                      <a:srgbClr val="F3F5FA"/>
                    </a:solidFill>
                  </a:tcPr>
                </a:tc>
                <a:tc>
                  <a:txBody>
                    <a:bodyPr/>
                    <a:lstStyle/>
                    <a:p>
                      <a:r>
                        <a:rPr sz="1250">
                          <a:solidFill>
                            <a:srgbClr val="2E3348"/>
                          </a:solidFill>
                          <a:latin typeface="Calibri"/>
                        </a:rPr>
                        <a:t>Combines visual and geometric sensing</a:t>
                      </a:r>
                    </a:p>
                  </a:txBody>
                  <a:tcPr marL="164592" marR="137160" anchor="ctr">
                    <a:solidFill>
                      <a:srgbClr val="F3F5FA"/>
                    </a:solidFill>
                  </a:tcPr>
                </a:tc>
                <a:tc>
                  <a:txBody>
                    <a:bodyPr/>
                    <a:lstStyle/>
                    <a:p>
                      <a:r>
                        <a:rPr sz="1250">
                          <a:solidFill>
                            <a:srgbClr val="2E3348"/>
                          </a:solidFill>
                          <a:latin typeface="Calibri"/>
                        </a:rPr>
                        <a:t>Richer combined signal, but reasoning over that signal across time is a separate, unsolved problem</a:t>
                      </a:r>
                    </a:p>
                  </a:txBody>
                  <a:tcPr marL="164592" marR="137160" anchor="ctr">
                    <a:solidFill>
                      <a:srgbClr val="F3F5FA"/>
                    </a:solidFill>
                  </a:tcPr>
                </a:tc>
                <a:extLst>
                  <a:ext uri="{0D108BD9-81ED-4DB2-BD59-A6C34878D82A}">
                    <a16:rowId xmlns:a16="http://schemas.microsoft.com/office/drawing/2014/main" val="10004"/>
                  </a:ext>
                </a:extLst>
              </a:tr>
              <a:tr h="693420">
                <a:tc>
                  <a:txBody>
                    <a:bodyPr/>
                    <a:lstStyle/>
                    <a:p>
                      <a:r>
                        <a:rPr sz="1250" b="1">
                          <a:solidFill>
                            <a:srgbClr val="12173A"/>
                          </a:solidFill>
                          <a:latin typeface="Calibri"/>
                        </a:rPr>
                        <a:t>Single camera + OATM (proposed)</a:t>
                      </a:r>
                    </a:p>
                  </a:txBody>
                  <a:tcPr marL="164592" marR="137160" anchor="ctr">
                    <a:solidFill>
                      <a:srgbClr val="FFF3E0"/>
                    </a:solidFill>
                  </a:tcPr>
                </a:tc>
                <a:tc>
                  <a:txBody>
                    <a:bodyPr/>
                    <a:lstStyle/>
                    <a:p>
                      <a:r>
                        <a:rPr sz="1250" b="1">
                          <a:solidFill>
                            <a:srgbClr val="12173A"/>
                          </a:solidFill>
                          <a:latin typeface="Calibri"/>
                        </a:rPr>
                        <a:t>Same low-cost hardware, with temporal occlusion reasoning added</a:t>
                      </a:r>
                    </a:p>
                  </a:txBody>
                  <a:tcPr marL="164592" marR="137160" anchor="ctr">
                    <a:solidFill>
                      <a:srgbClr val="FFF3E0"/>
                    </a:solidFill>
                  </a:tcPr>
                </a:tc>
                <a:tc>
                  <a:txBody>
                    <a:bodyPr/>
                    <a:lstStyle/>
                    <a:p>
                      <a:r>
                        <a:rPr sz="1250" b="1" dirty="0">
                          <a:solidFill>
                            <a:srgbClr val="12173A"/>
                          </a:solidFill>
                          <a:latin typeface="Calibri"/>
                        </a:rPr>
                        <a:t>Adds explicit target-occluder relational reasoning, occluder-centric memory, and expected-clearance termination across frames</a:t>
                      </a:r>
                    </a:p>
                  </a:txBody>
                  <a:tcPr marL="164592" marR="137160" anchor="ctr">
                    <a:solidFill>
                      <a:srgbClr val="FFF3E0"/>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16</a:t>
            </a:r>
          </a:p>
        </p:txBody>
      </p:sp>
    </p:spTree>
    <p:extLst>
      <p:ext uri="{BB962C8B-B14F-4D97-AF65-F5344CB8AC3E}">
        <p14:creationId xmlns:p14="http://schemas.microsoft.com/office/powerpoint/2010/main" val="2146420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p:cNvGrpSpPr/>
        <p:nvPr/>
      </p:nvGrpSpPr>
      <p:grpSpPr>
        <a:xfrm>
          <a:off x="0" y="0"/>
          <a:ext cx="0" cy="0"/>
          <a:chOff x="0" y="0"/>
          <a:chExt cx="0" cy="0"/>
        </a:xfrm>
      </p:grpSpPr>
      <p:sp>
        <p:nvSpPr>
          <p:cNvPr id="2" name="TextBox 1"/>
          <p:cNvSpPr txBox="1"/>
          <p:nvPr/>
        </p:nvSpPr>
        <p:spPr>
          <a:xfrm>
            <a:off x="0" y="457200"/>
            <a:ext cx="12191695" cy="320040"/>
          </a:xfrm>
          <a:prstGeom prst="rect">
            <a:avLst/>
          </a:prstGeom>
          <a:noFill/>
        </p:spPr>
        <p:txBody>
          <a:bodyPr wrap="square">
            <a:spAutoFit/>
          </a:bodyPr>
          <a:lstStyle/>
          <a:p>
            <a:pPr algn="ctr"/>
            <a:r>
              <a:rPr sz="1300" b="1" i="0">
                <a:solidFill>
                  <a:srgbClr val="FFA630"/>
                </a:solidFill>
                <a:latin typeface="Calibri"/>
              </a:rPr>
              <a:t>IN SUMMARY</a:t>
            </a:r>
          </a:p>
        </p:txBody>
      </p:sp>
      <p:sp>
        <p:nvSpPr>
          <p:cNvPr id="3" name="TextBox 2"/>
          <p:cNvSpPr txBox="1"/>
          <p:nvPr/>
        </p:nvSpPr>
        <p:spPr>
          <a:xfrm>
            <a:off x="0" y="777240"/>
            <a:ext cx="12191695" cy="553998"/>
          </a:xfrm>
          <a:prstGeom prst="rect">
            <a:avLst/>
          </a:prstGeom>
          <a:noFill/>
        </p:spPr>
        <p:txBody>
          <a:bodyPr wrap="square">
            <a:spAutoFit/>
          </a:bodyPr>
          <a:lstStyle/>
          <a:p>
            <a:pPr algn="ctr"/>
            <a:r>
              <a:rPr lang="en-GB" sz="3000" b="1" i="0" dirty="0">
                <a:solidFill>
                  <a:srgbClr val="FFFFFF"/>
                </a:solidFill>
                <a:latin typeface="Cambria"/>
              </a:rPr>
              <a:t>Results and Conclusion</a:t>
            </a:r>
            <a:endParaRPr sz="3000" b="1" i="0" dirty="0">
              <a:solidFill>
                <a:srgbClr val="FFFFFF"/>
              </a:solidFill>
              <a:latin typeface="Cambria"/>
            </a:endParaRPr>
          </a:p>
        </p:txBody>
      </p:sp>
      <p:sp>
        <p:nvSpPr>
          <p:cNvPr id="4" name="Rectangle 3"/>
          <p:cNvSpPr/>
          <p:nvPr/>
        </p:nvSpPr>
        <p:spPr>
          <a:xfrm>
            <a:off x="5775807" y="1536192"/>
            <a:ext cx="64008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64311" y="1874519"/>
            <a:ext cx="3401568" cy="1874519"/>
          </a:xfrm>
          <a:prstGeom prst="roundRect">
            <a:avLst>
              <a:gd name="adj" fmla="val 8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4311" y="2039111"/>
            <a:ext cx="3401568" cy="640080"/>
          </a:xfrm>
          <a:prstGeom prst="rect">
            <a:avLst/>
          </a:prstGeom>
          <a:noFill/>
        </p:spPr>
        <p:txBody>
          <a:bodyPr wrap="square">
            <a:spAutoFit/>
          </a:bodyPr>
          <a:lstStyle/>
          <a:p>
            <a:pPr algn="ctr"/>
            <a:r>
              <a:rPr sz="4000" b="1" i="0">
                <a:solidFill>
                  <a:srgbClr val="FFA630"/>
                </a:solidFill>
                <a:latin typeface="Cambria"/>
              </a:rPr>
              <a:t>84.1%</a:t>
            </a:r>
          </a:p>
        </p:txBody>
      </p:sp>
      <p:sp>
        <p:nvSpPr>
          <p:cNvPr id="7" name="TextBox 6"/>
          <p:cNvSpPr txBox="1"/>
          <p:nvPr/>
        </p:nvSpPr>
        <p:spPr>
          <a:xfrm>
            <a:off x="847191" y="2743199"/>
            <a:ext cx="3035808" cy="566928"/>
          </a:xfrm>
          <a:prstGeom prst="rect">
            <a:avLst/>
          </a:prstGeom>
          <a:noFill/>
        </p:spPr>
        <p:txBody>
          <a:bodyPr wrap="square">
            <a:spAutoFit/>
          </a:bodyPr>
          <a:lstStyle/>
          <a:p>
            <a:pPr algn="ctr">
              <a:lnSpc>
                <a:spcPct val="110000"/>
              </a:lnSpc>
            </a:pPr>
            <a:r>
              <a:rPr sz="1250" b="0" i="0" dirty="0">
                <a:solidFill>
                  <a:srgbClr val="FFFFFF"/>
                </a:solidFill>
                <a:latin typeface="Calibri"/>
              </a:rPr>
              <a:t>of the objects OATM reported</a:t>
            </a:r>
          </a:p>
          <a:p>
            <a:pPr algn="ctr"/>
            <a:r>
              <a:rPr sz="1250" dirty="0">
                <a:solidFill>
                  <a:srgbClr val="FFFFFF"/>
                </a:solidFill>
                <a:latin typeface="Calibri"/>
              </a:rPr>
              <a:t>were really there</a:t>
            </a:r>
          </a:p>
        </p:txBody>
      </p:sp>
      <p:sp>
        <p:nvSpPr>
          <p:cNvPr id="8" name="TextBox 7"/>
          <p:cNvSpPr txBox="1"/>
          <p:nvPr/>
        </p:nvSpPr>
        <p:spPr>
          <a:xfrm>
            <a:off x="847191" y="3364990"/>
            <a:ext cx="3035808" cy="274320"/>
          </a:xfrm>
          <a:prstGeom prst="rect">
            <a:avLst/>
          </a:prstGeom>
          <a:noFill/>
        </p:spPr>
        <p:txBody>
          <a:bodyPr wrap="square">
            <a:spAutoFit/>
          </a:bodyPr>
          <a:lstStyle/>
          <a:p>
            <a:pPr algn="ctr"/>
            <a:r>
              <a:rPr sz="1050" b="0" i="0">
                <a:solidFill>
                  <a:srgbClr val="8A93AD"/>
                </a:solidFill>
                <a:latin typeface="Calibri"/>
              </a:rPr>
              <a:t>ByteTrack: 73.4% and 55.3%</a:t>
            </a:r>
          </a:p>
        </p:txBody>
      </p:sp>
      <p:sp>
        <p:nvSpPr>
          <p:cNvPr id="9" name="Rounded Rectangle 8"/>
          <p:cNvSpPr/>
          <p:nvPr/>
        </p:nvSpPr>
        <p:spPr>
          <a:xfrm>
            <a:off x="4395063" y="1874519"/>
            <a:ext cx="3401568" cy="1874519"/>
          </a:xfrm>
          <a:prstGeom prst="roundRect">
            <a:avLst>
              <a:gd name="adj" fmla="val 8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95063" y="2039111"/>
            <a:ext cx="3401568" cy="640080"/>
          </a:xfrm>
          <a:prstGeom prst="rect">
            <a:avLst/>
          </a:prstGeom>
          <a:noFill/>
        </p:spPr>
        <p:txBody>
          <a:bodyPr wrap="square">
            <a:spAutoFit/>
          </a:bodyPr>
          <a:lstStyle/>
          <a:p>
            <a:pPr algn="ctr"/>
            <a:r>
              <a:rPr sz="4000" b="1" i="0">
                <a:solidFill>
                  <a:srgbClr val="FFA630"/>
                </a:solidFill>
                <a:latin typeface="Cambria"/>
              </a:rPr>
              <a:t>59</a:t>
            </a:r>
          </a:p>
        </p:txBody>
      </p:sp>
      <p:sp>
        <p:nvSpPr>
          <p:cNvPr id="11" name="TextBox 10"/>
          <p:cNvSpPr txBox="1"/>
          <p:nvPr/>
        </p:nvSpPr>
        <p:spPr>
          <a:xfrm>
            <a:off x="4577943" y="2743199"/>
            <a:ext cx="3035808" cy="566928"/>
          </a:xfrm>
          <a:prstGeom prst="rect">
            <a:avLst/>
          </a:prstGeom>
          <a:noFill/>
        </p:spPr>
        <p:txBody>
          <a:bodyPr wrap="square">
            <a:spAutoFit/>
          </a:bodyPr>
          <a:lstStyle/>
          <a:p>
            <a:pPr algn="ctr">
              <a:lnSpc>
                <a:spcPct val="110000"/>
              </a:lnSpc>
            </a:pPr>
            <a:r>
              <a:rPr sz="1250" b="0" i="0">
                <a:solidFill>
                  <a:srgbClr val="FFFFFF"/>
                </a:solidFill>
                <a:latin typeface="Calibri"/>
              </a:rPr>
              <a:t>identity mix-ups —</a:t>
            </a:r>
          </a:p>
          <a:p>
            <a:pPr algn="ctr"/>
            <a:r>
              <a:rPr sz="1250">
                <a:solidFill>
                  <a:srgbClr val="FFFFFF"/>
                </a:solidFill>
                <a:latin typeface="Calibri"/>
              </a:rPr>
              <a:t>the fewest of the three</a:t>
            </a:r>
          </a:p>
        </p:txBody>
      </p:sp>
      <p:sp>
        <p:nvSpPr>
          <p:cNvPr id="12" name="TextBox 11"/>
          <p:cNvSpPr txBox="1"/>
          <p:nvPr/>
        </p:nvSpPr>
        <p:spPr>
          <a:xfrm>
            <a:off x="4577943" y="3364990"/>
            <a:ext cx="3035808" cy="274320"/>
          </a:xfrm>
          <a:prstGeom prst="rect">
            <a:avLst/>
          </a:prstGeom>
          <a:noFill/>
        </p:spPr>
        <p:txBody>
          <a:bodyPr wrap="square">
            <a:spAutoFit/>
          </a:bodyPr>
          <a:lstStyle/>
          <a:p>
            <a:pPr algn="ctr"/>
            <a:r>
              <a:rPr sz="1050" b="0" i="0">
                <a:solidFill>
                  <a:srgbClr val="8A93AD"/>
                </a:solidFill>
                <a:latin typeface="Calibri"/>
              </a:rPr>
              <a:t>ByteTrack: 64 and 82</a:t>
            </a:r>
          </a:p>
        </p:txBody>
      </p:sp>
      <p:sp>
        <p:nvSpPr>
          <p:cNvPr id="13" name="Rounded Rectangle 12"/>
          <p:cNvSpPr/>
          <p:nvPr/>
        </p:nvSpPr>
        <p:spPr>
          <a:xfrm>
            <a:off x="8125815" y="1874519"/>
            <a:ext cx="3401568" cy="1874519"/>
          </a:xfrm>
          <a:prstGeom prst="roundRect">
            <a:avLst>
              <a:gd name="adj" fmla="val 8000"/>
            </a:avLst>
          </a:prstGeom>
          <a:solidFill>
            <a:srgbClr val="1E2761"/>
          </a:solidFill>
          <a:ln>
            <a:noFill/>
          </a:ln>
          <a:effectLst>
            <a:outerShdw blurRad="203200" dist="63500" dir="2700000" rotWithShape="0">
              <a:srgbClr val="12173A">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25815" y="2039111"/>
            <a:ext cx="3401568" cy="640080"/>
          </a:xfrm>
          <a:prstGeom prst="rect">
            <a:avLst/>
          </a:prstGeom>
          <a:noFill/>
        </p:spPr>
        <p:txBody>
          <a:bodyPr wrap="square">
            <a:spAutoFit/>
          </a:bodyPr>
          <a:lstStyle/>
          <a:p>
            <a:pPr algn="ctr"/>
            <a:r>
              <a:rPr sz="4000" b="1" i="0">
                <a:solidFill>
                  <a:srgbClr val="FFA630"/>
                </a:solidFill>
                <a:latin typeface="Cambria"/>
              </a:rPr>
              <a:t>7.8%</a:t>
            </a:r>
          </a:p>
        </p:txBody>
      </p:sp>
      <p:sp>
        <p:nvSpPr>
          <p:cNvPr id="15" name="TextBox 14"/>
          <p:cNvSpPr txBox="1"/>
          <p:nvPr/>
        </p:nvSpPr>
        <p:spPr>
          <a:xfrm>
            <a:off x="8308695" y="2743199"/>
            <a:ext cx="3035808" cy="566928"/>
          </a:xfrm>
          <a:prstGeom prst="rect">
            <a:avLst/>
          </a:prstGeom>
          <a:noFill/>
        </p:spPr>
        <p:txBody>
          <a:bodyPr wrap="square">
            <a:spAutoFit/>
          </a:bodyPr>
          <a:lstStyle/>
          <a:p>
            <a:pPr algn="ctr">
              <a:lnSpc>
                <a:spcPct val="110000"/>
              </a:lnSpc>
            </a:pPr>
            <a:r>
              <a:rPr sz="1250" b="0" i="0">
                <a:solidFill>
                  <a:srgbClr val="FFFFFF"/>
                </a:solidFill>
                <a:latin typeface="Calibri"/>
              </a:rPr>
              <a:t>of its hidden guesses were</a:t>
            </a:r>
          </a:p>
          <a:p>
            <a:pPr algn="ctr"/>
            <a:r>
              <a:rPr sz="1250">
                <a:solidFill>
                  <a:srgbClr val="FFFFFF"/>
                </a:solidFill>
                <a:latin typeface="Calibri"/>
              </a:rPr>
              <a:t>unsupported by anything real</a:t>
            </a:r>
          </a:p>
        </p:txBody>
      </p:sp>
      <p:sp>
        <p:nvSpPr>
          <p:cNvPr id="16" name="TextBox 15"/>
          <p:cNvSpPr txBox="1"/>
          <p:nvPr/>
        </p:nvSpPr>
        <p:spPr>
          <a:xfrm>
            <a:off x="8308695" y="3364990"/>
            <a:ext cx="3035808" cy="274320"/>
          </a:xfrm>
          <a:prstGeom prst="rect">
            <a:avLst/>
          </a:prstGeom>
          <a:noFill/>
        </p:spPr>
        <p:txBody>
          <a:bodyPr wrap="square">
            <a:spAutoFit/>
          </a:bodyPr>
          <a:lstStyle/>
          <a:p>
            <a:pPr algn="ctr"/>
            <a:r>
              <a:rPr sz="1050" b="0" i="0">
                <a:solidFill>
                  <a:srgbClr val="8A93AD"/>
                </a:solidFill>
                <a:latin typeface="Calibri"/>
              </a:rPr>
              <a:t>ByteTrack: 25.9% and 22.1%</a:t>
            </a:r>
          </a:p>
        </p:txBody>
      </p:sp>
      <p:sp>
        <p:nvSpPr>
          <p:cNvPr id="17" name="TextBox 16"/>
          <p:cNvSpPr txBox="1"/>
          <p:nvPr/>
        </p:nvSpPr>
        <p:spPr>
          <a:xfrm>
            <a:off x="1051560" y="4041648"/>
            <a:ext cx="10085832" cy="457200"/>
          </a:xfrm>
          <a:prstGeom prst="rect">
            <a:avLst/>
          </a:prstGeom>
          <a:noFill/>
        </p:spPr>
        <p:txBody>
          <a:bodyPr wrap="square">
            <a:spAutoFit/>
          </a:bodyPr>
          <a:lstStyle/>
          <a:p>
            <a:pPr algn="ctr">
              <a:lnSpc>
                <a:spcPct val="115000"/>
              </a:lnSpc>
            </a:pPr>
            <a:r>
              <a:rPr sz="1500" b="0" i="0" dirty="0">
                <a:solidFill>
                  <a:srgbClr val="CADCFC"/>
                </a:solidFill>
                <a:latin typeface="Calibri"/>
              </a:rPr>
              <a:t>OATM held on to hidden objects more carefully than simply waiting longer — better on accuracy, identity and position, all from the same detections.</a:t>
            </a:r>
          </a:p>
        </p:txBody>
      </p:sp>
      <p:sp>
        <p:nvSpPr>
          <p:cNvPr id="18" name="Rounded Rectangle 17"/>
          <p:cNvSpPr/>
          <p:nvPr/>
        </p:nvSpPr>
        <p:spPr>
          <a:xfrm>
            <a:off x="1051560" y="4681728"/>
            <a:ext cx="10085832" cy="658368"/>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1300" b="1" dirty="0">
                <a:solidFill>
                  <a:srgbClr val="FFA630"/>
                </a:solidFill>
                <a:latin typeface="Calibri"/>
              </a:rPr>
              <a:t>Where it still </a:t>
            </a:r>
            <a:r>
              <a:rPr sz="1300" b="1" u="sng" dirty="0">
                <a:solidFill>
                  <a:srgbClr val="FFA630"/>
                </a:solidFill>
                <a:latin typeface="Calibri"/>
              </a:rPr>
              <a:t>loses</a:t>
            </a:r>
            <a:r>
              <a:rPr sz="1300" b="1" dirty="0">
                <a:solidFill>
                  <a:srgbClr val="FFA630"/>
                </a:solidFill>
                <a:latin typeface="Calibri"/>
              </a:rPr>
              <a:t>:  </a:t>
            </a:r>
            <a:r>
              <a:rPr sz="1250" dirty="0">
                <a:solidFill>
                  <a:srgbClr val="CADCFC"/>
                </a:solidFill>
                <a:latin typeface="Calibri"/>
              </a:rPr>
              <a:t>it found slightly fewer objects overall (26.6% vs 27.6% and 28.6%), and fewer again when they were almost completely hidden. That is the next thing to fix.</a:t>
            </a:r>
          </a:p>
        </p:txBody>
      </p:sp>
      <p:sp>
        <p:nvSpPr>
          <p:cNvPr id="19" name="Rectangle 18"/>
          <p:cNvSpPr/>
          <p:nvPr/>
        </p:nvSpPr>
        <p:spPr>
          <a:xfrm>
            <a:off x="5775807" y="5623560"/>
            <a:ext cx="64008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88720" y="5806440"/>
            <a:ext cx="9811512" cy="548640"/>
          </a:xfrm>
          <a:prstGeom prst="rect">
            <a:avLst/>
          </a:prstGeom>
          <a:noFill/>
        </p:spPr>
        <p:txBody>
          <a:bodyPr wrap="square">
            <a:spAutoFit/>
          </a:bodyPr>
          <a:lstStyle/>
          <a:p>
            <a:pPr algn="ctr"/>
            <a:r>
              <a:rPr sz="1450" b="1" i="1">
                <a:solidFill>
                  <a:srgbClr val="FFFFFF"/>
                </a:solidFill>
                <a:latin typeface="Calibri"/>
              </a:rPr>
              <a:t>A better trade-off than a fixed waiting time on this ten-scene study — not a claim that it wins everywhere.</a:t>
            </a:r>
          </a:p>
        </p:txBody>
      </p:sp>
      <p:sp>
        <p:nvSpPr>
          <p:cNvPr id="21" name="TextBox 20"/>
          <p:cNvSpPr txBox="1"/>
          <p:nvPr/>
        </p:nvSpPr>
        <p:spPr>
          <a:xfrm>
            <a:off x="11430000" y="6355080"/>
            <a:ext cx="502920" cy="274320"/>
          </a:xfrm>
          <a:prstGeom prst="rect">
            <a:avLst/>
          </a:prstGeom>
          <a:noFill/>
        </p:spPr>
        <p:txBody>
          <a:bodyPr wrap="none">
            <a:spAutoFit/>
          </a:bodyPr>
          <a:lstStyle/>
          <a:p>
            <a:pPr algn="r"/>
            <a:r>
              <a:rPr sz="1050">
                <a:solidFill>
                  <a:srgbClr val="8A93AD"/>
                </a:solidFill>
                <a:latin typeface="Calibri"/>
              </a:rPr>
              <a:t>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640080" y="868680"/>
            <a:ext cx="10881360" cy="492443"/>
          </a:xfrm>
          <a:prstGeom prst="rect">
            <a:avLst/>
          </a:prstGeom>
          <a:noFill/>
        </p:spPr>
        <p:txBody>
          <a:bodyPr wrap="square">
            <a:spAutoFit/>
          </a:bodyPr>
          <a:lstStyle/>
          <a:p>
            <a:pPr algn="l"/>
            <a:r>
              <a:rPr lang="en-GB" sz="2600" b="1" i="0" dirty="0">
                <a:solidFill>
                  <a:srgbClr val="12173A"/>
                </a:solidFill>
                <a:latin typeface="Cambria"/>
              </a:rPr>
              <a:t>References</a:t>
            </a:r>
            <a:endParaRPr sz="2600" b="1" i="0" dirty="0">
              <a:solidFill>
                <a:srgbClr val="12173A"/>
              </a:solidFill>
              <a:latin typeface="Cambria"/>
            </a:endParaRPr>
          </a:p>
        </p:txBody>
      </p:sp>
      <p:sp>
        <p:nvSpPr>
          <p:cNvPr id="4" name="Rectangle 3"/>
          <p:cNvSpPr/>
          <p:nvPr/>
        </p:nvSpPr>
        <p:spPr>
          <a:xfrm>
            <a:off x="640080" y="1481328"/>
            <a:ext cx="502920" cy="508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783080"/>
            <a:ext cx="10911535" cy="566928"/>
          </a:xfrm>
          <a:prstGeom prst="rect">
            <a:avLst/>
          </a:prstGeom>
          <a:noFill/>
        </p:spPr>
        <p:txBody>
          <a:bodyPr wrap="square">
            <a:spAutoFit/>
          </a:bodyPr>
          <a:lstStyle/>
          <a:p>
            <a:r>
              <a:rPr sz="1150">
                <a:solidFill>
                  <a:srgbClr val="2E3348"/>
                </a:solidFill>
                <a:latin typeface="Calibri"/>
              </a:rPr>
              <a:t>Caesar, H., Bankiti, V., Lang, A. H., Vora, S., Liong, V. E., Xu, Q., Krishnan, A., Pan, Y., Baldan, G., &amp; Beijbom, O. (2020). </a:t>
            </a:r>
            <a:r>
              <a:rPr sz="1150" i="1">
                <a:solidFill>
                  <a:srgbClr val="12173A"/>
                </a:solidFill>
                <a:latin typeface="Calibri"/>
              </a:rPr>
              <a:t>nuScenes: A multimodal dataset for autonomous driving. </a:t>
            </a:r>
            <a:r>
              <a:rPr sz="1150">
                <a:solidFill>
                  <a:srgbClr val="69728C"/>
                </a:solidFill>
                <a:latin typeface="Calibri"/>
              </a:rPr>
              <a:t>CVPR 2020, 11618-11628.</a:t>
            </a:r>
          </a:p>
        </p:txBody>
      </p:sp>
      <p:sp>
        <p:nvSpPr>
          <p:cNvPr id="6" name="TextBox 5"/>
          <p:cNvSpPr txBox="1"/>
          <p:nvPr/>
        </p:nvSpPr>
        <p:spPr>
          <a:xfrm>
            <a:off x="640080" y="2404872"/>
            <a:ext cx="10911535" cy="566928"/>
          </a:xfrm>
          <a:prstGeom prst="rect">
            <a:avLst/>
          </a:prstGeom>
          <a:noFill/>
        </p:spPr>
        <p:txBody>
          <a:bodyPr wrap="square">
            <a:spAutoFit/>
          </a:bodyPr>
          <a:lstStyle/>
          <a:p>
            <a:r>
              <a:rPr sz="1150">
                <a:solidFill>
                  <a:srgbClr val="2E3348"/>
                </a:solidFill>
                <a:latin typeface="Calibri"/>
              </a:rPr>
              <a:t>Bewley, A., Ge, Z., Ott, L., Ramos, F., &amp; Upcroft, B. (2016). </a:t>
            </a:r>
            <a:r>
              <a:rPr sz="1150" i="1">
                <a:solidFill>
                  <a:srgbClr val="12173A"/>
                </a:solidFill>
                <a:latin typeface="Calibri"/>
              </a:rPr>
              <a:t>Simple online and realtime tracking. </a:t>
            </a:r>
            <a:r>
              <a:rPr sz="1150">
                <a:solidFill>
                  <a:srgbClr val="69728C"/>
                </a:solidFill>
                <a:latin typeface="Calibri"/>
              </a:rPr>
              <a:t>2016 IEEE ICIP, 3464-3468.</a:t>
            </a:r>
          </a:p>
        </p:txBody>
      </p:sp>
      <p:sp>
        <p:nvSpPr>
          <p:cNvPr id="7" name="TextBox 6"/>
          <p:cNvSpPr txBox="1"/>
          <p:nvPr/>
        </p:nvSpPr>
        <p:spPr>
          <a:xfrm>
            <a:off x="640080" y="3026664"/>
            <a:ext cx="10911535" cy="566928"/>
          </a:xfrm>
          <a:prstGeom prst="rect">
            <a:avLst/>
          </a:prstGeom>
          <a:noFill/>
        </p:spPr>
        <p:txBody>
          <a:bodyPr wrap="square">
            <a:spAutoFit/>
          </a:bodyPr>
          <a:lstStyle/>
          <a:p>
            <a:r>
              <a:rPr sz="1150">
                <a:solidFill>
                  <a:srgbClr val="2E3348"/>
                </a:solidFill>
                <a:latin typeface="Calibri"/>
              </a:rPr>
              <a:t>Zhang, Y., Sun, P., Jiang, Y., Yu, D., Weng, F., Yuan, Z., Luo, P., Liu, W., &amp; Wang, X. (2022). </a:t>
            </a:r>
            <a:r>
              <a:rPr sz="1150" i="1">
                <a:solidFill>
                  <a:srgbClr val="12173A"/>
                </a:solidFill>
                <a:latin typeface="Calibri"/>
              </a:rPr>
              <a:t>ByteTrack: Multi-object tracking by associating every detection box. </a:t>
            </a:r>
            <a:r>
              <a:rPr sz="1150">
                <a:solidFill>
                  <a:srgbClr val="69728C"/>
                </a:solidFill>
                <a:latin typeface="Calibri"/>
              </a:rPr>
              <a:t>ECCV 2022.</a:t>
            </a:r>
          </a:p>
        </p:txBody>
      </p:sp>
      <p:sp>
        <p:nvSpPr>
          <p:cNvPr id="8" name="TextBox 7"/>
          <p:cNvSpPr txBox="1"/>
          <p:nvPr/>
        </p:nvSpPr>
        <p:spPr>
          <a:xfrm>
            <a:off x="640080" y="3648456"/>
            <a:ext cx="10911535" cy="566928"/>
          </a:xfrm>
          <a:prstGeom prst="rect">
            <a:avLst/>
          </a:prstGeom>
          <a:noFill/>
        </p:spPr>
        <p:txBody>
          <a:bodyPr wrap="square">
            <a:spAutoFit/>
          </a:bodyPr>
          <a:lstStyle/>
          <a:p>
            <a:r>
              <a:rPr sz="1150">
                <a:solidFill>
                  <a:srgbClr val="2E3348"/>
                </a:solidFill>
                <a:latin typeface="Calibri"/>
              </a:rPr>
              <a:t>Cai, J., Xu, M., Li, W., Xiong, Y., Xia, W., Tu, Z., &amp; Soatto, S. (2022). </a:t>
            </a:r>
            <a:r>
              <a:rPr sz="1150" i="1">
                <a:solidFill>
                  <a:srgbClr val="12173A"/>
                </a:solidFill>
                <a:latin typeface="Calibri"/>
              </a:rPr>
              <a:t>MeMOT: Multi-Object Tracking with Memory. </a:t>
            </a:r>
            <a:r>
              <a:rPr sz="1150">
                <a:solidFill>
                  <a:srgbClr val="69728C"/>
                </a:solidFill>
                <a:latin typeface="Calibri"/>
              </a:rPr>
              <a:t>CVPR 2022, pp. 8080-8090.</a:t>
            </a:r>
          </a:p>
        </p:txBody>
      </p:sp>
      <p:sp>
        <p:nvSpPr>
          <p:cNvPr id="9" name="TextBox 8"/>
          <p:cNvSpPr txBox="1"/>
          <p:nvPr/>
        </p:nvSpPr>
        <p:spPr>
          <a:xfrm>
            <a:off x="640080" y="4270248"/>
            <a:ext cx="10911535" cy="566928"/>
          </a:xfrm>
          <a:prstGeom prst="rect">
            <a:avLst/>
          </a:prstGeom>
          <a:noFill/>
        </p:spPr>
        <p:txBody>
          <a:bodyPr wrap="square">
            <a:spAutoFit/>
          </a:bodyPr>
          <a:lstStyle/>
          <a:p>
            <a:r>
              <a:rPr sz="1150">
                <a:solidFill>
                  <a:srgbClr val="2E3348"/>
                </a:solidFill>
                <a:latin typeface="Calibri"/>
              </a:rPr>
              <a:t>Tokmakov, P., Li, J., Burgard, W., &amp; Gaidon, A. (2021). </a:t>
            </a:r>
            <a:r>
              <a:rPr sz="1150" i="1">
                <a:solidFill>
                  <a:srgbClr val="12173A"/>
                </a:solidFill>
                <a:latin typeface="Calibri"/>
              </a:rPr>
              <a:t>Learning to Track with Object Permanence. </a:t>
            </a:r>
            <a:r>
              <a:rPr sz="1150">
                <a:solidFill>
                  <a:srgbClr val="69728C"/>
                </a:solidFill>
                <a:latin typeface="Calibri"/>
              </a:rPr>
              <a:t>ICCV 2021.</a:t>
            </a:r>
          </a:p>
        </p:txBody>
      </p:sp>
      <p:sp>
        <p:nvSpPr>
          <p:cNvPr id="10" name="TextBox 9"/>
          <p:cNvSpPr txBox="1"/>
          <p:nvPr/>
        </p:nvSpPr>
        <p:spPr>
          <a:xfrm>
            <a:off x="640080" y="4892040"/>
            <a:ext cx="10911535" cy="566928"/>
          </a:xfrm>
          <a:prstGeom prst="rect">
            <a:avLst/>
          </a:prstGeom>
          <a:noFill/>
        </p:spPr>
        <p:txBody>
          <a:bodyPr wrap="square">
            <a:spAutoFit/>
          </a:bodyPr>
          <a:lstStyle/>
          <a:p>
            <a:r>
              <a:rPr sz="1150">
                <a:solidFill>
                  <a:srgbClr val="2E3348"/>
                </a:solidFill>
                <a:latin typeface="Calibri"/>
              </a:rPr>
              <a:t>Zhu, X., Wang, Y., Dai, J., Yuan, L., &amp; Wei, Y. (2017). </a:t>
            </a:r>
            <a:r>
              <a:rPr sz="1150" i="1">
                <a:solidFill>
                  <a:srgbClr val="12173A"/>
                </a:solidFill>
                <a:latin typeface="Calibri"/>
              </a:rPr>
              <a:t>Flow-Guided Feature Aggregation for Video Object Detection. </a:t>
            </a:r>
            <a:r>
              <a:rPr sz="1150">
                <a:solidFill>
                  <a:srgbClr val="69728C"/>
                </a:solidFill>
                <a:latin typeface="Calibri"/>
              </a:rPr>
              <a:t>ICCV 2017, 408-417.</a:t>
            </a:r>
          </a:p>
        </p:txBody>
      </p:sp>
      <p:sp>
        <p:nvSpPr>
          <p:cNvPr id="11" name="TextBox 10"/>
          <p:cNvSpPr txBox="1"/>
          <p:nvPr/>
        </p:nvSpPr>
        <p:spPr>
          <a:xfrm>
            <a:off x="640080" y="5513832"/>
            <a:ext cx="10911535" cy="566928"/>
          </a:xfrm>
          <a:prstGeom prst="rect">
            <a:avLst/>
          </a:prstGeom>
          <a:noFill/>
        </p:spPr>
        <p:txBody>
          <a:bodyPr wrap="square">
            <a:spAutoFit/>
          </a:bodyPr>
          <a:lstStyle/>
          <a:p>
            <a:r>
              <a:rPr sz="1150">
                <a:solidFill>
                  <a:srgbClr val="2E3348"/>
                </a:solidFill>
                <a:latin typeface="Calibri"/>
              </a:rPr>
              <a:t>Gao, R., &amp; Wang, L. (2023). </a:t>
            </a:r>
            <a:r>
              <a:rPr sz="1150" i="1">
                <a:solidFill>
                  <a:srgbClr val="12173A"/>
                </a:solidFill>
                <a:latin typeface="Calibri"/>
              </a:rPr>
              <a:t>MeMOTR: Long-Term Memory-Augmented Transformer for Multi-Object Tracking. </a:t>
            </a:r>
            <a:r>
              <a:rPr sz="1150">
                <a:solidFill>
                  <a:srgbClr val="69728C"/>
                </a:solidFill>
                <a:latin typeface="Calibri"/>
              </a:rPr>
              <a:t>ICCV 2023, pp. 9901-9910.</a:t>
            </a:r>
          </a:p>
        </p:txBody>
      </p:sp>
      <p:sp>
        <p:nvSpPr>
          <p:cNvPr id="12" name="TextBox 11"/>
          <p:cNvSpPr txBox="1"/>
          <p:nvPr/>
        </p:nvSpPr>
        <p:spPr>
          <a:xfrm>
            <a:off x="11430000" y="6355080"/>
            <a:ext cx="502920" cy="274320"/>
          </a:xfrm>
          <a:prstGeom prst="rect">
            <a:avLst/>
          </a:prstGeom>
          <a:noFill/>
        </p:spPr>
        <p:txBody>
          <a:bodyPr wrap="none">
            <a:spAutoFit/>
          </a:bodyPr>
          <a:lstStyle/>
          <a:p>
            <a:pPr algn="r"/>
            <a:r>
              <a:rPr sz="1050">
                <a:solidFill>
                  <a:srgbClr val="69728C"/>
                </a:solidFill>
                <a:latin typeface="Calibri"/>
              </a:rPr>
              <a:t>19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2173A"/>
        </a:solidFill>
        <a:effectLst/>
      </p:bgPr>
    </p:bg>
    <p:spTree>
      <p:nvGrpSpPr>
        <p:cNvPr id="1" name=""/>
        <p:cNvGrpSpPr/>
        <p:nvPr/>
      </p:nvGrpSpPr>
      <p:grpSpPr>
        <a:xfrm>
          <a:off x="0" y="0"/>
          <a:ext cx="0" cy="0"/>
          <a:chOff x="0" y="0"/>
          <a:chExt cx="0" cy="0"/>
        </a:xfrm>
      </p:grpSpPr>
      <p:sp>
        <p:nvSpPr>
          <p:cNvPr id="3" name="Rectangle 2"/>
          <p:cNvSpPr/>
          <p:nvPr/>
        </p:nvSpPr>
        <p:spPr>
          <a:xfrm>
            <a:off x="0" y="5956300"/>
            <a:ext cx="12192000" cy="901700"/>
          </a:xfrm>
          <a:prstGeom prst="rect">
            <a:avLst/>
          </a:prstGeom>
          <a:solidFill>
            <a:srgbClr val="FFA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1373124" y="2413337"/>
            <a:ext cx="9445752" cy="1015663"/>
          </a:xfrm>
          <a:prstGeom prst="rect">
            <a:avLst/>
          </a:prstGeom>
          <a:noFill/>
        </p:spPr>
        <p:txBody>
          <a:bodyPr wrap="square">
            <a:spAutoFit/>
          </a:bodyPr>
          <a:lstStyle/>
          <a:p>
            <a:pPr algn="ctr"/>
            <a:r>
              <a:rPr sz="6000" b="1" i="0" dirty="0">
                <a:solidFill>
                  <a:srgbClr val="FFFFFF"/>
                </a:solidFill>
                <a:latin typeface="Cambria"/>
              </a:rPr>
              <a:t>Thank you!</a:t>
            </a:r>
          </a:p>
        </p:txBody>
      </p:sp>
      <p:sp>
        <p:nvSpPr>
          <p:cNvPr id="4" name="TextBox 3"/>
          <p:cNvSpPr txBox="1"/>
          <p:nvPr/>
        </p:nvSpPr>
        <p:spPr>
          <a:xfrm>
            <a:off x="3017710" y="3268980"/>
            <a:ext cx="9445752" cy="548640"/>
          </a:xfrm>
          <a:prstGeom prst="rect">
            <a:avLst/>
          </a:prstGeom>
          <a:noFill/>
        </p:spPr>
        <p:txBody>
          <a:bodyPr wrap="square">
            <a:spAutoFit/>
          </a:bodyPr>
          <a:lstStyle/>
          <a:p>
            <a:pPr algn="ctr"/>
            <a:r>
              <a:rPr sz="1900" b="0" i="1" dirty="0">
                <a:solidFill>
                  <a:srgbClr val="FFA630"/>
                </a:solidFill>
                <a:latin typeface="Calibri"/>
              </a:rPr>
              <a:t>Questions?</a:t>
            </a:r>
          </a:p>
        </p:txBody>
      </p:sp>
      <p:sp>
        <p:nvSpPr>
          <p:cNvPr id="5" name="TextBox 4"/>
          <p:cNvSpPr txBox="1"/>
          <p:nvPr/>
        </p:nvSpPr>
        <p:spPr>
          <a:xfrm>
            <a:off x="11687340" y="6355080"/>
            <a:ext cx="245580" cy="253916"/>
          </a:xfrm>
          <a:prstGeom prst="rect">
            <a:avLst/>
          </a:prstGeom>
          <a:noFill/>
        </p:spPr>
        <p:txBody>
          <a:bodyPr wrap="none">
            <a:spAutoFit/>
          </a:bodyPr>
          <a:lstStyle/>
          <a:p>
            <a:pPr algn="r"/>
            <a:r>
              <a:rPr lang="en-GB" sz="1050" dirty="0">
                <a:solidFill>
                  <a:srgbClr val="8A93AD"/>
                </a:solidFill>
                <a:latin typeface="Calibri"/>
              </a:rPr>
              <a:t>  </a:t>
            </a:r>
            <a:endParaRPr sz="1050" dirty="0">
              <a:solidFill>
                <a:srgbClr val="8A93AD"/>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TotalTime>
  <Words>3644</Words>
  <Application>Microsoft Macintosh PowerPoint</Application>
  <PresentationFormat>Widescreen</PresentationFormat>
  <Paragraphs>293</Paragraphs>
  <Slides>21</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احمد عمر احمد باحاج</cp:lastModifiedBy>
  <cp:revision>6</cp:revision>
  <dcterms:created xsi:type="dcterms:W3CDTF">2013-01-27T09:14:16Z</dcterms:created>
  <dcterms:modified xsi:type="dcterms:W3CDTF">2026-08-09T13:38:38Z</dcterms:modified>
  <cp:category/>
</cp:coreProperties>
</file>